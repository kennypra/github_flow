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 open. I'm on Zoom; Jesse is in the room in person — tell students to raise a hand any time. Today: where your work runs (compute) and how teams work together (git/GitHub).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items quickly. Flag the 15-minute break and that they need a charged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throughline: GitHub is used all program — assignments, projects, capstone. It's unfamiliar on day one for everyone; the goal today is hands-on practice, not perfection. Concretely, Thursday 8/14 they get a small pair project collaborating through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set up the compute + secure-AI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buckets: inferencing (just using a model) vs local inference &amp; training. Most coursework is local or Colab; ACCRE when the job outgrows the laptop. Which you can use depends on the data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catch people miss: by default, conversations with ChatGPT/Claude or any online provider — and API calls — may be used to train future models. Fine for public data, not for sensitive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in detail, left to right — the four levels (color = traffic light, green to red), and for each: meaning, examples, and allowed AI solution. Through-line: the more sensitive the data, the more the compute stays inside Vanderbilt's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could run everything locally to dodge the problem, but there are real limits: local models lag frontier ones, and you're hardware-bound. The ways around it are the words all over Hugging Face — decode them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name apart live: 8B = parameters (how big), Instruct = tuned to chat, GGUF = local-runtime file format, Q4 = quantized to 4-bit (how compressed). Read those four and you can navigate the whole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Lower-precision numbers (32-bit down to 4-bit). Same model, compressed. This is what lets an 8B model run on a laptop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student model trained to imitate a big teacher. Quantization shrinks the numbers; distillation shrinks the model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big model, train a tiny adapter (LoRA). Cheap specialization on modest hardware — the practical path for most student/research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actually download and open LM Studio on your desktop. Load a small instruct model, point at the Q4 vs Q8 quant options, and chat once. Emphasize: a real open-source model running on this machine, no internet. Note the requirements (Apple Silicon + macOS 14, or Windows AVX2 + 16GB).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pivot to collaboration. Frame it around the Thursday pair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REVEAL — advance one click per answer. Ask each question, pause and let them think, THEN reveal. 1) communicate what needs doing -&gt; Issues. 2) work without stepping on each other -&gt; Branches. 3) keep code good -&gt; Pull requests + review. Final click: three pains, three tools = GitHub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REVEAL — advance one click per answer. Ask each question, pause and let them think, THEN reveal. 1) communicate what needs doing -&gt; Issues. 2) work without stepping on each other -&gt; Branches. 3) keep code good -&gt; Pull requests + review. Final click: three pains, three tools = GitHub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REVEAL — advance one click per answer. Ask each question, pause and let them think, THEN reveal. 1) communicate what needs doing -&gt; Issues. 2) work without stepping on each other -&gt; Branches. 3) keep code good -&gt; Pull requests + review. Final click: three pains, three tools = GitHub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REVEAL — advance one click per answer. Ask each question, pause and let them think, THEN reveal. 1) communicate what needs doing -&gt; Issues. 2) work without stepping on each other -&gt; Branches. 3) keep code good -&gt; Pull requests + review. Final click: three pains, three tools = GitHub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 the tool on your laptop (history, branches, offline). GitHub = the cloud that stores it and adds the team layer. Git alone; GitHub makes it a team 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plain: three places. Files you edit -&gt; commit saves a snapshot on your computer -&gt; push shares it on GitHub. clone/pull bring GitHub's copy back down. That's the whole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commands are the entire command-line side of today: clone, status, checkout -b, add, commit, push. Tell them to screenshot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Setup Lab. Slow down here; it's the highest-risk remote block. Split the room Mac vs Windows; Jesse is in the room in person to help. Pause + sweep after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so they know the shape: terminal+git, identity, SSH key, gh, Claude Code, Hugging Face. Assume nothing is installed, including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macOS: xcode-select --install, then the Homebrew one-liner (tell them to READ what it prints and run the two Next-steps lines), then brew install git. Checkpoint: git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install Git for Windows, then open Git Bash. From now on 'terminal' = Git Bash so commands match the Mac ones. Checkpoint: git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 email. Use the SAME email as their GitHub account so commits attribute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ssh-keygen -t ed25519. Enter for default path, set a passphrase. An SSH key is how GitHub knows it's really you — no password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UI approach: open the .pub file (Finder/Explorer or a text editor), copy everything, paste into GitHub &gt; Settings &gt; SSH and GPG keys &gt; New SSH key. Stress: the .pub (public) file only — the private key never leaves the laptop. No agent step, no ssh -T test; we confirm when we clone.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'how is this different from git': git manages your code/history; gh talks to GitHub.com's features from the terminal. We install it mainly so Claude Code can drive GitHub. Today they'll click issues &amp; PRs in the browser. gh auth login -&gt; GitHub.com -&gt; SSH -&gt;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installer (curl on Mac/Git Bash, irm in PowerShell). No Node needed; uses their Claude account. Then run claude to log in. It can read a repo and make branches, commits, PRs.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an account at huggingface.co + a read token. NOT used today — it's so they can pull models (LM Studio, Colab, ACCRE) later in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confirm: git installed, SSH key on GitHub, gh logged in, Claude Code launches, HF account made. Get everyone green before the demo — Jesse can help anyone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15-minute break. Countdown on screen. Jesse can help stragglers finish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GitHub Flow. This is the payoff; leads into the demo and exercise. First the cadence it lives in (Agile), then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no prior Agile knowledge. Agile = working in short, repeated cycles called sprints (~a week): plan, build, review, adjust, repeat. Ground it in how we run projects at the DSI: backlog development to groom the work; sprint planning at the start of the week; coding meetings midweek for office hours and pair programming; a sprint retrospective at the end of the week to review, discuss, and reset goals. At the retro you mark issues done — or, as often in DS, re-strategize based on what you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 = one thing to do (answers 'what needs doing'). A good issue includes context &amp; objectives, technical details, acceptance criteria, and a deadline — enough that anyone could pick it up cold. Projects board sits over issues: Todo -&gt; In Progress -&gt; In Review -&gt; Done. Where the sprint lives. Hold onto 'one issue = one task' — it becomes 'one branch per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~90 seconds. I post an assignment link; they click it; GitHub makes their own repo from a template; they work normally. Then we build the flow piece by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is always the working version; your branch is a sandbox, untouched until review passes — this is how you stop overwriting each other. Stress: keep branches SHORT-LIVED and one-per-issue. The longer a branch lives, the more main drifts underneath it as teammates merge, and the harder the eventual merge. Small branches, merged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tool — check out multiple branches into separate folders at once, no stashing. Handy when Claude Code works one branch while you work another. COMPRESS this if setup ran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 proposes merging your branch — shows the diff and is where the partner reviews, all on the website. Visibility and quality check in one place; nothing lands on main unseen.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two branches change the SAME line, git stops and asks a human. Show the markers. Set expectation: you'll each cause one on purpose in a few minutes and fix it in the browser. Normal, not a disaster.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XKCD comic: without a shared process, commit messages degrade from 'enable config parsing' to 'AAAAAA'. A process is what keeps a team's history 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Recap/synthesis now that they've seen the pieces: walk the loop — issue -&gt; branch -&gt; commit -&gt; PR -&gt; review -&gt; merge. Why the order: issue first (tracked), branch before touching code (main stays safe), PR before merge (nothing lands unreviewed), short one-per-issue branches so main doesn't drift. Each step maps to one of the three pains. Then: now let me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setup: a repo made from the ds-collaboration-frameworks template, file shape_attributes.py. Two area functions — sphere and circle — both added at line 11, so they collide. Students watch, then run the same flow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every step AND say whether you're in the terminal or the browser. Web: new repo from the template + two issues. Terminal: clone, branch, add the function at line 11, commit, push. Web: open the PR (Closes #1), merge the sphere. Key move: branch the circle off main WITHOUT pulling the sphere merge — that's what forces the conflict. Push, open the PR (Closes #2), it conflicts; resolve in the browser editor (keep both),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hands-on. Pairs of two. Same flow, but the Circumference functions so they're not copying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different from the demo so they can't just copy what they watched: this time the CIRCUMFERENCE functions, same file. Same roles as the README: TM1 owns the repo (from the ds-collaboration-frameworks template), adds TM2, opens Issue #1 'circumference of a sphere' (assign TM2) and Issue #2 'circumference of a circle' (assign self). Both add under '### Circumference' — same line, so the second PR conflicts. (Aside: a sphere's great-circle circumference is 2*pi*r, same as the circle — that's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flow as the demo and the README, just the Circumference section instead of Area. TM1 (web) creates the repo from the template, adds TM2, opens the two issues. Both clone, branch, add their function under '### Circumference', commit, push, open a PR 'Closes #&lt;issue&gt;'. TM1 merges TM2's sphere PR first (clean) — Issue #1 closes. TM1's circle PR then conflicts; TM2 resolves it in the GitHub editor and merges. Functions are one-liners: circle_circumference(r)=2*math.pi*r and sphere_circumference(r)=2*math.pi*r. Jesse roams the room; track how many pairs have hit and resolved the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01 — 48</a:t>
            </a:r>
            <a:endParaRPr lang="en-US" sz="800" dirty="0"/>
          </a:p>
        </p:txBody>
      </p:sp>
      <p:sp>
        <p:nvSpPr>
          <p:cNvPr id="10" name="Shape 7"/>
          <p:cNvSpPr/>
          <p:nvPr/>
        </p:nvSpPr>
        <p:spPr>
          <a:xfrm>
            <a:off x="566928" y="2231136"/>
            <a:ext cx="301752" cy="25603"/>
          </a:xfrm>
          <a:prstGeom prst="rect">
            <a:avLst/>
          </a:prstGeom>
          <a:solidFill>
            <a:srgbClr val="E8A020"/>
          </a:solidFill>
          <a:ln/>
        </p:spPr>
      </p:sp>
      <p:sp>
        <p:nvSpPr>
          <p:cNvPr id="11" name="Text 8"/>
          <p:cNvSpPr/>
          <p:nvPr/>
        </p:nvSpPr>
        <p:spPr>
          <a:xfrm>
            <a:off x="978408" y="210312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AUG 11, 2026</a:t>
            </a:r>
            <a:endParaRPr lang="en-US" sz="1050" dirty="0"/>
          </a:p>
        </p:txBody>
      </p:sp>
      <p:sp>
        <p:nvSpPr>
          <p:cNvPr id="12" name="Text 9"/>
          <p:cNvSpPr/>
          <p:nvPr/>
        </p:nvSpPr>
        <p:spPr>
          <a:xfrm>
            <a:off x="566928" y="2514600"/>
            <a:ext cx="11055096" cy="2194560"/>
          </a:xfrm>
          <a:prstGeom prst="rect">
            <a:avLst/>
          </a:prstGeom>
          <a:noFill/>
          <a:ln/>
        </p:spPr>
        <p:txBody>
          <a:bodyPr wrap="square" lIns="0" tIns="0" rIns="0" bIns="0" rtlCol="0" anchor="t"/>
          <a:lstStyle/>
          <a:p>
            <a:pPr indent="0" marL="0">
              <a:lnSpc>
                <a:spcPct val="98000"/>
              </a:lnSpc>
              <a:buNone/>
            </a:pPr>
            <a:r>
              <a:rPr lang="en-US" sz="6000" b="1" dirty="0">
                <a:solidFill>
                  <a:srgbClr val="EDE9E3"/>
                </a:solidFill>
                <a:latin typeface="Arial" pitchFamily="34" charset="0"/>
                <a:ea typeface="Arial" pitchFamily="34" charset="-122"/>
                <a:cs typeface="Arial" pitchFamily="34" charset="-120"/>
              </a:rPr>
              <a:t>Data Science </a:t>
            </a:r>
            <a:pPr indent="0" marL="0">
              <a:lnSpc>
                <a:spcPct val="98000"/>
              </a:lnSpc>
              <a:buNone/>
            </a:pPr>
            <a:r>
              <a:rPr lang="en-US" sz="6000" b="1" dirty="0">
                <a:solidFill>
                  <a:srgbClr val="E8A020"/>
                </a:solidFill>
                <a:latin typeface="Arial" pitchFamily="34" charset="0"/>
                <a:ea typeface="Arial" pitchFamily="34" charset="-122"/>
                <a:cs typeface="Arial" pitchFamily="34" charset="-120"/>
              </a:rPr>
              <a:t>Collaboration</a:t>
            </a:r>
            <a:pPr indent="0" marL="0">
              <a:lnSpc>
                <a:spcPct val="98000"/>
              </a:lnSpc>
              <a:buNone/>
            </a:pPr>
            <a:r>
              <a:rPr lang="en-US" sz="6000" b="1" dirty="0">
                <a:solidFill>
                  <a:srgbClr val="EDE9E3"/>
                </a:solidFill>
                <a:latin typeface="Arial" pitchFamily="34" charset="0"/>
                <a:ea typeface="Arial" pitchFamily="34" charset="-122"/>
                <a:cs typeface="Arial" pitchFamily="34" charset="-120"/>
              </a:rPr>
              <a:t> Frameworks</a:t>
            </a:r>
            <a:endParaRPr lang="en-US" sz="6000" dirty="0"/>
          </a:p>
        </p:txBody>
      </p:sp>
      <p:sp>
        <p:nvSpPr>
          <p:cNvPr id="13" name="Shape 10"/>
          <p:cNvSpPr/>
          <p:nvPr/>
        </p:nvSpPr>
        <p:spPr>
          <a:xfrm>
            <a:off x="566928" y="4892040"/>
            <a:ext cx="32004" cy="548640"/>
          </a:xfrm>
          <a:prstGeom prst="rect">
            <a:avLst/>
          </a:prstGeom>
          <a:solidFill>
            <a:srgbClr val="E8A020"/>
          </a:solidFill>
          <a:ln/>
        </p:spPr>
      </p:sp>
      <p:sp>
        <p:nvSpPr>
          <p:cNvPr id="14" name="Text 11"/>
          <p:cNvSpPr/>
          <p:nvPr/>
        </p:nvSpPr>
        <p:spPr>
          <a:xfrm>
            <a:off x="841248" y="4846320"/>
            <a:ext cx="10780776" cy="640080"/>
          </a:xfrm>
          <a:prstGeom prst="rect">
            <a:avLst/>
          </a:prstGeom>
          <a:noFill/>
          <a:ln/>
        </p:spPr>
        <p:txBody>
          <a:bodyPr wrap="square" lIns="0" tIns="0" rIns="0" bIns="0" rtlCol="0" anchor="ctr"/>
          <a:lstStyle/>
          <a:p>
            <a:pPr indent="0" marL="0">
              <a:buNone/>
            </a:pPr>
            <a:r>
              <a:rPr lang="en-US" sz="2200" i="1" dirty="0">
                <a:solidFill>
                  <a:srgbClr val="8C8880"/>
                </a:solidFill>
                <a:latin typeface="Cambria" pitchFamily="34" charset="0"/>
                <a:ea typeface="Cambria" pitchFamily="34" charset="-122"/>
                <a:cs typeface="Cambria" pitchFamily="34" charset="-120"/>
              </a:rPr>
              <a:t>Compute, secure AI, and making GitHub work for teams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02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TODAY</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What we'll cover</a:t>
            </a:r>
            <a:endParaRPr lang="en-US" sz="3800" dirty="0"/>
          </a:p>
        </p:txBody>
      </p:sp>
      <p:sp>
        <p:nvSpPr>
          <p:cNvPr id="13" name="Shape 10"/>
          <p:cNvSpPr/>
          <p:nvPr/>
        </p:nvSpPr>
        <p:spPr>
          <a:xfrm>
            <a:off x="585216" y="2276856"/>
            <a:ext cx="109728" cy="109728"/>
          </a:xfrm>
          <a:prstGeom prst="rect">
            <a:avLst/>
          </a:prstGeom>
          <a:solidFill>
            <a:srgbClr val="E8A020"/>
          </a:solidFill>
          <a:ln/>
        </p:spPr>
      </p:sp>
      <p:sp>
        <p:nvSpPr>
          <p:cNvPr id="14" name="Text 11"/>
          <p:cNvSpPr/>
          <p:nvPr/>
        </p:nvSpPr>
        <p:spPr>
          <a:xfrm>
            <a:off x="896112" y="217627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Computational resources &amp; secure AI at the DSI</a:t>
            </a:r>
            <a:endParaRPr lang="en-US" sz="1600" dirty="0"/>
          </a:p>
        </p:txBody>
      </p:sp>
      <p:sp>
        <p:nvSpPr>
          <p:cNvPr id="15" name="Shape 12"/>
          <p:cNvSpPr/>
          <p:nvPr/>
        </p:nvSpPr>
        <p:spPr>
          <a:xfrm>
            <a:off x="585216" y="2687320"/>
            <a:ext cx="109728" cy="109728"/>
          </a:xfrm>
          <a:prstGeom prst="rect">
            <a:avLst/>
          </a:prstGeom>
          <a:solidFill>
            <a:srgbClr val="E8A020"/>
          </a:solidFill>
          <a:ln/>
        </p:spPr>
      </p:sp>
      <p:sp>
        <p:nvSpPr>
          <p:cNvPr id="16" name="Text 13"/>
          <p:cNvSpPr/>
          <p:nvPr/>
        </p:nvSpPr>
        <p:spPr>
          <a:xfrm>
            <a:off x="896112" y="258673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Why teamwork is hard — and git &amp; GitHub fundamentals</a:t>
            </a:r>
            <a:endParaRPr lang="en-US" sz="1600" dirty="0"/>
          </a:p>
        </p:txBody>
      </p:sp>
      <p:sp>
        <p:nvSpPr>
          <p:cNvPr id="17" name="Shape 14"/>
          <p:cNvSpPr/>
          <p:nvPr/>
        </p:nvSpPr>
        <p:spPr>
          <a:xfrm>
            <a:off x="585216" y="3097784"/>
            <a:ext cx="109728" cy="109728"/>
          </a:xfrm>
          <a:prstGeom prst="rect">
            <a:avLst/>
          </a:prstGeom>
          <a:solidFill>
            <a:srgbClr val="E8A020"/>
          </a:solidFill>
          <a:ln/>
        </p:spPr>
      </p:sp>
      <p:sp>
        <p:nvSpPr>
          <p:cNvPr id="18" name="Text 15"/>
          <p:cNvSpPr/>
          <p:nvPr/>
        </p:nvSpPr>
        <p:spPr>
          <a:xfrm>
            <a:off x="896112" y="2997200"/>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Setup lab</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terminal, SSH, GitHub CLI, Claude Code, Hugging Face</a:t>
            </a:r>
            <a:endParaRPr lang="en-US" sz="1600" dirty="0"/>
          </a:p>
        </p:txBody>
      </p:sp>
      <p:sp>
        <p:nvSpPr>
          <p:cNvPr id="19" name="Shape 16"/>
          <p:cNvSpPr/>
          <p:nvPr/>
        </p:nvSpPr>
        <p:spPr>
          <a:xfrm>
            <a:off x="585216" y="3508248"/>
            <a:ext cx="109728" cy="109728"/>
          </a:xfrm>
          <a:prstGeom prst="rect">
            <a:avLst/>
          </a:prstGeom>
          <a:solidFill>
            <a:srgbClr val="E8A020"/>
          </a:solidFill>
          <a:ln/>
        </p:spPr>
      </p:sp>
      <p:sp>
        <p:nvSpPr>
          <p:cNvPr id="20" name="Text 17"/>
          <p:cNvSpPr/>
          <p:nvPr/>
        </p:nvSpPr>
        <p:spPr>
          <a:xfrm>
            <a:off x="896112" y="3407664"/>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GitHub Flow — Agile DS, issues &amp; boards, the flow itself</a:t>
            </a:r>
            <a:endParaRPr lang="en-US" sz="1600" dirty="0"/>
          </a:p>
        </p:txBody>
      </p:sp>
      <p:sp>
        <p:nvSpPr>
          <p:cNvPr id="21" name="Shape 18"/>
          <p:cNvSpPr/>
          <p:nvPr/>
        </p:nvSpPr>
        <p:spPr>
          <a:xfrm>
            <a:off x="585216" y="3918712"/>
            <a:ext cx="109728" cy="109728"/>
          </a:xfrm>
          <a:prstGeom prst="rect">
            <a:avLst/>
          </a:prstGeom>
          <a:solidFill>
            <a:srgbClr val="E8A020"/>
          </a:solidFill>
          <a:ln/>
        </p:spPr>
      </p:sp>
      <p:sp>
        <p:nvSpPr>
          <p:cNvPr id="22" name="Text 19"/>
          <p:cNvSpPr/>
          <p:nvPr/>
        </p:nvSpPr>
        <p:spPr>
          <a:xfrm>
            <a:off x="896112" y="3818128"/>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Live demo + a hands-on pair exercise</a:t>
            </a:r>
            <a:endParaRPr lang="en-US" sz="1600" dirty="0"/>
          </a:p>
        </p:txBody>
      </p:sp>
      <p:sp>
        <p:nvSpPr>
          <p:cNvPr id="23" name="Text 20"/>
          <p:cNvSpPr/>
          <p:nvPr/>
        </p:nvSpPr>
        <p:spPr>
          <a:xfrm>
            <a:off x="566928" y="4338320"/>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15-minute break in the middle. Bring a charged laptop.</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03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WHY THIS MATTERS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GitHub is a program-long tool</a:t>
            </a:r>
            <a:endParaRPr lang="en-US" sz="3800" dirty="0"/>
          </a:p>
        </p:txBody>
      </p:sp>
      <p:sp>
        <p:nvSpPr>
          <p:cNvPr id="13" name="Text 10"/>
          <p:cNvSpPr/>
          <p:nvPr/>
        </p:nvSpPr>
        <p:spPr>
          <a:xfrm>
            <a:off x="566928" y="2194560"/>
            <a:ext cx="11055096" cy="1024128"/>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This isn't a one-day topic. You'll use GitHub for the rest of the program — assignments, projects, and your capstone. Today is the on-ramp.</a:t>
            </a:r>
            <a:endParaRPr lang="en-US" sz="1900" dirty="0"/>
          </a:p>
        </p:txBody>
      </p:sp>
      <p:sp>
        <p:nvSpPr>
          <p:cNvPr id="14" name="Shape 11"/>
          <p:cNvSpPr/>
          <p:nvPr/>
        </p:nvSpPr>
        <p:spPr>
          <a:xfrm>
            <a:off x="566928" y="3364992"/>
            <a:ext cx="11055096" cy="1078992"/>
          </a:xfrm>
          <a:prstGeom prst="rect">
            <a:avLst/>
          </a:prstGeom>
          <a:solidFill>
            <a:srgbClr val="241D10"/>
          </a:solidFill>
          <a:ln w="12700">
            <a:solidFill>
              <a:srgbClr val="E8A020"/>
            </a:solidFill>
            <a:prstDash val="solid"/>
          </a:ln>
        </p:spPr>
      </p:sp>
      <p:sp>
        <p:nvSpPr>
          <p:cNvPr id="15" name="Shape 12"/>
          <p:cNvSpPr/>
          <p:nvPr/>
        </p:nvSpPr>
        <p:spPr>
          <a:xfrm>
            <a:off x="566928" y="3364992"/>
            <a:ext cx="54864" cy="1078992"/>
          </a:xfrm>
          <a:prstGeom prst="rect">
            <a:avLst/>
          </a:prstGeom>
          <a:solidFill>
            <a:srgbClr val="E8A020"/>
          </a:solidFill>
          <a:ln/>
        </p:spPr>
      </p:sp>
      <p:sp>
        <p:nvSpPr>
          <p:cNvPr id="16" name="Text 13"/>
          <p:cNvSpPr/>
          <p:nvPr/>
        </p:nvSpPr>
        <p:spPr>
          <a:xfrm>
            <a:off x="822960" y="3474720"/>
            <a:ext cx="10597896" cy="237744"/>
          </a:xfrm>
          <a:prstGeom prst="rect">
            <a:avLst/>
          </a:prstGeom>
          <a:noFill/>
          <a:ln/>
        </p:spPr>
        <p:txBody>
          <a:bodyPr wrap="square" lIns="0" tIns="0" rIns="0" bIns="0" rtlCol="0" anchor="ctr"/>
          <a:lstStyle/>
          <a:p>
            <a:pPr indent="0" marL="0">
              <a:buNone/>
            </a:pPr>
            <a:r>
              <a:rPr lang="en-US" sz="950" spc="200" kern="0" dirty="0">
                <a:solidFill>
                  <a:srgbClr val="E8A020"/>
                </a:solidFill>
                <a:latin typeface="Courier New" pitchFamily="34" charset="0"/>
                <a:ea typeface="Courier New" pitchFamily="34" charset="-122"/>
                <a:cs typeface="Courier New" pitchFamily="34" charset="-120"/>
              </a:rPr>
              <a:t>THURSDAY, AUG 14</a:t>
            </a:r>
            <a:endParaRPr lang="en-US" sz="950" dirty="0"/>
          </a:p>
        </p:txBody>
      </p:sp>
      <p:sp>
        <p:nvSpPr>
          <p:cNvPr id="17" name="Text 14"/>
          <p:cNvSpPr/>
          <p:nvPr/>
        </p:nvSpPr>
        <p:spPr>
          <a:xfrm>
            <a:off x="822960" y="3749040"/>
            <a:ext cx="10552176" cy="621792"/>
          </a:xfrm>
          <a:prstGeom prst="rect">
            <a:avLst/>
          </a:prstGeom>
          <a:noFill/>
          <a:ln/>
        </p:spPr>
        <p:txBody>
          <a:bodyPr wrap="square" lIns="0" tIns="0" rIns="0" bIns="0" rtlCol="0" anchor="t"/>
          <a:lstStyle/>
          <a:p>
            <a:pPr indent="0" marL="0">
              <a:lnSpc>
                <a:spcPct val="112000"/>
              </a:lnSpc>
              <a:buNone/>
            </a:pPr>
            <a:r>
              <a:rPr lang="en-US" sz="1550" dirty="0">
                <a:solidFill>
                  <a:srgbClr val="EDE9E3"/>
                </a:solidFill>
                <a:latin typeface="Arial" pitchFamily="34" charset="0"/>
                <a:ea typeface="Arial" pitchFamily="34" charset="-122"/>
                <a:cs typeface="Arial" pitchFamily="34" charset="-120"/>
              </a:rPr>
              <a:t>You'll get a small project — worked </a:t>
            </a:r>
            <a:pPr indent="0" marL="0">
              <a:lnSpc>
                <a:spcPct val="112000"/>
              </a:lnSpc>
              <a:buNone/>
            </a:pPr>
            <a:r>
              <a:rPr lang="en-US" sz="1550" b="1" dirty="0">
                <a:solidFill>
                  <a:srgbClr val="FFFFFF"/>
                </a:solidFill>
                <a:latin typeface="Arial" pitchFamily="34" charset="0"/>
                <a:ea typeface="Arial" pitchFamily="34" charset="-122"/>
                <a:cs typeface="Arial" pitchFamily="34" charset="-120"/>
              </a:rPr>
              <a:t>in pairs, collaborating through GitHub</a:t>
            </a:r>
            <a:pPr indent="0" marL="0">
              <a:lnSpc>
                <a:spcPct val="112000"/>
              </a:lnSpc>
              <a:buNone/>
            </a:pPr>
            <a:r>
              <a:rPr lang="en-US" sz="1550" dirty="0">
                <a:solidFill>
                  <a:srgbClr val="EDE9E3"/>
                </a:solidFill>
                <a:latin typeface="Arial" pitchFamily="34" charset="0"/>
                <a:ea typeface="Arial" pitchFamily="34" charset="-122"/>
                <a:cs typeface="Arial" pitchFamily="34" charset="-120"/>
              </a:rPr>
              <a:t> — that puts everything from today into practice.</a:t>
            </a:r>
            <a:endParaRPr lang="en-US" sz="1550" dirty="0"/>
          </a:p>
        </p:txBody>
      </p:sp>
      <p:sp>
        <p:nvSpPr>
          <p:cNvPr id="18" name="Text 15"/>
          <p:cNvSpPr/>
          <p:nvPr/>
        </p:nvSpPr>
        <p:spPr>
          <a:xfrm>
            <a:off x="566928" y="4590288"/>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It feels unfamiliar on day one for everyone. The goal today is hands-on practice, not perfection.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04 — 48</a:t>
            </a:r>
            <a:endParaRPr lang="en-US" sz="800" dirty="0"/>
          </a:p>
        </p:txBody>
      </p:sp>
      <p:sp>
        <p:nvSpPr>
          <p:cNvPr id="10" name="Text 7"/>
          <p:cNvSpPr/>
          <p:nvPr/>
        </p:nvSpPr>
        <p:spPr>
          <a:xfrm>
            <a:off x="566928" y="2331720"/>
            <a:ext cx="11055096" cy="640080"/>
          </a:xfrm>
          <a:prstGeom prst="rect">
            <a:avLst/>
          </a:prstGeom>
          <a:noFill/>
          <a:ln/>
        </p:spPr>
        <p:txBody>
          <a:bodyPr wrap="square" lIns="0" tIns="0" rIns="0" bIns="0" rtlCol="0" anchor="ctr"/>
          <a:lstStyle/>
          <a:p>
            <a:pPr indent="0" marL="0">
              <a:buNone/>
            </a:pPr>
            <a:r>
              <a:rPr lang="en-US" sz="2200" spc="300" kern="0" dirty="0">
                <a:solidFill>
                  <a:srgbClr val="E8A020"/>
                </a:solidFill>
                <a:latin typeface="Courier New" pitchFamily="34" charset="0"/>
                <a:ea typeface="Courier New" pitchFamily="34" charset="-122"/>
                <a:cs typeface="Courier New" pitchFamily="34" charset="-120"/>
              </a:rPr>
              <a:t>01</a:t>
            </a:r>
            <a:endParaRPr lang="en-US" sz="2200" dirty="0"/>
          </a:p>
        </p:txBody>
      </p:sp>
      <p:sp>
        <p:nvSpPr>
          <p:cNvPr id="11" name="Text 8"/>
          <p:cNvSpPr/>
          <p:nvPr/>
        </p:nvSpPr>
        <p:spPr>
          <a:xfrm>
            <a:off x="566928" y="2880360"/>
            <a:ext cx="11055096" cy="1280160"/>
          </a:xfrm>
          <a:prstGeom prst="rect">
            <a:avLst/>
          </a:prstGeom>
          <a:noFill/>
          <a:ln/>
        </p:spPr>
        <p:txBody>
          <a:bodyPr wrap="square" lIns="0" tIns="0" rIns="0" bIns="0" rtlCol="0" anchor="t"/>
          <a:lstStyle/>
          <a:p>
            <a:pPr indent="0" marL="0">
              <a:lnSpc>
                <a:spcPct val="98000"/>
              </a:lnSpc>
              <a:buNone/>
            </a:pPr>
            <a:r>
              <a:rPr lang="en-US" sz="5400" b="1" dirty="0">
                <a:solidFill>
                  <a:srgbClr val="EDE9E3"/>
                </a:solidFill>
                <a:latin typeface="Arial" pitchFamily="34" charset="0"/>
                <a:ea typeface="Arial" pitchFamily="34" charset="-122"/>
                <a:cs typeface="Arial" pitchFamily="34" charset="-120"/>
              </a:rPr>
              <a:t>Compute &amp; Secure AI</a:t>
            </a:r>
            <a:endParaRPr lang="en-US" sz="5400" dirty="0"/>
          </a:p>
        </p:txBody>
      </p:sp>
      <p:sp>
        <p:nvSpPr>
          <p:cNvPr id="12" name="Text 9"/>
          <p:cNvSpPr/>
          <p:nvPr/>
        </p:nvSpPr>
        <p:spPr>
          <a:xfrm>
            <a:off x="566928" y="4114800"/>
            <a:ext cx="10140696" cy="914400"/>
          </a:xfrm>
          <a:prstGeom prst="rect">
            <a:avLst/>
          </a:prstGeom>
          <a:noFill/>
          <a:ln/>
        </p:spPr>
        <p:txBody>
          <a:bodyPr wrap="square" lIns="0" tIns="0" rIns="0" bIns="0" rtlCol="0" anchor="t"/>
          <a:lstStyle/>
          <a:p>
            <a:pPr indent="0" marL="0">
              <a:lnSpc>
                <a:spcPct val="110000"/>
              </a:lnSpc>
              <a:buNone/>
            </a:pPr>
            <a:r>
              <a:rPr lang="en-US" sz="2200" i="1" dirty="0">
                <a:solidFill>
                  <a:srgbClr val="8C8880"/>
                </a:solidFill>
                <a:latin typeface="Cambria" pitchFamily="34" charset="0"/>
                <a:ea typeface="Cambria" pitchFamily="34" charset="-122"/>
                <a:cs typeface="Cambria" pitchFamily="34" charset="-120"/>
              </a:rPr>
              <a:t>Where your work runs — and what your data allows.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05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COMPUTE OPTIONS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Compute options at the DSI</a:t>
            </a:r>
            <a:endParaRPr lang="en-US" sz="3800" dirty="0"/>
          </a:p>
        </p:txBody>
      </p:sp>
      <p:sp>
        <p:nvSpPr>
          <p:cNvPr id="13" name="Text 10"/>
          <p:cNvSpPr/>
          <p:nvPr/>
        </p:nvSpPr>
        <p:spPr>
          <a:xfrm>
            <a:off x="566928" y="2194560"/>
            <a:ext cx="5298948" cy="274320"/>
          </a:xfrm>
          <a:prstGeom prst="rect">
            <a:avLst/>
          </a:prstGeom>
          <a:noFill/>
          <a:ln/>
        </p:spPr>
        <p:txBody>
          <a:bodyPr wrap="square" lIns="0" tIns="0" rIns="0" bIns="0" rtlCol="0" anchor="ctr"/>
          <a:lstStyle/>
          <a:p>
            <a:pPr indent="0" marL="0">
              <a:buNone/>
            </a:pPr>
            <a:r>
              <a:rPr lang="en-US" sz="1100" spc="100" kern="0" dirty="0">
                <a:solidFill>
                  <a:srgbClr val="E8A020"/>
                </a:solidFill>
                <a:latin typeface="Courier New" pitchFamily="34" charset="0"/>
                <a:ea typeface="Courier New" pitchFamily="34" charset="-122"/>
                <a:cs typeface="Courier New" pitchFamily="34" charset="-120"/>
              </a:rPr>
              <a:t>INFERENCING (USING MODELS)</a:t>
            </a:r>
            <a:endParaRPr lang="en-US" sz="1100" dirty="0"/>
          </a:p>
        </p:txBody>
      </p:sp>
      <p:sp>
        <p:nvSpPr>
          <p:cNvPr id="14" name="Text 11"/>
          <p:cNvSpPr/>
          <p:nvPr/>
        </p:nvSpPr>
        <p:spPr>
          <a:xfrm>
            <a:off x="6323076" y="2194560"/>
            <a:ext cx="5298948" cy="274320"/>
          </a:xfrm>
          <a:prstGeom prst="rect">
            <a:avLst/>
          </a:prstGeom>
          <a:noFill/>
          <a:ln/>
        </p:spPr>
        <p:txBody>
          <a:bodyPr wrap="square" lIns="0" tIns="0" rIns="0" bIns="0" rtlCol="0" anchor="ctr"/>
          <a:lstStyle/>
          <a:p>
            <a:pPr indent="0" marL="0">
              <a:buNone/>
            </a:pPr>
            <a:r>
              <a:rPr lang="en-US" sz="1100" spc="100" kern="0" dirty="0">
                <a:solidFill>
                  <a:srgbClr val="E8A020"/>
                </a:solidFill>
                <a:latin typeface="Courier New" pitchFamily="34" charset="0"/>
                <a:ea typeface="Courier New" pitchFamily="34" charset="-122"/>
                <a:cs typeface="Courier New" pitchFamily="34" charset="-120"/>
              </a:rPr>
              <a:t>LOCAL INFERENCE &amp;AMP; TRAINING</a:t>
            </a:r>
            <a:endParaRPr lang="en-US" sz="1100" dirty="0"/>
          </a:p>
        </p:txBody>
      </p:sp>
      <p:sp>
        <p:nvSpPr>
          <p:cNvPr id="15" name="Shape 12"/>
          <p:cNvSpPr/>
          <p:nvPr/>
        </p:nvSpPr>
        <p:spPr>
          <a:xfrm>
            <a:off x="566928" y="2505456"/>
            <a:ext cx="5298948" cy="0"/>
          </a:xfrm>
          <a:prstGeom prst="line">
            <a:avLst/>
          </a:prstGeom>
          <a:noFill/>
          <a:ln w="12700">
            <a:solidFill>
              <a:srgbClr val="2A2926"/>
            </a:solidFill>
            <a:prstDash val="solid"/>
          </a:ln>
        </p:spPr>
      </p:sp>
      <p:sp>
        <p:nvSpPr>
          <p:cNvPr id="16" name="Shape 13"/>
          <p:cNvSpPr/>
          <p:nvPr/>
        </p:nvSpPr>
        <p:spPr>
          <a:xfrm>
            <a:off x="6323076" y="2505456"/>
            <a:ext cx="5298948" cy="0"/>
          </a:xfrm>
          <a:prstGeom prst="line">
            <a:avLst/>
          </a:prstGeom>
          <a:noFill/>
          <a:ln w="12700">
            <a:solidFill>
              <a:srgbClr val="2A2926"/>
            </a:solidFill>
            <a:prstDash val="solid"/>
          </a:ln>
        </p:spPr>
      </p:sp>
      <p:sp>
        <p:nvSpPr>
          <p:cNvPr id="17" name="Shape 14"/>
          <p:cNvSpPr/>
          <p:nvPr/>
        </p:nvSpPr>
        <p:spPr>
          <a:xfrm>
            <a:off x="576072" y="2724912"/>
            <a:ext cx="100584" cy="100584"/>
          </a:xfrm>
          <a:prstGeom prst="rect">
            <a:avLst/>
          </a:prstGeom>
          <a:solidFill>
            <a:srgbClr val="E8A020"/>
          </a:solidFill>
          <a:ln/>
        </p:spPr>
      </p:sp>
      <p:sp>
        <p:nvSpPr>
          <p:cNvPr id="18" name="Text 15"/>
          <p:cNvSpPr/>
          <p:nvPr/>
        </p:nvSpPr>
        <p:spPr>
          <a:xfrm>
            <a:off x="859536" y="263347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ChatGPT, Claude</a:t>
            </a:r>
            <a:endParaRPr lang="en-US" sz="1400" dirty="0"/>
          </a:p>
        </p:txBody>
      </p:sp>
      <p:sp>
        <p:nvSpPr>
          <p:cNvPr id="19" name="Shape 16"/>
          <p:cNvSpPr/>
          <p:nvPr/>
        </p:nvSpPr>
        <p:spPr>
          <a:xfrm>
            <a:off x="576072" y="3102356"/>
            <a:ext cx="100584" cy="100584"/>
          </a:xfrm>
          <a:prstGeom prst="rect">
            <a:avLst/>
          </a:prstGeom>
          <a:solidFill>
            <a:srgbClr val="E8A020"/>
          </a:solidFill>
          <a:ln/>
        </p:spPr>
      </p:sp>
      <p:sp>
        <p:nvSpPr>
          <p:cNvPr id="20" name="Text 17"/>
          <p:cNvSpPr/>
          <p:nvPr/>
        </p:nvSpPr>
        <p:spPr>
          <a:xfrm>
            <a:off x="859536" y="3010916"/>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Amplify — vanderbilt.ai</a:t>
            </a:r>
            <a:endParaRPr lang="en-US" sz="1400" dirty="0"/>
          </a:p>
        </p:txBody>
      </p:sp>
      <p:sp>
        <p:nvSpPr>
          <p:cNvPr id="21" name="Shape 18"/>
          <p:cNvSpPr/>
          <p:nvPr/>
        </p:nvSpPr>
        <p:spPr>
          <a:xfrm>
            <a:off x="576072" y="3479800"/>
            <a:ext cx="100584" cy="100584"/>
          </a:xfrm>
          <a:prstGeom prst="rect">
            <a:avLst/>
          </a:prstGeom>
          <a:solidFill>
            <a:srgbClr val="E8A020"/>
          </a:solidFill>
          <a:ln/>
        </p:spPr>
      </p:sp>
      <p:sp>
        <p:nvSpPr>
          <p:cNvPr id="22" name="Text 19"/>
          <p:cNvSpPr/>
          <p:nvPr/>
        </p:nvSpPr>
        <p:spPr>
          <a:xfrm>
            <a:off x="859536" y="338836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Hugging Face Serverless Inference</a:t>
            </a:r>
            <a:endParaRPr lang="en-US" sz="1400" dirty="0"/>
          </a:p>
        </p:txBody>
      </p:sp>
      <p:sp>
        <p:nvSpPr>
          <p:cNvPr id="23" name="Shape 20"/>
          <p:cNvSpPr/>
          <p:nvPr/>
        </p:nvSpPr>
        <p:spPr>
          <a:xfrm>
            <a:off x="6332220" y="2724912"/>
            <a:ext cx="100584" cy="100584"/>
          </a:xfrm>
          <a:prstGeom prst="rect">
            <a:avLst/>
          </a:prstGeom>
          <a:solidFill>
            <a:srgbClr val="E8A020"/>
          </a:solidFill>
          <a:ln/>
        </p:spPr>
      </p:sp>
      <p:sp>
        <p:nvSpPr>
          <p:cNvPr id="24" name="Text 21"/>
          <p:cNvSpPr/>
          <p:nvPr/>
        </p:nvSpPr>
        <p:spPr>
          <a:xfrm>
            <a:off x="6615684" y="263347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Personal computers (CUDA GPU to </a:t>
            </a:r>
            <a:pPr indent="0" marL="0">
              <a:lnSpc>
                <a:spcPct val="110000"/>
              </a:lnSpc>
              <a:buNone/>
            </a:pPr>
            <a:r>
              <a:rPr lang="en-US" sz="1400" dirty="0">
                <a:solidFill>
                  <a:srgbClr val="E8A020"/>
                </a:solidFill>
                <a:latin typeface="Arial" pitchFamily="34" charset="0"/>
                <a:ea typeface="Arial" pitchFamily="34" charset="-122"/>
                <a:cs typeface="Arial" pitchFamily="34" charset="-120"/>
              </a:rPr>
              <a:t>train</a:t>
            </a:r>
            <a:pPr indent="0" marL="0">
              <a:lnSpc>
                <a:spcPct val="110000"/>
              </a:lnSpc>
              <a:buNone/>
            </a:pPr>
            <a:r>
              <a:rPr lang="en-US" sz="1400" dirty="0">
                <a:solidFill>
                  <a:srgbClr val="EDE9E3"/>
                </a:solidFill>
                <a:latin typeface="Arial" pitchFamily="34" charset="0"/>
                <a:ea typeface="Arial" pitchFamily="34" charset="-122"/>
                <a:cs typeface="Arial" pitchFamily="34" charset="-120"/>
              </a:rPr>
              <a:t>)</a:t>
            </a:r>
            <a:endParaRPr lang="en-US" sz="1400" dirty="0"/>
          </a:p>
        </p:txBody>
      </p:sp>
      <p:sp>
        <p:nvSpPr>
          <p:cNvPr id="25" name="Shape 22"/>
          <p:cNvSpPr/>
          <p:nvPr/>
        </p:nvSpPr>
        <p:spPr>
          <a:xfrm>
            <a:off x="6332220" y="3102356"/>
            <a:ext cx="100584" cy="100584"/>
          </a:xfrm>
          <a:prstGeom prst="rect">
            <a:avLst/>
          </a:prstGeom>
          <a:solidFill>
            <a:srgbClr val="E8A020"/>
          </a:solidFill>
          <a:ln/>
        </p:spPr>
      </p:sp>
      <p:sp>
        <p:nvSpPr>
          <p:cNvPr id="26" name="Text 23"/>
          <p:cNvSpPr/>
          <p:nvPr/>
        </p:nvSpPr>
        <p:spPr>
          <a:xfrm>
            <a:off x="6615684" y="3010916"/>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ACCRE — GPUs, CPUs, HPC (DGX A100s)</a:t>
            </a:r>
            <a:endParaRPr lang="en-US" sz="1400" dirty="0"/>
          </a:p>
        </p:txBody>
      </p:sp>
      <p:sp>
        <p:nvSpPr>
          <p:cNvPr id="27" name="Shape 24"/>
          <p:cNvSpPr/>
          <p:nvPr/>
        </p:nvSpPr>
        <p:spPr>
          <a:xfrm>
            <a:off x="6332220" y="3479800"/>
            <a:ext cx="100584" cy="100584"/>
          </a:xfrm>
          <a:prstGeom prst="rect">
            <a:avLst/>
          </a:prstGeom>
          <a:solidFill>
            <a:srgbClr val="E8A020"/>
          </a:solidFill>
          <a:ln/>
        </p:spPr>
      </p:sp>
      <p:sp>
        <p:nvSpPr>
          <p:cNvPr id="28" name="Text 25"/>
          <p:cNvSpPr/>
          <p:nvPr/>
        </p:nvSpPr>
        <p:spPr>
          <a:xfrm>
            <a:off x="6615684" y="338836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Google Colab (hybrid)</a:t>
            </a:r>
            <a:endParaRPr lang="en-US" sz="1400" dirty="0"/>
          </a:p>
        </p:txBody>
      </p:sp>
      <p:sp>
        <p:nvSpPr>
          <p:cNvPr id="29" name="Text 26"/>
          <p:cNvSpPr/>
          <p:nvPr/>
        </p:nvSpPr>
        <p:spPr>
          <a:xfrm>
            <a:off x="566928" y="3930396"/>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Most coursework runs locally or on Colab. ACCRE is for jobs that outgrow your laptop.</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06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SECURITY</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Why secure solutions matter</a:t>
            </a:r>
            <a:endParaRPr lang="en-US" sz="3800" dirty="0"/>
          </a:p>
        </p:txBody>
      </p:sp>
      <p:sp>
        <p:nvSpPr>
          <p:cNvPr id="13" name="Text 10"/>
          <p:cNvSpPr/>
          <p:nvPr/>
        </p:nvSpPr>
        <p:spPr>
          <a:xfrm>
            <a:off x="566928" y="2194560"/>
            <a:ext cx="11055096" cy="1024128"/>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By default, conversations with ChatGPT/Claude (or any other online LLM provider) — and requests through the API — </a:t>
            </a:r>
            <a:pPr indent="0" marL="0">
              <a:lnSpc>
                <a:spcPct val="115000"/>
              </a:lnSpc>
              <a:buNone/>
            </a:pPr>
            <a:r>
              <a:rPr lang="en-US" sz="1900" b="1" i="1" dirty="0">
                <a:solidFill>
                  <a:srgbClr val="FFFFFF"/>
                </a:solidFill>
                <a:latin typeface="Cambria" pitchFamily="34" charset="0"/>
                <a:ea typeface="Cambria" pitchFamily="34" charset="-122"/>
                <a:cs typeface="Cambria" pitchFamily="34" charset="-120"/>
              </a:rPr>
              <a:t>may be used to train future models.</a:t>
            </a:r>
            <a:endParaRPr lang="en-US" sz="1900" dirty="0"/>
          </a:p>
        </p:txBody>
      </p:sp>
      <p:sp>
        <p:nvSpPr>
          <p:cNvPr id="14" name="Shape 11"/>
          <p:cNvSpPr/>
          <p:nvPr/>
        </p:nvSpPr>
        <p:spPr>
          <a:xfrm>
            <a:off x="585216" y="3447288"/>
            <a:ext cx="109728" cy="109728"/>
          </a:xfrm>
          <a:prstGeom prst="rect">
            <a:avLst/>
          </a:prstGeom>
          <a:solidFill>
            <a:srgbClr val="E8A020"/>
          </a:solidFill>
          <a:ln/>
        </p:spPr>
      </p:sp>
      <p:sp>
        <p:nvSpPr>
          <p:cNvPr id="15" name="Text 12"/>
          <p:cNvSpPr/>
          <p:nvPr/>
        </p:nvSpPr>
        <p:spPr>
          <a:xfrm>
            <a:off x="896112" y="3346704"/>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Fine for public data.</a:t>
            </a:r>
            <a:endParaRPr lang="en-US" sz="1600" dirty="0"/>
          </a:p>
        </p:txBody>
      </p:sp>
      <p:sp>
        <p:nvSpPr>
          <p:cNvPr id="16" name="Shape 13"/>
          <p:cNvSpPr/>
          <p:nvPr/>
        </p:nvSpPr>
        <p:spPr>
          <a:xfrm>
            <a:off x="585216" y="3857752"/>
            <a:ext cx="109728" cy="109728"/>
          </a:xfrm>
          <a:prstGeom prst="rect">
            <a:avLst/>
          </a:prstGeom>
          <a:solidFill>
            <a:srgbClr val="E8A020"/>
          </a:solidFill>
          <a:ln/>
        </p:spPr>
      </p:sp>
      <p:sp>
        <p:nvSpPr>
          <p:cNvPr id="17" name="Text 14"/>
          <p:cNvSpPr/>
          <p:nvPr/>
        </p:nvSpPr>
        <p:spPr>
          <a:xfrm>
            <a:off x="896112" y="3757168"/>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Not acceptable for sensitive data.</a:t>
            </a:r>
            <a:endParaRPr lang="en-US" sz="1600" dirty="0"/>
          </a:p>
        </p:txBody>
      </p:sp>
      <p:sp>
        <p:nvSpPr>
          <p:cNvPr id="18" name="Shape 15"/>
          <p:cNvSpPr/>
          <p:nvPr/>
        </p:nvSpPr>
        <p:spPr>
          <a:xfrm>
            <a:off x="585216" y="4268216"/>
            <a:ext cx="109728" cy="109728"/>
          </a:xfrm>
          <a:prstGeom prst="rect">
            <a:avLst/>
          </a:prstGeom>
          <a:solidFill>
            <a:srgbClr val="E8A020"/>
          </a:solidFill>
          <a:ln/>
        </p:spPr>
      </p:sp>
      <p:sp>
        <p:nvSpPr>
          <p:cNvPr id="19" name="Text 16"/>
          <p:cNvSpPr/>
          <p:nvPr/>
        </p:nvSpPr>
        <p:spPr>
          <a:xfrm>
            <a:off x="896112" y="416763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Alternatives: enterprise contracts, or open-source models you run in a controlled environment.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07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CLASSIFICATION</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Data classification &amp; allowed AI</a:t>
            </a:r>
            <a:endParaRPr lang="en-US" sz="3800" dirty="0"/>
          </a:p>
        </p:txBody>
      </p:sp>
      <p:sp>
        <p:nvSpPr>
          <p:cNvPr id="13" name="Text 10"/>
          <p:cNvSpPr/>
          <p:nvPr/>
        </p:nvSpPr>
        <p:spPr>
          <a:xfrm>
            <a:off x="566928" y="2194560"/>
            <a:ext cx="1508760" cy="365760"/>
          </a:xfrm>
          <a:prstGeom prst="rect">
            <a:avLst/>
          </a:prstGeom>
          <a:noFill/>
          <a:ln/>
        </p:spPr>
        <p:txBody>
          <a:bodyPr wrap="square" lIns="0" tIns="0" rIns="0" bIns="0" rtlCol="0" anchor="b"/>
          <a:lstStyle/>
          <a:p>
            <a:pPr indent="0" marL="0">
              <a:buNone/>
            </a:pPr>
            <a:endParaRPr lang="en-US" sz="950" dirty="0"/>
          </a:p>
        </p:txBody>
      </p:sp>
      <p:sp>
        <p:nvSpPr>
          <p:cNvPr id="14" name="Shape 11"/>
          <p:cNvSpPr/>
          <p:nvPr/>
        </p:nvSpPr>
        <p:spPr>
          <a:xfrm>
            <a:off x="566928" y="2606040"/>
            <a:ext cx="1444752" cy="0"/>
          </a:xfrm>
          <a:prstGeom prst="line">
            <a:avLst/>
          </a:prstGeom>
          <a:noFill/>
          <a:ln w="12700">
            <a:solidFill>
              <a:srgbClr val="2A2926"/>
            </a:solidFill>
            <a:prstDash val="solid"/>
          </a:ln>
        </p:spPr>
      </p:sp>
      <p:sp>
        <p:nvSpPr>
          <p:cNvPr id="15" name="Text 12"/>
          <p:cNvSpPr/>
          <p:nvPr/>
        </p:nvSpPr>
        <p:spPr>
          <a:xfrm>
            <a:off x="2121408" y="2194560"/>
            <a:ext cx="2329434" cy="365760"/>
          </a:xfrm>
          <a:prstGeom prst="rect">
            <a:avLst/>
          </a:prstGeom>
          <a:noFill/>
          <a:ln/>
        </p:spPr>
        <p:txBody>
          <a:bodyPr wrap="square" lIns="0" tIns="0" rIns="0" bIns="0" rtlCol="0" anchor="b"/>
          <a:lstStyle/>
          <a:p>
            <a:pPr indent="0" marL="0">
              <a:buNone/>
            </a:pPr>
            <a:r>
              <a:rPr lang="en-US" sz="950" b="1" spc="100" kern="0" dirty="0">
                <a:solidFill>
                  <a:srgbClr val="4FB477"/>
                </a:solidFill>
                <a:latin typeface="Courier New" pitchFamily="34" charset="0"/>
                <a:ea typeface="Courier New" pitchFamily="34" charset="-122"/>
                <a:cs typeface="Courier New" pitchFamily="34" charset="-120"/>
              </a:rPr>
              <a:t>L1 — PUBLIC</a:t>
            </a:r>
            <a:endParaRPr lang="en-US" sz="950" dirty="0"/>
          </a:p>
        </p:txBody>
      </p:sp>
      <p:sp>
        <p:nvSpPr>
          <p:cNvPr id="16" name="Shape 13"/>
          <p:cNvSpPr/>
          <p:nvPr/>
        </p:nvSpPr>
        <p:spPr>
          <a:xfrm>
            <a:off x="2121408" y="2606040"/>
            <a:ext cx="2265426" cy="0"/>
          </a:xfrm>
          <a:prstGeom prst="line">
            <a:avLst/>
          </a:prstGeom>
          <a:noFill/>
          <a:ln w="25400">
            <a:solidFill>
              <a:srgbClr val="4FB477"/>
            </a:solidFill>
            <a:prstDash val="solid"/>
          </a:ln>
        </p:spPr>
      </p:sp>
      <p:sp>
        <p:nvSpPr>
          <p:cNvPr id="17" name="Text 14"/>
          <p:cNvSpPr/>
          <p:nvPr/>
        </p:nvSpPr>
        <p:spPr>
          <a:xfrm>
            <a:off x="4496562" y="2194560"/>
            <a:ext cx="2329434" cy="365760"/>
          </a:xfrm>
          <a:prstGeom prst="rect">
            <a:avLst/>
          </a:prstGeom>
          <a:noFill/>
          <a:ln/>
        </p:spPr>
        <p:txBody>
          <a:bodyPr wrap="square" lIns="0" tIns="0" rIns="0" bIns="0" rtlCol="0" anchor="b"/>
          <a:lstStyle/>
          <a:p>
            <a:pPr indent="0" marL="0">
              <a:buNone/>
            </a:pPr>
            <a:r>
              <a:rPr lang="en-US" sz="950" b="1" spc="100" kern="0" dirty="0">
                <a:solidFill>
                  <a:srgbClr val="ECC94B"/>
                </a:solidFill>
                <a:latin typeface="Courier New" pitchFamily="34" charset="0"/>
                <a:ea typeface="Courier New" pitchFamily="34" charset="-122"/>
                <a:cs typeface="Courier New" pitchFamily="34" charset="-120"/>
              </a:rPr>
              <a:t>L2 — INSTITUTIONAL</a:t>
            </a:r>
            <a:endParaRPr lang="en-US" sz="950" dirty="0"/>
          </a:p>
        </p:txBody>
      </p:sp>
      <p:sp>
        <p:nvSpPr>
          <p:cNvPr id="18" name="Shape 15"/>
          <p:cNvSpPr/>
          <p:nvPr/>
        </p:nvSpPr>
        <p:spPr>
          <a:xfrm>
            <a:off x="4496562" y="2606040"/>
            <a:ext cx="2265426" cy="0"/>
          </a:xfrm>
          <a:prstGeom prst="line">
            <a:avLst/>
          </a:prstGeom>
          <a:noFill/>
          <a:ln w="25400">
            <a:solidFill>
              <a:srgbClr val="ECC94B"/>
            </a:solidFill>
            <a:prstDash val="solid"/>
          </a:ln>
        </p:spPr>
      </p:sp>
      <p:sp>
        <p:nvSpPr>
          <p:cNvPr id="19" name="Text 16"/>
          <p:cNvSpPr/>
          <p:nvPr/>
        </p:nvSpPr>
        <p:spPr>
          <a:xfrm>
            <a:off x="6871716" y="2194560"/>
            <a:ext cx="2329434" cy="365760"/>
          </a:xfrm>
          <a:prstGeom prst="rect">
            <a:avLst/>
          </a:prstGeom>
          <a:noFill/>
          <a:ln/>
        </p:spPr>
        <p:txBody>
          <a:bodyPr wrap="square" lIns="0" tIns="0" rIns="0" bIns="0" rtlCol="0" anchor="b"/>
          <a:lstStyle/>
          <a:p>
            <a:pPr indent="0" marL="0">
              <a:buNone/>
            </a:pPr>
            <a:r>
              <a:rPr lang="en-US" sz="950" b="1" spc="100" kern="0" dirty="0">
                <a:solidFill>
                  <a:srgbClr val="E07B39"/>
                </a:solidFill>
                <a:latin typeface="Courier New" pitchFamily="34" charset="0"/>
                <a:ea typeface="Courier New" pitchFamily="34" charset="-122"/>
                <a:cs typeface="Courier New" pitchFamily="34" charset="-120"/>
              </a:rPr>
              <a:t>L3 — RESTRICTED</a:t>
            </a:r>
            <a:endParaRPr lang="en-US" sz="950" dirty="0"/>
          </a:p>
        </p:txBody>
      </p:sp>
      <p:sp>
        <p:nvSpPr>
          <p:cNvPr id="20" name="Shape 17"/>
          <p:cNvSpPr/>
          <p:nvPr/>
        </p:nvSpPr>
        <p:spPr>
          <a:xfrm>
            <a:off x="6871716" y="2606040"/>
            <a:ext cx="2265426" cy="0"/>
          </a:xfrm>
          <a:prstGeom prst="line">
            <a:avLst/>
          </a:prstGeom>
          <a:noFill/>
          <a:ln w="25400">
            <a:solidFill>
              <a:srgbClr val="E07B39"/>
            </a:solidFill>
            <a:prstDash val="solid"/>
          </a:ln>
        </p:spPr>
      </p:sp>
      <p:sp>
        <p:nvSpPr>
          <p:cNvPr id="21" name="Text 18"/>
          <p:cNvSpPr/>
          <p:nvPr/>
        </p:nvSpPr>
        <p:spPr>
          <a:xfrm>
            <a:off x="9246870" y="2194560"/>
            <a:ext cx="2329434" cy="365760"/>
          </a:xfrm>
          <a:prstGeom prst="rect">
            <a:avLst/>
          </a:prstGeom>
          <a:noFill/>
          <a:ln/>
        </p:spPr>
        <p:txBody>
          <a:bodyPr wrap="square" lIns="0" tIns="0" rIns="0" bIns="0" rtlCol="0" anchor="b"/>
          <a:lstStyle/>
          <a:p>
            <a:pPr indent="0" marL="0">
              <a:buNone/>
            </a:pPr>
            <a:r>
              <a:rPr lang="en-US" sz="950" b="1" spc="100" kern="0" dirty="0">
                <a:solidFill>
                  <a:srgbClr val="DB4E4E"/>
                </a:solidFill>
                <a:latin typeface="Courier New" pitchFamily="34" charset="0"/>
                <a:ea typeface="Courier New" pitchFamily="34" charset="-122"/>
                <a:cs typeface="Courier New" pitchFamily="34" charset="-120"/>
              </a:rPr>
              <a:t>L4 — CRITICAL</a:t>
            </a:r>
            <a:endParaRPr lang="en-US" sz="950" dirty="0"/>
          </a:p>
        </p:txBody>
      </p:sp>
      <p:sp>
        <p:nvSpPr>
          <p:cNvPr id="22" name="Shape 19"/>
          <p:cNvSpPr/>
          <p:nvPr/>
        </p:nvSpPr>
        <p:spPr>
          <a:xfrm>
            <a:off x="9246870" y="2606040"/>
            <a:ext cx="2265426" cy="0"/>
          </a:xfrm>
          <a:prstGeom prst="line">
            <a:avLst/>
          </a:prstGeom>
          <a:noFill/>
          <a:ln w="25400">
            <a:solidFill>
              <a:srgbClr val="DB4E4E"/>
            </a:solidFill>
            <a:prstDash val="solid"/>
          </a:ln>
        </p:spPr>
      </p:sp>
      <p:sp>
        <p:nvSpPr>
          <p:cNvPr id="23" name="Text 20"/>
          <p:cNvSpPr/>
          <p:nvPr/>
        </p:nvSpPr>
        <p:spPr>
          <a:xfrm>
            <a:off x="566928" y="2697480"/>
            <a:ext cx="1426464" cy="640080"/>
          </a:xfrm>
          <a:prstGeom prst="rect">
            <a:avLst/>
          </a:prstGeom>
          <a:noFill/>
          <a:ln/>
        </p:spPr>
        <p:txBody>
          <a:bodyPr wrap="square" lIns="0" tIns="0" rIns="0" bIns="0" rtlCol="0" anchor="t"/>
          <a:lstStyle/>
          <a:p>
            <a:pPr indent="0" marL="0">
              <a:lnSpc>
                <a:spcPct val="105000"/>
              </a:lnSpc>
              <a:buNone/>
            </a:pPr>
            <a:r>
              <a:rPr lang="en-US" sz="1000" b="1" spc="100" kern="0" dirty="0">
                <a:solidFill>
                  <a:srgbClr val="8C8880"/>
                </a:solidFill>
                <a:latin typeface="Courier New" pitchFamily="34" charset="0"/>
                <a:ea typeface="Courier New" pitchFamily="34" charset="-122"/>
                <a:cs typeface="Courier New" pitchFamily="34" charset="-120"/>
              </a:rPr>
              <a:t>Meaning</a:t>
            </a:r>
            <a:endParaRPr lang="en-US" sz="1000" dirty="0"/>
          </a:p>
        </p:txBody>
      </p:sp>
      <p:sp>
        <p:nvSpPr>
          <p:cNvPr id="24" name="Text 21"/>
          <p:cNvSpPr/>
          <p:nvPr/>
        </p:nvSpPr>
        <p:spPr>
          <a:xfrm>
            <a:off x="2121408" y="2697480"/>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EDE9E3"/>
                </a:solidFill>
                <a:latin typeface="Arial" pitchFamily="34" charset="0"/>
                <a:ea typeface="Arial" pitchFamily="34" charset="-122"/>
                <a:cs typeface="Arial" pitchFamily="34" charset="-120"/>
              </a:rPr>
              <a:t>For public release</a:t>
            </a:r>
            <a:endParaRPr lang="en-US" sz="1200" dirty="0"/>
          </a:p>
        </p:txBody>
      </p:sp>
      <p:sp>
        <p:nvSpPr>
          <p:cNvPr id="25" name="Text 22"/>
          <p:cNvSpPr/>
          <p:nvPr/>
        </p:nvSpPr>
        <p:spPr>
          <a:xfrm>
            <a:off x="4496562" y="2697480"/>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EDE9E3"/>
                </a:solidFill>
                <a:latin typeface="Arial" pitchFamily="34" charset="0"/>
                <a:ea typeface="Arial" pitchFamily="34" charset="-122"/>
                <a:cs typeface="Arial" pitchFamily="34" charset="-120"/>
              </a:rPr>
              <a:t>Institution use only</a:t>
            </a:r>
            <a:endParaRPr lang="en-US" sz="1200" dirty="0"/>
          </a:p>
        </p:txBody>
      </p:sp>
      <p:sp>
        <p:nvSpPr>
          <p:cNvPr id="26" name="Text 23"/>
          <p:cNvSpPr/>
          <p:nvPr/>
        </p:nvSpPr>
        <p:spPr>
          <a:xfrm>
            <a:off x="6871716" y="2697480"/>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EDE9E3"/>
                </a:solidFill>
                <a:latin typeface="Arial" pitchFamily="34" charset="0"/>
                <a:ea typeface="Arial" pitchFamily="34" charset="-122"/>
                <a:cs typeface="Arial" pitchFamily="34" charset="-120"/>
              </a:rPr>
              <a:t>Confidential by law / contract</a:t>
            </a:r>
            <a:endParaRPr lang="en-US" sz="1200" dirty="0"/>
          </a:p>
        </p:txBody>
      </p:sp>
      <p:sp>
        <p:nvSpPr>
          <p:cNvPr id="27" name="Text 24"/>
          <p:cNvSpPr/>
          <p:nvPr/>
        </p:nvSpPr>
        <p:spPr>
          <a:xfrm>
            <a:off x="9246870" y="2697480"/>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EDE9E3"/>
                </a:solidFill>
                <a:latin typeface="Arial" pitchFamily="34" charset="0"/>
                <a:ea typeface="Arial" pitchFamily="34" charset="-122"/>
                <a:cs typeface="Arial" pitchFamily="34" charset="-120"/>
              </a:rPr>
              <a:t>Confidential + bespoke security</a:t>
            </a:r>
            <a:endParaRPr lang="en-US" sz="1200" dirty="0"/>
          </a:p>
        </p:txBody>
      </p:sp>
      <p:sp>
        <p:nvSpPr>
          <p:cNvPr id="28" name="Shape 25"/>
          <p:cNvSpPr/>
          <p:nvPr/>
        </p:nvSpPr>
        <p:spPr>
          <a:xfrm>
            <a:off x="566928" y="3337560"/>
            <a:ext cx="11055096" cy="0"/>
          </a:xfrm>
          <a:prstGeom prst="line">
            <a:avLst/>
          </a:prstGeom>
          <a:noFill/>
          <a:ln w="12700">
            <a:solidFill>
              <a:srgbClr val="2A2926"/>
            </a:solidFill>
            <a:prstDash val="solid"/>
          </a:ln>
        </p:spPr>
      </p:sp>
      <p:sp>
        <p:nvSpPr>
          <p:cNvPr id="29" name="Text 26"/>
          <p:cNvSpPr/>
          <p:nvPr/>
        </p:nvSpPr>
        <p:spPr>
          <a:xfrm>
            <a:off x="566928" y="3392424"/>
            <a:ext cx="1426464" cy="640080"/>
          </a:xfrm>
          <a:prstGeom prst="rect">
            <a:avLst/>
          </a:prstGeom>
          <a:noFill/>
          <a:ln/>
        </p:spPr>
        <p:txBody>
          <a:bodyPr wrap="square" lIns="0" tIns="0" rIns="0" bIns="0" rtlCol="0" anchor="t"/>
          <a:lstStyle/>
          <a:p>
            <a:pPr indent="0" marL="0">
              <a:lnSpc>
                <a:spcPct val="105000"/>
              </a:lnSpc>
              <a:buNone/>
            </a:pPr>
            <a:r>
              <a:rPr lang="en-US" sz="1000" b="1" spc="100" kern="0" dirty="0">
                <a:solidFill>
                  <a:srgbClr val="8C8880"/>
                </a:solidFill>
                <a:latin typeface="Courier New" pitchFamily="34" charset="0"/>
                <a:ea typeface="Courier New" pitchFamily="34" charset="-122"/>
                <a:cs typeface="Courier New" pitchFamily="34" charset="-120"/>
              </a:rPr>
              <a:t>Examples</a:t>
            </a:r>
            <a:endParaRPr lang="en-US" sz="1000" dirty="0"/>
          </a:p>
        </p:txBody>
      </p:sp>
      <p:sp>
        <p:nvSpPr>
          <p:cNvPr id="30" name="Text 27"/>
          <p:cNvSpPr/>
          <p:nvPr/>
        </p:nvSpPr>
        <p:spPr>
          <a:xfrm>
            <a:off x="2121408" y="3392424"/>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EDE9E3"/>
                </a:solidFill>
                <a:latin typeface="Arial" pitchFamily="34" charset="0"/>
                <a:ea typeface="Arial" pitchFamily="34" charset="-122"/>
                <a:cs typeface="Arial" pitchFamily="34" charset="-120"/>
              </a:rPr>
              <a:t>Public datasets</a:t>
            </a:r>
            <a:endParaRPr lang="en-US" sz="1200" dirty="0"/>
          </a:p>
        </p:txBody>
      </p:sp>
      <p:sp>
        <p:nvSpPr>
          <p:cNvPr id="31" name="Text 28"/>
          <p:cNvSpPr/>
          <p:nvPr/>
        </p:nvSpPr>
        <p:spPr>
          <a:xfrm>
            <a:off x="4496562" y="3392424"/>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EDE9E3"/>
                </a:solidFill>
                <a:latin typeface="Arial" pitchFamily="34" charset="0"/>
                <a:ea typeface="Arial" pitchFamily="34" charset="-122"/>
                <a:cs typeface="Arial" pitchFamily="34" charset="-120"/>
              </a:rPr>
              <a:t>Unpublished research, institutional docs</a:t>
            </a:r>
            <a:endParaRPr lang="en-US" sz="1200" dirty="0"/>
          </a:p>
        </p:txBody>
      </p:sp>
      <p:sp>
        <p:nvSpPr>
          <p:cNvPr id="32" name="Text 29"/>
          <p:cNvSpPr/>
          <p:nvPr/>
        </p:nvSpPr>
        <p:spPr>
          <a:xfrm>
            <a:off x="6871716" y="3392424"/>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EDE9E3"/>
                </a:solidFill>
                <a:latin typeface="Arial" pitchFamily="34" charset="0"/>
                <a:ea typeface="Arial" pitchFamily="34" charset="-122"/>
                <a:cs typeface="Arial" pitchFamily="34" charset="-120"/>
              </a:rPr>
              <a:t>PHI/HIPAA, FERPA, GDPR, NDA</a:t>
            </a:r>
            <a:endParaRPr lang="en-US" sz="1200" dirty="0"/>
          </a:p>
        </p:txBody>
      </p:sp>
      <p:sp>
        <p:nvSpPr>
          <p:cNvPr id="33" name="Text 30"/>
          <p:cNvSpPr/>
          <p:nvPr/>
        </p:nvSpPr>
        <p:spPr>
          <a:xfrm>
            <a:off x="9246870" y="3392424"/>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EDE9E3"/>
                </a:solidFill>
                <a:latin typeface="Arial" pitchFamily="34" charset="0"/>
                <a:ea typeface="Arial" pitchFamily="34" charset="-122"/>
                <a:cs typeface="Arial" pitchFamily="34" charset="-120"/>
              </a:rPr>
              <a:t>Classified info, law-enforcement records</a:t>
            </a:r>
            <a:endParaRPr lang="en-US" sz="1200" dirty="0"/>
          </a:p>
        </p:txBody>
      </p:sp>
      <p:sp>
        <p:nvSpPr>
          <p:cNvPr id="34" name="Shape 31"/>
          <p:cNvSpPr/>
          <p:nvPr/>
        </p:nvSpPr>
        <p:spPr>
          <a:xfrm>
            <a:off x="566928" y="4032504"/>
            <a:ext cx="11055096" cy="0"/>
          </a:xfrm>
          <a:prstGeom prst="line">
            <a:avLst/>
          </a:prstGeom>
          <a:noFill/>
          <a:ln w="12700">
            <a:solidFill>
              <a:srgbClr val="2A2926"/>
            </a:solidFill>
            <a:prstDash val="solid"/>
          </a:ln>
        </p:spPr>
      </p:sp>
      <p:sp>
        <p:nvSpPr>
          <p:cNvPr id="35" name="Text 32"/>
          <p:cNvSpPr/>
          <p:nvPr/>
        </p:nvSpPr>
        <p:spPr>
          <a:xfrm>
            <a:off x="566928" y="4087368"/>
            <a:ext cx="1426464" cy="1115568"/>
          </a:xfrm>
          <a:prstGeom prst="rect">
            <a:avLst/>
          </a:prstGeom>
          <a:noFill/>
          <a:ln/>
        </p:spPr>
        <p:txBody>
          <a:bodyPr wrap="square" lIns="0" tIns="0" rIns="0" bIns="0" rtlCol="0" anchor="t"/>
          <a:lstStyle/>
          <a:p>
            <a:pPr indent="0" marL="0">
              <a:lnSpc>
                <a:spcPct val="105000"/>
              </a:lnSpc>
              <a:buNone/>
            </a:pPr>
            <a:r>
              <a:rPr lang="en-US" sz="1000" b="1" spc="100" kern="0" dirty="0">
                <a:solidFill>
                  <a:srgbClr val="8C8880"/>
                </a:solidFill>
                <a:latin typeface="Courier New" pitchFamily="34" charset="0"/>
                <a:ea typeface="Courier New" pitchFamily="34" charset="-122"/>
                <a:cs typeface="Courier New" pitchFamily="34" charset="-120"/>
              </a:rPr>
              <a:t>Allowed AI solution</a:t>
            </a:r>
            <a:endParaRPr lang="en-US" sz="1000" dirty="0"/>
          </a:p>
        </p:txBody>
      </p:sp>
      <p:sp>
        <p:nvSpPr>
          <p:cNvPr id="36" name="Text 33"/>
          <p:cNvSpPr/>
          <p:nvPr/>
        </p:nvSpPr>
        <p:spPr>
          <a:xfrm>
            <a:off x="2121408" y="4087368"/>
            <a:ext cx="2247138" cy="1115568"/>
          </a:xfrm>
          <a:prstGeom prst="rect">
            <a:avLst/>
          </a:prstGeom>
          <a:noFill/>
          <a:ln/>
        </p:spPr>
        <p:txBody>
          <a:bodyPr wrap="square" lIns="0" tIns="0" rIns="0" bIns="0" rtlCol="0" anchor="t"/>
          <a:lstStyle/>
          <a:p>
            <a:pPr indent="0" marL="0">
              <a:lnSpc>
                <a:spcPct val="105000"/>
              </a:lnSpc>
              <a:buNone/>
            </a:pPr>
            <a:r>
              <a:rPr lang="en-US" sz="1200" dirty="0">
                <a:solidFill>
                  <a:srgbClr val="EDE9E3"/>
                </a:solidFill>
                <a:latin typeface="Arial" pitchFamily="34" charset="0"/>
                <a:ea typeface="Arial" pitchFamily="34" charset="-122"/>
                <a:cs typeface="Arial" pitchFamily="34" charset="-120"/>
              </a:rPr>
              <a:t>Any chat &amp; embedding model (API + UI); all training</a:t>
            </a:r>
            <a:endParaRPr lang="en-US" sz="1200" dirty="0"/>
          </a:p>
        </p:txBody>
      </p:sp>
      <p:sp>
        <p:nvSpPr>
          <p:cNvPr id="37" name="Text 34"/>
          <p:cNvSpPr/>
          <p:nvPr/>
        </p:nvSpPr>
        <p:spPr>
          <a:xfrm>
            <a:off x="4496562" y="4087368"/>
            <a:ext cx="2247138" cy="1115568"/>
          </a:xfrm>
          <a:prstGeom prst="rect">
            <a:avLst/>
          </a:prstGeom>
          <a:noFill/>
          <a:ln/>
        </p:spPr>
        <p:txBody>
          <a:bodyPr wrap="square" lIns="0" tIns="0" rIns="0" bIns="0" rtlCol="0" anchor="t"/>
          <a:lstStyle/>
          <a:p>
            <a:pPr indent="0" marL="0">
              <a:lnSpc>
                <a:spcPct val="105000"/>
              </a:lnSpc>
              <a:buNone/>
            </a:pPr>
            <a:r>
              <a:rPr lang="en-US" sz="1200" dirty="0">
                <a:solidFill>
                  <a:srgbClr val="EDE9E3"/>
                </a:solidFill>
                <a:latin typeface="Arial" pitchFamily="34" charset="0"/>
                <a:ea typeface="Arial" pitchFamily="34" charset="-122"/>
                <a:cs typeface="Arial" pitchFamily="34" charset="-120"/>
              </a:rPr>
              <a:t>Opt out of training, or Amplify / open-source; store + train on ACCRE, DGX, Colab</a:t>
            </a:r>
            <a:endParaRPr lang="en-US" sz="1200" dirty="0"/>
          </a:p>
        </p:txBody>
      </p:sp>
      <p:sp>
        <p:nvSpPr>
          <p:cNvPr id="38" name="Text 35"/>
          <p:cNvSpPr/>
          <p:nvPr/>
        </p:nvSpPr>
        <p:spPr>
          <a:xfrm>
            <a:off x="6871716" y="4087368"/>
            <a:ext cx="2247138" cy="1115568"/>
          </a:xfrm>
          <a:prstGeom prst="rect">
            <a:avLst/>
          </a:prstGeom>
          <a:noFill/>
          <a:ln/>
        </p:spPr>
        <p:txBody>
          <a:bodyPr wrap="square" lIns="0" tIns="0" rIns="0" bIns="0" rtlCol="0" anchor="t"/>
          <a:lstStyle/>
          <a:p>
            <a:pPr indent="0" marL="0">
              <a:lnSpc>
                <a:spcPct val="105000"/>
              </a:lnSpc>
              <a:buNone/>
            </a:pPr>
            <a:r>
              <a:rPr lang="en-US" sz="1200" dirty="0">
                <a:solidFill>
                  <a:srgbClr val="EDE9E3"/>
                </a:solidFill>
                <a:latin typeface="Arial" pitchFamily="34" charset="0"/>
                <a:ea typeface="Arial" pitchFamily="34" charset="-122"/>
                <a:cs typeface="Arial" pitchFamily="34" charset="-120"/>
              </a:rPr>
              <a:t>Closed models only via Amplify (enterprise); open-source; ACCRE / private storage</a:t>
            </a:r>
            <a:endParaRPr lang="en-US" sz="1200" dirty="0"/>
          </a:p>
        </p:txBody>
      </p:sp>
      <p:sp>
        <p:nvSpPr>
          <p:cNvPr id="39" name="Text 36"/>
          <p:cNvSpPr/>
          <p:nvPr/>
        </p:nvSpPr>
        <p:spPr>
          <a:xfrm>
            <a:off x="9246870" y="4087368"/>
            <a:ext cx="2247138" cy="1115568"/>
          </a:xfrm>
          <a:prstGeom prst="rect">
            <a:avLst/>
          </a:prstGeom>
          <a:noFill/>
          <a:ln/>
        </p:spPr>
        <p:txBody>
          <a:bodyPr wrap="square" lIns="0" tIns="0" rIns="0" bIns="0" rtlCol="0" anchor="t"/>
          <a:lstStyle/>
          <a:p>
            <a:pPr indent="0" marL="0">
              <a:lnSpc>
                <a:spcPct val="105000"/>
              </a:lnSpc>
              <a:buNone/>
            </a:pPr>
            <a:r>
              <a:rPr lang="en-US" sz="1200" dirty="0">
                <a:solidFill>
                  <a:srgbClr val="EDE9E3"/>
                </a:solidFill>
                <a:latin typeface="Arial" pitchFamily="34" charset="0"/>
                <a:ea typeface="Arial" pitchFamily="34" charset="-122"/>
                <a:cs typeface="Arial" pitchFamily="34" charset="-120"/>
              </a:rPr>
              <a:t>Open-source or custom models; custom data solutions</a:t>
            </a:r>
            <a:endParaRPr lang="en-US" sz="1200" dirty="0"/>
          </a:p>
        </p:txBody>
      </p:sp>
      <p:sp>
        <p:nvSpPr>
          <p:cNvPr id="40" name="Shape 37"/>
          <p:cNvSpPr/>
          <p:nvPr/>
        </p:nvSpPr>
        <p:spPr>
          <a:xfrm>
            <a:off x="566928" y="5202936"/>
            <a:ext cx="11055096" cy="0"/>
          </a:xfrm>
          <a:prstGeom prst="line">
            <a:avLst/>
          </a:prstGeom>
          <a:noFill/>
          <a:ln w="12700">
            <a:solidFill>
              <a:srgbClr val="2A2926"/>
            </a:solidFill>
            <a:prstDash val="solid"/>
          </a:ln>
        </p:spPr>
      </p:sp>
      <p:sp>
        <p:nvSpPr>
          <p:cNvPr id="41" name="Text 38"/>
          <p:cNvSpPr/>
          <p:nvPr/>
        </p:nvSpPr>
        <p:spPr>
          <a:xfrm>
            <a:off x="566928" y="5404104"/>
            <a:ext cx="11055096" cy="786384"/>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Rule of thumb: the more sensitive the data, the more the compute stays inside Vanderbilt's control. Full guidance: https://www.vanderbilt.edu/cybersecurity/guidelines/data-classification/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08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LOCAL MODELS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Working locally: the limits</a:t>
            </a:r>
            <a:endParaRPr lang="en-US" sz="3800" dirty="0"/>
          </a:p>
        </p:txBody>
      </p:sp>
      <p:sp>
        <p:nvSpPr>
          <p:cNvPr id="13" name="Shape 10"/>
          <p:cNvSpPr/>
          <p:nvPr/>
        </p:nvSpPr>
        <p:spPr>
          <a:xfrm>
            <a:off x="585216" y="2276856"/>
            <a:ext cx="109728" cy="109728"/>
          </a:xfrm>
          <a:prstGeom prst="rect">
            <a:avLst/>
          </a:prstGeom>
          <a:solidFill>
            <a:srgbClr val="E8A020"/>
          </a:solidFill>
          <a:ln/>
        </p:spPr>
      </p:sp>
      <p:sp>
        <p:nvSpPr>
          <p:cNvPr id="14" name="Text 11"/>
          <p:cNvSpPr/>
          <p:nvPr/>
        </p:nvSpPr>
        <p:spPr>
          <a:xfrm>
            <a:off x="896112" y="217627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Local open-source models generally aren't as strong as frontier proprietary models.</a:t>
            </a:r>
            <a:endParaRPr lang="en-US" sz="1600" dirty="0"/>
          </a:p>
        </p:txBody>
      </p:sp>
      <p:sp>
        <p:nvSpPr>
          <p:cNvPr id="15" name="Shape 12"/>
          <p:cNvSpPr/>
          <p:nvPr/>
        </p:nvSpPr>
        <p:spPr>
          <a:xfrm>
            <a:off x="585216" y="2687320"/>
            <a:ext cx="109728" cy="109728"/>
          </a:xfrm>
          <a:prstGeom prst="rect">
            <a:avLst/>
          </a:prstGeom>
          <a:solidFill>
            <a:srgbClr val="E8A020"/>
          </a:solidFill>
          <a:ln/>
        </p:spPr>
      </p:sp>
      <p:sp>
        <p:nvSpPr>
          <p:cNvPr id="16" name="Text 13"/>
          <p:cNvSpPr/>
          <p:nvPr/>
        </p:nvSpPr>
        <p:spPr>
          <a:xfrm>
            <a:off x="896112" y="258673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Most proprietary models can't be run locally at all.</a:t>
            </a:r>
            <a:endParaRPr lang="en-US" sz="1600" dirty="0"/>
          </a:p>
        </p:txBody>
      </p:sp>
      <p:sp>
        <p:nvSpPr>
          <p:cNvPr id="17" name="Shape 14"/>
          <p:cNvSpPr/>
          <p:nvPr/>
        </p:nvSpPr>
        <p:spPr>
          <a:xfrm>
            <a:off x="585216" y="3097784"/>
            <a:ext cx="109728" cy="109728"/>
          </a:xfrm>
          <a:prstGeom prst="rect">
            <a:avLst/>
          </a:prstGeom>
          <a:solidFill>
            <a:srgbClr val="E8A020"/>
          </a:solidFill>
          <a:ln/>
        </p:spPr>
      </p:sp>
      <p:sp>
        <p:nvSpPr>
          <p:cNvPr id="18" name="Text 15"/>
          <p:cNvSpPr/>
          <p:nvPr/>
        </p:nvSpPr>
        <p:spPr>
          <a:xfrm>
            <a:off x="896112" y="2997200"/>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You're bounded by hardware — full-size models need multiple GPU nodes.</a:t>
            </a:r>
            <a:endParaRPr lang="en-US" sz="1600" dirty="0"/>
          </a:p>
        </p:txBody>
      </p:sp>
      <p:sp>
        <p:nvSpPr>
          <p:cNvPr id="19" name="Shape 16"/>
          <p:cNvSpPr/>
          <p:nvPr/>
        </p:nvSpPr>
        <p:spPr>
          <a:xfrm>
            <a:off x="566928" y="3517392"/>
            <a:ext cx="11055096" cy="1078992"/>
          </a:xfrm>
          <a:prstGeom prst="rect">
            <a:avLst/>
          </a:prstGeom>
          <a:solidFill>
            <a:srgbClr val="241D10"/>
          </a:solidFill>
          <a:ln w="12700">
            <a:solidFill>
              <a:srgbClr val="E8A020"/>
            </a:solidFill>
            <a:prstDash val="solid"/>
          </a:ln>
        </p:spPr>
      </p:sp>
      <p:sp>
        <p:nvSpPr>
          <p:cNvPr id="20" name="Shape 17"/>
          <p:cNvSpPr/>
          <p:nvPr/>
        </p:nvSpPr>
        <p:spPr>
          <a:xfrm>
            <a:off x="566928" y="3517392"/>
            <a:ext cx="54864" cy="1078992"/>
          </a:xfrm>
          <a:prstGeom prst="rect">
            <a:avLst/>
          </a:prstGeom>
          <a:solidFill>
            <a:srgbClr val="E8A020"/>
          </a:solidFill>
          <a:ln/>
        </p:spPr>
      </p:sp>
      <p:sp>
        <p:nvSpPr>
          <p:cNvPr id="21" name="Text 18"/>
          <p:cNvSpPr/>
          <p:nvPr/>
        </p:nvSpPr>
        <p:spPr>
          <a:xfrm>
            <a:off x="822960" y="3627120"/>
            <a:ext cx="10597896" cy="237744"/>
          </a:xfrm>
          <a:prstGeom prst="rect">
            <a:avLst/>
          </a:prstGeom>
          <a:noFill/>
          <a:ln/>
        </p:spPr>
        <p:txBody>
          <a:bodyPr wrap="square" lIns="0" tIns="0" rIns="0" bIns="0" rtlCol="0" anchor="ctr"/>
          <a:lstStyle/>
          <a:p>
            <a:pPr indent="0" marL="0">
              <a:buNone/>
            </a:pPr>
            <a:r>
              <a:rPr lang="en-US" sz="950" spc="200" kern="0" dirty="0">
                <a:solidFill>
                  <a:srgbClr val="E8A020"/>
                </a:solidFill>
                <a:latin typeface="Courier New" pitchFamily="34" charset="0"/>
                <a:ea typeface="Courier New" pitchFamily="34" charset="-122"/>
                <a:cs typeface="Courier New" pitchFamily="34" charset="-120"/>
              </a:rPr>
              <a:t>THE LEVERS</a:t>
            </a:r>
            <a:endParaRPr lang="en-US" sz="950" dirty="0"/>
          </a:p>
        </p:txBody>
      </p:sp>
      <p:sp>
        <p:nvSpPr>
          <p:cNvPr id="22" name="Text 19"/>
          <p:cNvSpPr/>
          <p:nvPr/>
        </p:nvSpPr>
        <p:spPr>
          <a:xfrm>
            <a:off x="822960" y="3901440"/>
            <a:ext cx="10552176" cy="621792"/>
          </a:xfrm>
          <a:prstGeom prst="rect">
            <a:avLst/>
          </a:prstGeom>
          <a:noFill/>
          <a:ln/>
        </p:spPr>
        <p:txBody>
          <a:bodyPr wrap="square" lIns="0" tIns="0" rIns="0" bIns="0" rtlCol="0" anchor="t"/>
          <a:lstStyle/>
          <a:p>
            <a:pPr indent="0" marL="0">
              <a:lnSpc>
                <a:spcPct val="112000"/>
              </a:lnSpc>
              <a:buNone/>
            </a:pPr>
            <a:r>
              <a:rPr lang="en-US" sz="1550" dirty="0">
                <a:solidFill>
                  <a:srgbClr val="EDE9E3"/>
                </a:solidFill>
                <a:latin typeface="Arial" pitchFamily="34" charset="0"/>
                <a:ea typeface="Arial" pitchFamily="34" charset="-122"/>
                <a:cs typeface="Arial" pitchFamily="34" charset="-120"/>
              </a:rPr>
              <a:t>smaller fine-tuned models · distillation · quantization · PEFT. These words are all over Hugging Face — let's decode them.</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09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READING THE HUB</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What a model name tells you</a:t>
            </a:r>
            <a:endParaRPr lang="en-US" sz="3800" dirty="0"/>
          </a:p>
        </p:txBody>
      </p:sp>
      <p:sp>
        <p:nvSpPr>
          <p:cNvPr id="13" name="Shape 10"/>
          <p:cNvSpPr/>
          <p:nvPr/>
        </p:nvSpPr>
        <p:spPr>
          <a:xfrm>
            <a:off x="566928" y="2194560"/>
            <a:ext cx="11055096" cy="583184"/>
          </a:xfrm>
          <a:prstGeom prst="rect">
            <a:avLst/>
          </a:prstGeom>
          <a:solidFill>
            <a:srgbClr val="1C1B1A"/>
          </a:solidFill>
          <a:ln/>
        </p:spPr>
      </p:sp>
      <p:sp>
        <p:nvSpPr>
          <p:cNvPr id="14" name="Shape 11"/>
          <p:cNvSpPr/>
          <p:nvPr/>
        </p:nvSpPr>
        <p:spPr>
          <a:xfrm>
            <a:off x="566928" y="2194560"/>
            <a:ext cx="45720" cy="583184"/>
          </a:xfrm>
          <a:prstGeom prst="rect">
            <a:avLst/>
          </a:prstGeom>
          <a:solidFill>
            <a:srgbClr val="E8A020"/>
          </a:solidFill>
          <a:ln/>
        </p:spPr>
      </p:sp>
      <p:sp>
        <p:nvSpPr>
          <p:cNvPr id="15" name="Text 12"/>
          <p:cNvSpPr/>
          <p:nvPr/>
        </p:nvSpPr>
        <p:spPr>
          <a:xfrm>
            <a:off x="822960" y="2359152"/>
            <a:ext cx="10597896" cy="254000"/>
          </a:xfrm>
          <a:prstGeom prst="rect">
            <a:avLst/>
          </a:prstGeom>
          <a:noFill/>
          <a:ln/>
        </p:spPr>
        <p:txBody>
          <a:bodyPr wrap="square" lIns="0" tIns="0" rIns="0" bIns="0" rtlCol="0" anchor="t"/>
          <a:lstStyle/>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Llama-3.1-8B-Instruct-GGUF-Q4_K_M</a:t>
            </a:r>
            <a:endParaRPr lang="en-US" sz="1300" dirty="0"/>
          </a:p>
        </p:txBody>
      </p:sp>
      <p:sp>
        <p:nvSpPr>
          <p:cNvPr id="16" name="Shape 13"/>
          <p:cNvSpPr/>
          <p:nvPr/>
        </p:nvSpPr>
        <p:spPr>
          <a:xfrm>
            <a:off x="585216" y="3079496"/>
            <a:ext cx="109728" cy="109728"/>
          </a:xfrm>
          <a:prstGeom prst="rect">
            <a:avLst/>
          </a:prstGeom>
          <a:solidFill>
            <a:srgbClr val="E8A020"/>
          </a:solidFill>
          <a:ln/>
        </p:spPr>
      </p:sp>
      <p:sp>
        <p:nvSpPr>
          <p:cNvPr id="17" name="Text 14"/>
          <p:cNvSpPr/>
          <p:nvPr/>
        </p:nvSpPr>
        <p:spPr>
          <a:xfrm>
            <a:off x="896112" y="2978912"/>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8B</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parameters (billions) → rough memory / compute cost</a:t>
            </a:r>
            <a:endParaRPr lang="en-US" sz="1600" dirty="0"/>
          </a:p>
        </p:txBody>
      </p:sp>
      <p:sp>
        <p:nvSpPr>
          <p:cNvPr id="18" name="Shape 15"/>
          <p:cNvSpPr/>
          <p:nvPr/>
        </p:nvSpPr>
        <p:spPr>
          <a:xfrm>
            <a:off x="585216" y="3489960"/>
            <a:ext cx="109728" cy="109728"/>
          </a:xfrm>
          <a:prstGeom prst="rect">
            <a:avLst/>
          </a:prstGeom>
          <a:solidFill>
            <a:srgbClr val="E8A020"/>
          </a:solidFill>
          <a:ln/>
        </p:spPr>
      </p:sp>
      <p:sp>
        <p:nvSpPr>
          <p:cNvPr id="19" name="Text 16"/>
          <p:cNvSpPr/>
          <p:nvPr/>
        </p:nvSpPr>
        <p:spPr>
          <a:xfrm>
            <a:off x="896112" y="3389376"/>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Instruct</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tuned to follow instructions/chat (vs. a raw </a:t>
            </a:r>
            <a:pPr indent="0" marL="0">
              <a:lnSpc>
                <a:spcPct val="110000"/>
              </a:lnSpc>
              <a:buNone/>
            </a:pPr>
            <a:r>
              <a:rPr lang="en-US" sz="1600" dirty="0">
                <a:solidFill>
                  <a:srgbClr val="E8A020"/>
                </a:solidFill>
                <a:latin typeface="Arial" pitchFamily="34" charset="0"/>
                <a:ea typeface="Arial" pitchFamily="34" charset="-122"/>
                <a:cs typeface="Arial" pitchFamily="34" charset="-120"/>
              </a:rPr>
              <a:t>base</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model)</a:t>
            </a:r>
            <a:endParaRPr lang="en-US" sz="1600" dirty="0"/>
          </a:p>
        </p:txBody>
      </p:sp>
      <p:sp>
        <p:nvSpPr>
          <p:cNvPr id="20" name="Shape 17"/>
          <p:cNvSpPr/>
          <p:nvPr/>
        </p:nvSpPr>
        <p:spPr>
          <a:xfrm>
            <a:off x="585216" y="3900424"/>
            <a:ext cx="109728" cy="109728"/>
          </a:xfrm>
          <a:prstGeom prst="rect">
            <a:avLst/>
          </a:prstGeom>
          <a:solidFill>
            <a:srgbClr val="E8A020"/>
          </a:solidFill>
          <a:ln/>
        </p:spPr>
      </p:sp>
      <p:sp>
        <p:nvSpPr>
          <p:cNvPr id="21" name="Text 18"/>
          <p:cNvSpPr/>
          <p:nvPr/>
        </p:nvSpPr>
        <p:spPr>
          <a:xfrm>
            <a:off x="896112" y="3799840"/>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GGUF</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a file format for local runtimes (LM Studio)</a:t>
            </a:r>
            <a:endParaRPr lang="en-US" sz="1600" dirty="0"/>
          </a:p>
        </p:txBody>
      </p:sp>
      <p:sp>
        <p:nvSpPr>
          <p:cNvPr id="22" name="Shape 19"/>
          <p:cNvSpPr/>
          <p:nvPr/>
        </p:nvSpPr>
        <p:spPr>
          <a:xfrm>
            <a:off x="585216" y="4310888"/>
            <a:ext cx="109728" cy="109728"/>
          </a:xfrm>
          <a:prstGeom prst="rect">
            <a:avLst/>
          </a:prstGeom>
          <a:solidFill>
            <a:srgbClr val="E8A020"/>
          </a:solidFill>
          <a:ln/>
        </p:spPr>
      </p:sp>
      <p:sp>
        <p:nvSpPr>
          <p:cNvPr id="23" name="Text 20"/>
          <p:cNvSpPr/>
          <p:nvPr/>
        </p:nvSpPr>
        <p:spPr>
          <a:xfrm>
            <a:off x="896112" y="4210304"/>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Q4_K_M</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quantization level (4-bit): smaller + faster, small quality trade-off</a:t>
            </a:r>
            <a:endParaRPr lang="en-US" sz="1600" dirty="0"/>
          </a:p>
        </p:txBody>
      </p:sp>
      <p:sp>
        <p:nvSpPr>
          <p:cNvPr id="24" name="Text 21"/>
          <p:cNvSpPr/>
          <p:nvPr/>
        </p:nvSpPr>
        <p:spPr>
          <a:xfrm>
            <a:off x="566928" y="4730496"/>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Parameters ≈ how big · quant ≈ how compressed · instruct ≈ how it behaves.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10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CONCEPT</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Quantization</a:t>
            </a:r>
            <a:endParaRPr lang="en-US" sz="3800" dirty="0"/>
          </a:p>
        </p:txBody>
      </p:sp>
      <p:sp>
        <p:nvSpPr>
          <p:cNvPr id="13" name="Text 10"/>
          <p:cNvSpPr/>
          <p:nvPr/>
        </p:nvSpPr>
        <p:spPr>
          <a:xfrm>
            <a:off x="566928" y="2194560"/>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Representing weights &amp; activations at lower precision (FP32 → INT8 or 4-bit) to cut memory and compute.</a:t>
            </a:r>
            <a:endParaRPr lang="en-US" sz="1900" dirty="0"/>
          </a:p>
        </p:txBody>
      </p:sp>
      <p:sp>
        <p:nvSpPr>
          <p:cNvPr id="14" name="Shape 11"/>
          <p:cNvSpPr/>
          <p:nvPr/>
        </p:nvSpPr>
        <p:spPr>
          <a:xfrm>
            <a:off x="585216" y="3136392"/>
            <a:ext cx="109728" cy="109728"/>
          </a:xfrm>
          <a:prstGeom prst="rect">
            <a:avLst/>
          </a:prstGeom>
          <a:solidFill>
            <a:srgbClr val="E8A020"/>
          </a:solidFill>
          <a:ln/>
        </p:spPr>
      </p:sp>
      <p:sp>
        <p:nvSpPr>
          <p:cNvPr id="15" name="Text 12"/>
          <p:cNvSpPr/>
          <p:nvPr/>
        </p:nvSpPr>
        <p:spPr>
          <a:xfrm>
            <a:off x="896112" y="3035808"/>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Fits smaller hardware — consumer GPUs, laptops</a:t>
            </a:r>
            <a:endParaRPr lang="en-US" sz="1600" dirty="0"/>
          </a:p>
        </p:txBody>
      </p:sp>
      <p:sp>
        <p:nvSpPr>
          <p:cNvPr id="16" name="Shape 13"/>
          <p:cNvSpPr/>
          <p:nvPr/>
        </p:nvSpPr>
        <p:spPr>
          <a:xfrm>
            <a:off x="585216" y="3546856"/>
            <a:ext cx="109728" cy="109728"/>
          </a:xfrm>
          <a:prstGeom prst="rect">
            <a:avLst/>
          </a:prstGeom>
          <a:solidFill>
            <a:srgbClr val="E8A020"/>
          </a:solidFill>
          <a:ln/>
        </p:spPr>
      </p:sp>
      <p:sp>
        <p:nvSpPr>
          <p:cNvPr id="17" name="Text 14"/>
          <p:cNvSpPr/>
          <p:nvPr/>
        </p:nvSpPr>
        <p:spPr>
          <a:xfrm>
            <a:off x="896112" y="344627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Faster inference, lower latency and energy</a:t>
            </a:r>
            <a:endParaRPr lang="en-US" sz="1600" dirty="0"/>
          </a:p>
        </p:txBody>
      </p:sp>
      <p:sp>
        <p:nvSpPr>
          <p:cNvPr id="18" name="Shape 15"/>
          <p:cNvSpPr/>
          <p:nvPr/>
        </p:nvSpPr>
        <p:spPr>
          <a:xfrm>
            <a:off x="585216" y="3957320"/>
            <a:ext cx="109728" cy="109728"/>
          </a:xfrm>
          <a:prstGeom prst="rect">
            <a:avLst/>
          </a:prstGeom>
          <a:solidFill>
            <a:srgbClr val="E8A020"/>
          </a:solidFill>
          <a:ln/>
        </p:spPr>
      </p:sp>
      <p:sp>
        <p:nvSpPr>
          <p:cNvPr id="19" name="Text 16"/>
          <p:cNvSpPr/>
          <p:nvPr/>
        </p:nvSpPr>
        <p:spPr>
          <a:xfrm>
            <a:off x="896112" y="385673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Trade-off: some accuracy loss, usually small at 8-bit / 4-bit</a:t>
            </a:r>
            <a:endParaRPr lang="en-US" sz="1600" dirty="0"/>
          </a:p>
        </p:txBody>
      </p:sp>
      <p:sp>
        <p:nvSpPr>
          <p:cNvPr id="20" name="Text 17"/>
          <p:cNvSpPr/>
          <p:nvPr/>
        </p:nvSpPr>
        <p:spPr>
          <a:xfrm>
            <a:off x="566928" y="4376928"/>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This is what lets an 8B model run on your laptop at all.</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11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CONCEPT</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Distillation</a:t>
            </a:r>
            <a:endParaRPr lang="en-US" sz="3800" dirty="0"/>
          </a:p>
        </p:txBody>
      </p:sp>
      <p:sp>
        <p:nvSpPr>
          <p:cNvPr id="13" name="Text 10"/>
          <p:cNvSpPr/>
          <p:nvPr/>
        </p:nvSpPr>
        <p:spPr>
          <a:xfrm>
            <a:off x="566928" y="2194560"/>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Train a smaller </a:t>
            </a:r>
            <a:pPr indent="0" marL="0">
              <a:lnSpc>
                <a:spcPct val="115000"/>
              </a:lnSpc>
              <a:buNone/>
            </a:pPr>
            <a:r>
              <a:rPr lang="en-US" sz="1900" b="1" i="1" dirty="0">
                <a:solidFill>
                  <a:srgbClr val="FFFFFF"/>
                </a:solidFill>
                <a:latin typeface="Cambria" pitchFamily="34" charset="0"/>
                <a:ea typeface="Cambria" pitchFamily="34" charset="-122"/>
                <a:cs typeface="Cambria" pitchFamily="34" charset="-120"/>
              </a:rPr>
              <a:t>student</a:t>
            </a:r>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 model to mimic a larger </a:t>
            </a:r>
            <a:pPr indent="0" marL="0">
              <a:lnSpc>
                <a:spcPct val="115000"/>
              </a:lnSpc>
              <a:buNone/>
            </a:pPr>
            <a:r>
              <a:rPr lang="en-US" sz="1900" b="1" i="1" dirty="0">
                <a:solidFill>
                  <a:srgbClr val="FFFFFF"/>
                </a:solidFill>
                <a:latin typeface="Cambria" pitchFamily="34" charset="0"/>
                <a:ea typeface="Cambria" pitchFamily="34" charset="-122"/>
                <a:cs typeface="Cambria" pitchFamily="34" charset="-120"/>
              </a:rPr>
              <a:t>teacher</a:t>
            </a:r>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 — learning from the teacher's outputs rather than from scratch.</a:t>
            </a:r>
            <a:endParaRPr lang="en-US" sz="1900" dirty="0"/>
          </a:p>
        </p:txBody>
      </p:sp>
      <p:sp>
        <p:nvSpPr>
          <p:cNvPr id="14" name="Shape 11"/>
          <p:cNvSpPr/>
          <p:nvPr/>
        </p:nvSpPr>
        <p:spPr>
          <a:xfrm>
            <a:off x="585216" y="3136392"/>
            <a:ext cx="109728" cy="109728"/>
          </a:xfrm>
          <a:prstGeom prst="rect">
            <a:avLst/>
          </a:prstGeom>
          <a:solidFill>
            <a:srgbClr val="E8A020"/>
          </a:solidFill>
          <a:ln/>
        </p:spPr>
      </p:sp>
      <p:sp>
        <p:nvSpPr>
          <p:cNvPr id="15" name="Text 12"/>
          <p:cNvSpPr/>
          <p:nvPr/>
        </p:nvSpPr>
        <p:spPr>
          <a:xfrm>
            <a:off x="896112" y="3035808"/>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Result: a smaller, faster model that keeps much of the teacher's capability</a:t>
            </a:r>
            <a:endParaRPr lang="en-US" sz="1600" dirty="0"/>
          </a:p>
        </p:txBody>
      </p:sp>
      <p:sp>
        <p:nvSpPr>
          <p:cNvPr id="16" name="Shape 13"/>
          <p:cNvSpPr/>
          <p:nvPr/>
        </p:nvSpPr>
        <p:spPr>
          <a:xfrm>
            <a:off x="585216" y="3546856"/>
            <a:ext cx="109728" cy="109728"/>
          </a:xfrm>
          <a:prstGeom prst="rect">
            <a:avLst/>
          </a:prstGeom>
          <a:solidFill>
            <a:srgbClr val="E8A020"/>
          </a:solidFill>
          <a:ln/>
        </p:spPr>
      </p:sp>
      <p:sp>
        <p:nvSpPr>
          <p:cNvPr id="17" name="Text 14"/>
          <p:cNvSpPr/>
          <p:nvPr/>
        </p:nvSpPr>
        <p:spPr>
          <a:xfrm>
            <a:off x="896112" y="344627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Why "distilled" variants exist on the Hub</a:t>
            </a:r>
            <a:endParaRPr lang="en-US" sz="1600" dirty="0"/>
          </a:p>
        </p:txBody>
      </p:sp>
      <p:sp>
        <p:nvSpPr>
          <p:cNvPr id="18" name="Text 15"/>
          <p:cNvSpPr/>
          <p:nvPr/>
        </p:nvSpPr>
        <p:spPr>
          <a:xfrm>
            <a:off x="566928" y="3966464"/>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Distillation shrinks the model itself; quantization shrinks the numbers. Different knobs.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12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CONCEPT</a:t>
            </a:r>
            <a:endParaRPr lang="en-US" sz="1050" dirty="0"/>
          </a:p>
        </p:txBody>
      </p:sp>
      <p:sp>
        <p:nvSpPr>
          <p:cNvPr id="12" name="Text 9"/>
          <p:cNvSpPr/>
          <p:nvPr/>
        </p:nvSpPr>
        <p:spPr>
          <a:xfrm>
            <a:off x="566928" y="1371600"/>
            <a:ext cx="11055096" cy="1225296"/>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PEFT — parameter-efficient fine-tuning</a:t>
            </a:r>
            <a:endParaRPr lang="en-US" sz="3800" dirty="0"/>
          </a:p>
        </p:txBody>
      </p:sp>
      <p:sp>
        <p:nvSpPr>
          <p:cNvPr id="13" name="Text 10"/>
          <p:cNvSpPr/>
          <p:nvPr/>
        </p:nvSpPr>
        <p:spPr>
          <a:xfrm>
            <a:off x="566928" y="2761488"/>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Freeze the base model; train only a small set of new </a:t>
            </a:r>
            <a:pPr indent="0" marL="0">
              <a:lnSpc>
                <a:spcPct val="115000"/>
              </a:lnSpc>
              <a:buNone/>
            </a:pPr>
            <a:r>
              <a:rPr lang="en-US" sz="1900" b="1" i="1" dirty="0">
                <a:solidFill>
                  <a:srgbClr val="FFFFFF"/>
                </a:solidFill>
                <a:latin typeface="Cambria" pitchFamily="34" charset="0"/>
                <a:ea typeface="Cambria" pitchFamily="34" charset="-122"/>
                <a:cs typeface="Cambria" pitchFamily="34" charset="-120"/>
              </a:rPr>
              <a:t>adapter</a:t>
            </a:r>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 parameters (e.g., LoRA).</a:t>
            </a:r>
            <a:endParaRPr lang="en-US" sz="1900" dirty="0"/>
          </a:p>
        </p:txBody>
      </p:sp>
      <p:sp>
        <p:nvSpPr>
          <p:cNvPr id="14" name="Shape 11"/>
          <p:cNvSpPr/>
          <p:nvPr/>
        </p:nvSpPr>
        <p:spPr>
          <a:xfrm>
            <a:off x="585216" y="3703320"/>
            <a:ext cx="109728" cy="109728"/>
          </a:xfrm>
          <a:prstGeom prst="rect">
            <a:avLst/>
          </a:prstGeom>
          <a:solidFill>
            <a:srgbClr val="E8A020"/>
          </a:solidFill>
          <a:ln/>
        </p:spPr>
      </p:sp>
      <p:sp>
        <p:nvSpPr>
          <p:cNvPr id="15" name="Text 12"/>
          <p:cNvSpPr/>
          <p:nvPr/>
        </p:nvSpPr>
        <p:spPr>
          <a:xfrm>
            <a:off x="896112" y="360273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Fine-tune on modest hardware</a:t>
            </a:r>
            <a:endParaRPr lang="en-US" sz="1600" dirty="0"/>
          </a:p>
        </p:txBody>
      </p:sp>
      <p:sp>
        <p:nvSpPr>
          <p:cNvPr id="16" name="Shape 13"/>
          <p:cNvSpPr/>
          <p:nvPr/>
        </p:nvSpPr>
        <p:spPr>
          <a:xfrm>
            <a:off x="585216" y="4113784"/>
            <a:ext cx="109728" cy="109728"/>
          </a:xfrm>
          <a:prstGeom prst="rect">
            <a:avLst/>
          </a:prstGeom>
          <a:solidFill>
            <a:srgbClr val="E8A020"/>
          </a:solidFill>
          <a:ln/>
        </p:spPr>
      </p:sp>
      <p:sp>
        <p:nvSpPr>
          <p:cNvPr id="17" name="Text 14"/>
          <p:cNvSpPr/>
          <p:nvPr/>
        </p:nvSpPr>
        <p:spPr>
          <a:xfrm>
            <a:off x="896112" y="4013200"/>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Ship tiny adapter files, not a whole new model</a:t>
            </a:r>
            <a:endParaRPr lang="en-US" sz="1600" dirty="0"/>
          </a:p>
        </p:txBody>
      </p:sp>
      <p:sp>
        <p:nvSpPr>
          <p:cNvPr id="18" name="Shape 15"/>
          <p:cNvSpPr/>
          <p:nvPr/>
        </p:nvSpPr>
        <p:spPr>
          <a:xfrm>
            <a:off x="585216" y="4524248"/>
            <a:ext cx="109728" cy="109728"/>
          </a:xfrm>
          <a:prstGeom prst="rect">
            <a:avLst/>
          </a:prstGeom>
          <a:solidFill>
            <a:srgbClr val="E8A020"/>
          </a:solidFill>
          <a:ln/>
        </p:spPr>
      </p:sp>
      <p:sp>
        <p:nvSpPr>
          <p:cNvPr id="19" name="Text 16"/>
          <p:cNvSpPr/>
          <p:nvPr/>
        </p:nvSpPr>
        <p:spPr>
          <a:xfrm>
            <a:off x="896112" y="4423664"/>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Swap tasks without duplicating the base</a:t>
            </a:r>
            <a:endParaRPr lang="en-US" sz="1600" dirty="0"/>
          </a:p>
        </p:txBody>
      </p:sp>
      <p:sp>
        <p:nvSpPr>
          <p:cNvPr id="20" name="Text 17"/>
          <p:cNvSpPr/>
          <p:nvPr/>
        </p:nvSpPr>
        <p:spPr>
          <a:xfrm>
            <a:off x="566928" y="4943856"/>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The practical path for most student &amp; research fine-tuning.</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13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LIVE DEMO</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LM Studio — an LLM on your laptop</a:t>
            </a:r>
            <a:endParaRPr lang="en-US" sz="3800" dirty="0"/>
          </a:p>
        </p:txBody>
      </p:sp>
      <p:sp>
        <p:nvSpPr>
          <p:cNvPr id="13" name="Text 10"/>
          <p:cNvSpPr/>
          <p:nvPr/>
        </p:nvSpPr>
        <p:spPr>
          <a:xfrm>
            <a:off x="566928" y="2194560"/>
            <a:ext cx="11055096" cy="402336"/>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Run open-source LLMs on your machine — no internet, no API.</a:t>
            </a:r>
            <a:endParaRPr lang="en-US" sz="1900" dirty="0"/>
          </a:p>
        </p:txBody>
      </p:sp>
      <p:sp>
        <p:nvSpPr>
          <p:cNvPr id="14" name="Shape 11"/>
          <p:cNvSpPr/>
          <p:nvPr/>
        </p:nvSpPr>
        <p:spPr>
          <a:xfrm>
            <a:off x="585216" y="2825496"/>
            <a:ext cx="109728" cy="109728"/>
          </a:xfrm>
          <a:prstGeom prst="rect">
            <a:avLst/>
          </a:prstGeom>
          <a:solidFill>
            <a:srgbClr val="E8A020"/>
          </a:solidFill>
          <a:ln/>
        </p:spPr>
      </p:sp>
      <p:sp>
        <p:nvSpPr>
          <p:cNvPr id="15" name="Text 12"/>
          <p:cNvSpPr/>
          <p:nvPr/>
        </p:nvSpPr>
        <p:spPr>
          <a:xfrm>
            <a:off x="896112" y="272491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Download a small instruct model — notice the quant options (Q4 vs Q8)</a:t>
            </a:r>
            <a:endParaRPr lang="en-US" sz="1600" dirty="0"/>
          </a:p>
        </p:txBody>
      </p:sp>
      <p:sp>
        <p:nvSpPr>
          <p:cNvPr id="16" name="Shape 13"/>
          <p:cNvSpPr/>
          <p:nvPr/>
        </p:nvSpPr>
        <p:spPr>
          <a:xfrm>
            <a:off x="585216" y="3235960"/>
            <a:ext cx="109728" cy="109728"/>
          </a:xfrm>
          <a:prstGeom prst="rect">
            <a:avLst/>
          </a:prstGeom>
          <a:solidFill>
            <a:srgbClr val="E8A020"/>
          </a:solidFill>
          <a:ln/>
        </p:spPr>
      </p:sp>
      <p:sp>
        <p:nvSpPr>
          <p:cNvPr id="17" name="Text 14"/>
          <p:cNvSpPr/>
          <p:nvPr/>
        </p:nvSpPr>
        <p:spPr>
          <a:xfrm>
            <a:off x="896112" y="313537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Load it, and chat with a real LLM running locally</a:t>
            </a:r>
            <a:endParaRPr lang="en-US" sz="1600" dirty="0"/>
          </a:p>
        </p:txBody>
      </p:sp>
      <p:sp>
        <p:nvSpPr>
          <p:cNvPr id="18" name="Shape 15"/>
          <p:cNvSpPr/>
          <p:nvPr/>
        </p:nvSpPr>
        <p:spPr>
          <a:xfrm>
            <a:off x="585216" y="3646424"/>
            <a:ext cx="109728" cy="109728"/>
          </a:xfrm>
          <a:prstGeom prst="rect">
            <a:avLst/>
          </a:prstGeom>
          <a:solidFill>
            <a:srgbClr val="E8A020"/>
          </a:solidFill>
          <a:ln/>
        </p:spPr>
      </p:sp>
      <p:sp>
        <p:nvSpPr>
          <p:cNvPr id="19" name="Text 16"/>
          <p:cNvSpPr/>
          <p:nvPr/>
        </p:nvSpPr>
        <p:spPr>
          <a:xfrm>
            <a:off x="896112" y="3545840"/>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Great for secure, offline, or Level-2/3 work</a:t>
            </a:r>
            <a:endParaRPr lang="en-US" sz="1600" dirty="0"/>
          </a:p>
        </p:txBody>
      </p:sp>
      <p:sp>
        <p:nvSpPr>
          <p:cNvPr id="20" name="Text 17"/>
          <p:cNvSpPr/>
          <p:nvPr/>
        </p:nvSpPr>
        <p:spPr>
          <a:xfrm>
            <a:off x="566928" y="4066032"/>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Requirements: macOS Apple Silicon + macOS 14 (no Intel Macs) · Windows AVX2 CPU, 16 GB+ RAM · lmstudio.ai</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14 — 48</a:t>
            </a:r>
            <a:endParaRPr lang="en-US" sz="800" dirty="0"/>
          </a:p>
        </p:txBody>
      </p:sp>
      <p:sp>
        <p:nvSpPr>
          <p:cNvPr id="10" name="Text 7"/>
          <p:cNvSpPr/>
          <p:nvPr/>
        </p:nvSpPr>
        <p:spPr>
          <a:xfrm>
            <a:off x="566928" y="2331720"/>
            <a:ext cx="11055096" cy="640080"/>
          </a:xfrm>
          <a:prstGeom prst="rect">
            <a:avLst/>
          </a:prstGeom>
          <a:noFill/>
          <a:ln/>
        </p:spPr>
        <p:txBody>
          <a:bodyPr wrap="square" lIns="0" tIns="0" rIns="0" bIns="0" rtlCol="0" anchor="ctr"/>
          <a:lstStyle/>
          <a:p>
            <a:pPr indent="0" marL="0">
              <a:buNone/>
            </a:pPr>
            <a:r>
              <a:rPr lang="en-US" sz="2200" spc="300" kern="0" dirty="0">
                <a:solidFill>
                  <a:srgbClr val="E8A020"/>
                </a:solidFill>
                <a:latin typeface="Courier New" pitchFamily="34" charset="0"/>
                <a:ea typeface="Courier New" pitchFamily="34" charset="-122"/>
                <a:cs typeface="Courier New" pitchFamily="34" charset="-120"/>
              </a:rPr>
              <a:t>02</a:t>
            </a:r>
            <a:endParaRPr lang="en-US" sz="2200" dirty="0"/>
          </a:p>
        </p:txBody>
      </p:sp>
      <p:sp>
        <p:nvSpPr>
          <p:cNvPr id="11" name="Text 8"/>
          <p:cNvSpPr/>
          <p:nvPr/>
        </p:nvSpPr>
        <p:spPr>
          <a:xfrm>
            <a:off x="566928" y="2880360"/>
            <a:ext cx="11055096" cy="1280160"/>
          </a:xfrm>
          <a:prstGeom prst="rect">
            <a:avLst/>
          </a:prstGeom>
          <a:noFill/>
          <a:ln/>
        </p:spPr>
        <p:txBody>
          <a:bodyPr wrap="square" lIns="0" tIns="0" rIns="0" bIns="0" rtlCol="0" anchor="t"/>
          <a:lstStyle/>
          <a:p>
            <a:pPr indent="0" marL="0">
              <a:lnSpc>
                <a:spcPct val="98000"/>
              </a:lnSpc>
              <a:buNone/>
            </a:pPr>
            <a:r>
              <a:rPr lang="en-US" sz="5400" b="1" dirty="0">
                <a:solidFill>
                  <a:srgbClr val="EDE9E3"/>
                </a:solidFill>
                <a:latin typeface="Arial" pitchFamily="34" charset="0"/>
                <a:ea typeface="Arial" pitchFamily="34" charset="-122"/>
                <a:cs typeface="Arial" pitchFamily="34" charset="-120"/>
              </a:rPr>
              <a:t>Working as a Team</a:t>
            </a:r>
            <a:endParaRPr lang="en-US" sz="5400" dirty="0"/>
          </a:p>
        </p:txBody>
      </p:sp>
      <p:sp>
        <p:nvSpPr>
          <p:cNvPr id="12" name="Text 9"/>
          <p:cNvSpPr/>
          <p:nvPr/>
        </p:nvSpPr>
        <p:spPr>
          <a:xfrm>
            <a:off x="566928" y="4114800"/>
            <a:ext cx="10140696" cy="914400"/>
          </a:xfrm>
          <a:prstGeom prst="rect">
            <a:avLst/>
          </a:prstGeom>
          <a:noFill/>
          <a:ln/>
        </p:spPr>
        <p:txBody>
          <a:bodyPr wrap="square" lIns="0" tIns="0" rIns="0" bIns="0" rtlCol="0" anchor="t"/>
          <a:lstStyle/>
          <a:p>
            <a:pPr indent="0" marL="0">
              <a:lnSpc>
                <a:spcPct val="110000"/>
              </a:lnSpc>
              <a:buNone/>
            </a:pPr>
            <a:r>
              <a:rPr lang="en-US" sz="2200" i="1" dirty="0">
                <a:solidFill>
                  <a:srgbClr val="8C8880"/>
                </a:solidFill>
                <a:latin typeface="Cambria" pitchFamily="34" charset="0"/>
                <a:ea typeface="Cambria" pitchFamily="34" charset="-122"/>
                <a:cs typeface="Cambria" pitchFamily="34" charset="-120"/>
              </a:rPr>
              <a:t>Why collaboration is hard — and the git basics underneath it.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15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THE PROBLEM</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Why is teamwork so difficult?</a:t>
            </a:r>
            <a:endParaRPr lang="en-US" sz="3800" dirty="0"/>
          </a:p>
        </p:txBody>
      </p:sp>
      <p:sp>
        <p:nvSpPr>
          <p:cNvPr id="13" name="Text 10"/>
          <p:cNvSpPr/>
          <p:nvPr/>
        </p:nvSpPr>
        <p:spPr>
          <a:xfrm>
            <a:off x="566928" y="2286000"/>
            <a:ext cx="11055096" cy="566928"/>
          </a:xfrm>
          <a:prstGeom prst="rect">
            <a:avLst/>
          </a:prstGeom>
          <a:noFill/>
          <a:ln/>
        </p:spPr>
        <p:txBody>
          <a:bodyPr wrap="square" lIns="0" tIns="0" rIns="0" bIns="0" rtlCol="0" anchor="ctr"/>
          <a:lstStyle/>
          <a:p>
            <a:pPr indent="0" marL="0">
              <a:buNone/>
            </a:pPr>
            <a:r>
              <a:rPr lang="en-US" sz="2000" dirty="0">
                <a:solidFill>
                  <a:srgbClr val="EDE9E3"/>
                </a:solidFill>
                <a:latin typeface="Arial" pitchFamily="34" charset="0"/>
                <a:ea typeface="Arial" pitchFamily="34" charset="-122"/>
                <a:cs typeface="Arial" pitchFamily="34" charset="-120"/>
              </a:rPr>
              <a:t>How do you communicate </a:t>
            </a:r>
            <a:pPr indent="0" marL="0">
              <a:buNone/>
            </a:pPr>
            <a:r>
              <a:rPr lang="en-US" sz="2000" dirty="0">
                <a:solidFill>
                  <a:srgbClr val="E8A020"/>
                </a:solidFill>
                <a:latin typeface="Arial" pitchFamily="34" charset="0"/>
                <a:ea typeface="Arial" pitchFamily="34" charset="-122"/>
                <a:cs typeface="Arial" pitchFamily="34" charset="-120"/>
              </a:rPr>
              <a:t>what needs doing</a:t>
            </a:r>
            <a:pPr indent="0" marL="0">
              <a:buNone/>
            </a:pPr>
            <a:r>
              <a:rPr lang="en-US" sz="2000" dirty="0">
                <a:solidFill>
                  <a:srgbClr val="EDE9E3"/>
                </a:solidFill>
                <a:latin typeface="Arial" pitchFamily="34" charset="0"/>
                <a:ea typeface="Arial" pitchFamily="34" charset="-122"/>
                <a:cs typeface="Arial" pitchFamily="34" charset="-120"/>
              </a:rPr>
              <a:t>?</a:t>
            </a:r>
            <a:endParaRPr lang="en-US" sz="2000" dirty="0"/>
          </a:p>
        </p:txBody>
      </p:sp>
      <p:sp>
        <p:nvSpPr>
          <p:cNvPr id="14" name="Text 11"/>
          <p:cNvSpPr/>
          <p:nvPr/>
        </p:nvSpPr>
        <p:spPr>
          <a:xfrm>
            <a:off x="566928" y="2980944"/>
            <a:ext cx="11055096" cy="566928"/>
          </a:xfrm>
          <a:prstGeom prst="rect">
            <a:avLst/>
          </a:prstGeom>
          <a:noFill/>
          <a:ln/>
        </p:spPr>
        <p:txBody>
          <a:bodyPr wrap="square" lIns="0" tIns="0" rIns="0" bIns="0" rtlCol="0" anchor="ctr"/>
          <a:lstStyle/>
          <a:p>
            <a:pPr indent="0" marL="0">
              <a:buNone/>
            </a:pPr>
            <a:r>
              <a:rPr lang="en-US" sz="2000" dirty="0">
                <a:solidFill>
                  <a:srgbClr val="EDE9E3"/>
                </a:solidFill>
                <a:latin typeface="Arial" pitchFamily="34" charset="0"/>
                <a:ea typeface="Arial" pitchFamily="34" charset="-122"/>
                <a:cs typeface="Arial" pitchFamily="34" charset="-120"/>
              </a:rPr>
              <a:t>How do you work </a:t>
            </a:r>
            <a:pPr indent="0" marL="0">
              <a:buNone/>
            </a:pPr>
            <a:r>
              <a:rPr lang="en-US" sz="2000" dirty="0">
                <a:solidFill>
                  <a:srgbClr val="E8A020"/>
                </a:solidFill>
                <a:latin typeface="Arial" pitchFamily="34" charset="0"/>
                <a:ea typeface="Arial" pitchFamily="34" charset="-122"/>
                <a:cs typeface="Arial" pitchFamily="34" charset="-120"/>
              </a:rPr>
              <a:t>without stepping on each other</a:t>
            </a:r>
            <a:pPr indent="0" marL="0">
              <a:buNone/>
            </a:pPr>
            <a:r>
              <a:rPr lang="en-US" sz="2000" dirty="0">
                <a:solidFill>
                  <a:srgbClr val="EDE9E3"/>
                </a:solidFill>
                <a:latin typeface="Arial" pitchFamily="34" charset="0"/>
                <a:ea typeface="Arial" pitchFamily="34" charset="-122"/>
                <a:cs typeface="Arial" pitchFamily="34" charset="-120"/>
              </a:rPr>
              <a:t>?</a:t>
            </a:r>
            <a:endParaRPr lang="en-US" sz="2000" dirty="0"/>
          </a:p>
        </p:txBody>
      </p:sp>
      <p:sp>
        <p:nvSpPr>
          <p:cNvPr id="15" name="Text 12"/>
          <p:cNvSpPr/>
          <p:nvPr/>
        </p:nvSpPr>
        <p:spPr>
          <a:xfrm>
            <a:off x="566928" y="3675888"/>
            <a:ext cx="11055096" cy="566928"/>
          </a:xfrm>
          <a:prstGeom prst="rect">
            <a:avLst/>
          </a:prstGeom>
          <a:noFill/>
          <a:ln/>
        </p:spPr>
        <p:txBody>
          <a:bodyPr wrap="square" lIns="0" tIns="0" rIns="0" bIns="0" rtlCol="0" anchor="ctr"/>
          <a:lstStyle/>
          <a:p>
            <a:pPr indent="0" marL="0">
              <a:buNone/>
            </a:pPr>
            <a:r>
              <a:rPr lang="en-US" sz="2000" dirty="0">
                <a:solidFill>
                  <a:srgbClr val="EDE9E3"/>
                </a:solidFill>
                <a:latin typeface="Arial" pitchFamily="34" charset="0"/>
                <a:ea typeface="Arial" pitchFamily="34" charset="-122"/>
                <a:cs typeface="Arial" pitchFamily="34" charset="-120"/>
              </a:rPr>
              <a:t>How do you keep code </a:t>
            </a:r>
            <a:pPr indent="0" marL="0">
              <a:buNone/>
            </a:pPr>
            <a:r>
              <a:rPr lang="en-US" sz="2000" dirty="0">
                <a:solidFill>
                  <a:srgbClr val="E8A020"/>
                </a:solidFill>
                <a:latin typeface="Arial" pitchFamily="34" charset="0"/>
                <a:ea typeface="Arial" pitchFamily="34" charset="-122"/>
                <a:cs typeface="Arial" pitchFamily="34" charset="-120"/>
              </a:rPr>
              <a:t>good and consistent</a:t>
            </a:r>
            <a:pPr indent="0" marL="0">
              <a:buNone/>
            </a:pPr>
            <a:r>
              <a:rPr lang="en-US" sz="2000" dirty="0">
                <a:solidFill>
                  <a:srgbClr val="EDE9E3"/>
                </a:solidFill>
                <a:latin typeface="Arial" pitchFamily="34" charset="0"/>
                <a:ea typeface="Arial" pitchFamily="34" charset="-122"/>
                <a:cs typeface="Arial" pitchFamily="34" charset="-120"/>
              </a:rPr>
              <a: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16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THE PROBLEM</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Why is teamwork so difficult?</a:t>
            </a:r>
            <a:endParaRPr lang="en-US" sz="3800" dirty="0"/>
          </a:p>
        </p:txBody>
      </p:sp>
      <p:sp>
        <p:nvSpPr>
          <p:cNvPr id="13" name="Text 10"/>
          <p:cNvSpPr/>
          <p:nvPr/>
        </p:nvSpPr>
        <p:spPr>
          <a:xfrm>
            <a:off x="566928" y="2286000"/>
            <a:ext cx="11055096" cy="566928"/>
          </a:xfrm>
          <a:prstGeom prst="rect">
            <a:avLst/>
          </a:prstGeom>
          <a:noFill/>
          <a:ln/>
        </p:spPr>
        <p:txBody>
          <a:bodyPr wrap="square" lIns="0" tIns="0" rIns="0" bIns="0" rtlCol="0" anchor="ctr"/>
          <a:lstStyle/>
          <a:p>
            <a:pPr indent="0" marL="0">
              <a:buNone/>
            </a:pPr>
            <a:r>
              <a:rPr lang="en-US" sz="2000" dirty="0">
                <a:solidFill>
                  <a:srgbClr val="EDE9E3"/>
                </a:solidFill>
                <a:latin typeface="Arial" pitchFamily="34" charset="0"/>
                <a:ea typeface="Arial" pitchFamily="34" charset="-122"/>
                <a:cs typeface="Arial" pitchFamily="34" charset="-120"/>
              </a:rPr>
              <a:t>How do you communicate </a:t>
            </a:r>
            <a:pPr indent="0" marL="0">
              <a:buNone/>
            </a:pPr>
            <a:r>
              <a:rPr lang="en-US" sz="2000" dirty="0">
                <a:solidFill>
                  <a:srgbClr val="E8A020"/>
                </a:solidFill>
                <a:latin typeface="Arial" pitchFamily="34" charset="0"/>
                <a:ea typeface="Arial" pitchFamily="34" charset="-122"/>
                <a:cs typeface="Arial" pitchFamily="34" charset="-120"/>
              </a:rPr>
              <a:t>what needs doing</a:t>
            </a:r>
            <a:pPr indent="0" marL="0">
              <a:buNone/>
            </a:pPr>
            <a:r>
              <a:rPr lang="en-US" sz="2000" dirty="0">
                <a:solidFill>
                  <a:srgbClr val="EDE9E3"/>
                </a:solidFill>
                <a:latin typeface="Arial" pitchFamily="34" charset="0"/>
                <a:ea typeface="Arial" pitchFamily="34" charset="-122"/>
                <a:cs typeface="Arial" pitchFamily="34" charset="-120"/>
              </a:rPr>
              <a:t>?</a:t>
            </a:r>
            <a:pPr indent="0" marL="0">
              <a:buNone/>
            </a:pPr>
            <a:r>
              <a:rPr lang="en-US" sz="1700" b="1" dirty="0">
                <a:solidFill>
                  <a:srgbClr val="E8A020"/>
                </a:solidFill>
                <a:latin typeface="Courier New" pitchFamily="34" charset="0"/>
                <a:ea typeface="Courier New" pitchFamily="34" charset="-122"/>
                <a:cs typeface="Courier New" pitchFamily="34" charset="-120"/>
              </a:rPr>
              <a:t>    →  Issues</a:t>
            </a:r>
            <a:endParaRPr lang="en-US" sz="2000" dirty="0"/>
          </a:p>
        </p:txBody>
      </p:sp>
      <p:sp>
        <p:nvSpPr>
          <p:cNvPr id="14" name="Text 11"/>
          <p:cNvSpPr/>
          <p:nvPr/>
        </p:nvSpPr>
        <p:spPr>
          <a:xfrm>
            <a:off x="566928" y="2980944"/>
            <a:ext cx="11055096" cy="566928"/>
          </a:xfrm>
          <a:prstGeom prst="rect">
            <a:avLst/>
          </a:prstGeom>
          <a:noFill/>
          <a:ln/>
        </p:spPr>
        <p:txBody>
          <a:bodyPr wrap="square" lIns="0" tIns="0" rIns="0" bIns="0" rtlCol="0" anchor="ctr"/>
          <a:lstStyle/>
          <a:p>
            <a:pPr indent="0" marL="0">
              <a:buNone/>
            </a:pPr>
            <a:r>
              <a:rPr lang="en-US" sz="2000" dirty="0">
                <a:solidFill>
                  <a:srgbClr val="EDE9E3"/>
                </a:solidFill>
                <a:latin typeface="Arial" pitchFamily="34" charset="0"/>
                <a:ea typeface="Arial" pitchFamily="34" charset="-122"/>
                <a:cs typeface="Arial" pitchFamily="34" charset="-120"/>
              </a:rPr>
              <a:t>How do you work </a:t>
            </a:r>
            <a:pPr indent="0" marL="0">
              <a:buNone/>
            </a:pPr>
            <a:r>
              <a:rPr lang="en-US" sz="2000" dirty="0">
                <a:solidFill>
                  <a:srgbClr val="E8A020"/>
                </a:solidFill>
                <a:latin typeface="Arial" pitchFamily="34" charset="0"/>
                <a:ea typeface="Arial" pitchFamily="34" charset="-122"/>
                <a:cs typeface="Arial" pitchFamily="34" charset="-120"/>
              </a:rPr>
              <a:t>without stepping on each other</a:t>
            </a:r>
            <a:pPr indent="0" marL="0">
              <a:buNone/>
            </a:pPr>
            <a:r>
              <a:rPr lang="en-US" sz="2000" dirty="0">
                <a:solidFill>
                  <a:srgbClr val="EDE9E3"/>
                </a:solidFill>
                <a:latin typeface="Arial" pitchFamily="34" charset="0"/>
                <a:ea typeface="Arial" pitchFamily="34" charset="-122"/>
                <a:cs typeface="Arial" pitchFamily="34" charset="-120"/>
              </a:rPr>
              <a:t>?</a:t>
            </a:r>
            <a:endParaRPr lang="en-US" sz="2000" dirty="0"/>
          </a:p>
        </p:txBody>
      </p:sp>
      <p:sp>
        <p:nvSpPr>
          <p:cNvPr id="15" name="Text 12"/>
          <p:cNvSpPr/>
          <p:nvPr/>
        </p:nvSpPr>
        <p:spPr>
          <a:xfrm>
            <a:off x="566928" y="3675888"/>
            <a:ext cx="11055096" cy="566928"/>
          </a:xfrm>
          <a:prstGeom prst="rect">
            <a:avLst/>
          </a:prstGeom>
          <a:noFill/>
          <a:ln/>
        </p:spPr>
        <p:txBody>
          <a:bodyPr wrap="square" lIns="0" tIns="0" rIns="0" bIns="0" rtlCol="0" anchor="ctr"/>
          <a:lstStyle/>
          <a:p>
            <a:pPr indent="0" marL="0">
              <a:buNone/>
            </a:pPr>
            <a:r>
              <a:rPr lang="en-US" sz="2000" dirty="0">
                <a:solidFill>
                  <a:srgbClr val="EDE9E3"/>
                </a:solidFill>
                <a:latin typeface="Arial" pitchFamily="34" charset="0"/>
                <a:ea typeface="Arial" pitchFamily="34" charset="-122"/>
                <a:cs typeface="Arial" pitchFamily="34" charset="-120"/>
              </a:rPr>
              <a:t>How do you keep code </a:t>
            </a:r>
            <a:pPr indent="0" marL="0">
              <a:buNone/>
            </a:pPr>
            <a:r>
              <a:rPr lang="en-US" sz="2000" dirty="0">
                <a:solidFill>
                  <a:srgbClr val="E8A020"/>
                </a:solidFill>
                <a:latin typeface="Arial" pitchFamily="34" charset="0"/>
                <a:ea typeface="Arial" pitchFamily="34" charset="-122"/>
                <a:cs typeface="Arial" pitchFamily="34" charset="-120"/>
              </a:rPr>
              <a:t>good and consistent</a:t>
            </a:r>
            <a:pPr indent="0" marL="0">
              <a:buNone/>
            </a:pPr>
            <a:r>
              <a:rPr lang="en-US" sz="2000" dirty="0">
                <a:solidFill>
                  <a:srgbClr val="EDE9E3"/>
                </a:solidFill>
                <a:latin typeface="Arial" pitchFamily="34" charset="0"/>
                <a:ea typeface="Arial" pitchFamily="34" charset="-122"/>
                <a:cs typeface="Arial" pitchFamily="34" charset="-120"/>
              </a:rPr>
              <a:t>?</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17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THE PROBLEM</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Why is teamwork so difficult?</a:t>
            </a:r>
            <a:endParaRPr lang="en-US" sz="3800" dirty="0"/>
          </a:p>
        </p:txBody>
      </p:sp>
      <p:sp>
        <p:nvSpPr>
          <p:cNvPr id="13" name="Text 10"/>
          <p:cNvSpPr/>
          <p:nvPr/>
        </p:nvSpPr>
        <p:spPr>
          <a:xfrm>
            <a:off x="566928" y="2286000"/>
            <a:ext cx="11055096" cy="566928"/>
          </a:xfrm>
          <a:prstGeom prst="rect">
            <a:avLst/>
          </a:prstGeom>
          <a:noFill/>
          <a:ln/>
        </p:spPr>
        <p:txBody>
          <a:bodyPr wrap="square" lIns="0" tIns="0" rIns="0" bIns="0" rtlCol="0" anchor="ctr"/>
          <a:lstStyle/>
          <a:p>
            <a:pPr indent="0" marL="0">
              <a:buNone/>
            </a:pPr>
            <a:r>
              <a:rPr lang="en-US" sz="2000" dirty="0">
                <a:solidFill>
                  <a:srgbClr val="EDE9E3"/>
                </a:solidFill>
                <a:latin typeface="Arial" pitchFamily="34" charset="0"/>
                <a:ea typeface="Arial" pitchFamily="34" charset="-122"/>
                <a:cs typeface="Arial" pitchFamily="34" charset="-120"/>
              </a:rPr>
              <a:t>How do you communicate </a:t>
            </a:r>
            <a:pPr indent="0" marL="0">
              <a:buNone/>
            </a:pPr>
            <a:r>
              <a:rPr lang="en-US" sz="2000" dirty="0">
                <a:solidFill>
                  <a:srgbClr val="E8A020"/>
                </a:solidFill>
                <a:latin typeface="Arial" pitchFamily="34" charset="0"/>
                <a:ea typeface="Arial" pitchFamily="34" charset="-122"/>
                <a:cs typeface="Arial" pitchFamily="34" charset="-120"/>
              </a:rPr>
              <a:t>what needs doing</a:t>
            </a:r>
            <a:pPr indent="0" marL="0">
              <a:buNone/>
            </a:pPr>
            <a:r>
              <a:rPr lang="en-US" sz="2000" dirty="0">
                <a:solidFill>
                  <a:srgbClr val="EDE9E3"/>
                </a:solidFill>
                <a:latin typeface="Arial" pitchFamily="34" charset="0"/>
                <a:ea typeface="Arial" pitchFamily="34" charset="-122"/>
                <a:cs typeface="Arial" pitchFamily="34" charset="-120"/>
              </a:rPr>
              <a:t>?</a:t>
            </a:r>
            <a:pPr indent="0" marL="0">
              <a:buNone/>
            </a:pPr>
            <a:r>
              <a:rPr lang="en-US" sz="1700" b="1" dirty="0">
                <a:solidFill>
                  <a:srgbClr val="E8A020"/>
                </a:solidFill>
                <a:latin typeface="Courier New" pitchFamily="34" charset="0"/>
                <a:ea typeface="Courier New" pitchFamily="34" charset="-122"/>
                <a:cs typeface="Courier New" pitchFamily="34" charset="-120"/>
              </a:rPr>
              <a:t>    →  Issues</a:t>
            </a:r>
            <a:endParaRPr lang="en-US" sz="2000" dirty="0"/>
          </a:p>
        </p:txBody>
      </p:sp>
      <p:sp>
        <p:nvSpPr>
          <p:cNvPr id="14" name="Text 11"/>
          <p:cNvSpPr/>
          <p:nvPr/>
        </p:nvSpPr>
        <p:spPr>
          <a:xfrm>
            <a:off x="566928" y="2980944"/>
            <a:ext cx="11055096" cy="566928"/>
          </a:xfrm>
          <a:prstGeom prst="rect">
            <a:avLst/>
          </a:prstGeom>
          <a:noFill/>
          <a:ln/>
        </p:spPr>
        <p:txBody>
          <a:bodyPr wrap="square" lIns="0" tIns="0" rIns="0" bIns="0" rtlCol="0" anchor="ctr"/>
          <a:lstStyle/>
          <a:p>
            <a:pPr indent="0" marL="0">
              <a:buNone/>
            </a:pPr>
            <a:r>
              <a:rPr lang="en-US" sz="2000" dirty="0">
                <a:solidFill>
                  <a:srgbClr val="EDE9E3"/>
                </a:solidFill>
                <a:latin typeface="Arial" pitchFamily="34" charset="0"/>
                <a:ea typeface="Arial" pitchFamily="34" charset="-122"/>
                <a:cs typeface="Arial" pitchFamily="34" charset="-120"/>
              </a:rPr>
              <a:t>How do you work </a:t>
            </a:r>
            <a:pPr indent="0" marL="0">
              <a:buNone/>
            </a:pPr>
            <a:r>
              <a:rPr lang="en-US" sz="2000" dirty="0">
                <a:solidFill>
                  <a:srgbClr val="E8A020"/>
                </a:solidFill>
                <a:latin typeface="Arial" pitchFamily="34" charset="0"/>
                <a:ea typeface="Arial" pitchFamily="34" charset="-122"/>
                <a:cs typeface="Arial" pitchFamily="34" charset="-120"/>
              </a:rPr>
              <a:t>without stepping on each other</a:t>
            </a:r>
            <a:pPr indent="0" marL="0">
              <a:buNone/>
            </a:pPr>
            <a:r>
              <a:rPr lang="en-US" sz="2000" dirty="0">
                <a:solidFill>
                  <a:srgbClr val="EDE9E3"/>
                </a:solidFill>
                <a:latin typeface="Arial" pitchFamily="34" charset="0"/>
                <a:ea typeface="Arial" pitchFamily="34" charset="-122"/>
                <a:cs typeface="Arial" pitchFamily="34" charset="-120"/>
              </a:rPr>
              <a:t>?</a:t>
            </a:r>
            <a:pPr indent="0" marL="0">
              <a:buNone/>
            </a:pPr>
            <a:r>
              <a:rPr lang="en-US" sz="1700" b="1" dirty="0">
                <a:solidFill>
                  <a:srgbClr val="E8A020"/>
                </a:solidFill>
                <a:latin typeface="Courier New" pitchFamily="34" charset="0"/>
                <a:ea typeface="Courier New" pitchFamily="34" charset="-122"/>
                <a:cs typeface="Courier New" pitchFamily="34" charset="-120"/>
              </a:rPr>
              <a:t>    →  Branches</a:t>
            </a:r>
            <a:endParaRPr lang="en-US" sz="2000" dirty="0"/>
          </a:p>
        </p:txBody>
      </p:sp>
      <p:sp>
        <p:nvSpPr>
          <p:cNvPr id="15" name="Text 12"/>
          <p:cNvSpPr/>
          <p:nvPr/>
        </p:nvSpPr>
        <p:spPr>
          <a:xfrm>
            <a:off x="566928" y="3675888"/>
            <a:ext cx="11055096" cy="566928"/>
          </a:xfrm>
          <a:prstGeom prst="rect">
            <a:avLst/>
          </a:prstGeom>
          <a:noFill/>
          <a:ln/>
        </p:spPr>
        <p:txBody>
          <a:bodyPr wrap="square" lIns="0" tIns="0" rIns="0" bIns="0" rtlCol="0" anchor="ctr"/>
          <a:lstStyle/>
          <a:p>
            <a:pPr indent="0" marL="0">
              <a:buNone/>
            </a:pPr>
            <a:r>
              <a:rPr lang="en-US" sz="2000" dirty="0">
                <a:solidFill>
                  <a:srgbClr val="EDE9E3"/>
                </a:solidFill>
                <a:latin typeface="Arial" pitchFamily="34" charset="0"/>
                <a:ea typeface="Arial" pitchFamily="34" charset="-122"/>
                <a:cs typeface="Arial" pitchFamily="34" charset="-120"/>
              </a:rPr>
              <a:t>How do you keep code </a:t>
            </a:r>
            <a:pPr indent="0" marL="0">
              <a:buNone/>
            </a:pPr>
            <a:r>
              <a:rPr lang="en-US" sz="2000" dirty="0">
                <a:solidFill>
                  <a:srgbClr val="E8A020"/>
                </a:solidFill>
                <a:latin typeface="Arial" pitchFamily="34" charset="0"/>
                <a:ea typeface="Arial" pitchFamily="34" charset="-122"/>
                <a:cs typeface="Arial" pitchFamily="34" charset="-120"/>
              </a:rPr>
              <a:t>good and consistent</a:t>
            </a:r>
            <a:pPr indent="0" marL="0">
              <a:buNone/>
            </a:pPr>
            <a:r>
              <a:rPr lang="en-US" sz="2000" dirty="0">
                <a:solidFill>
                  <a:srgbClr val="EDE9E3"/>
                </a:solidFill>
                <a:latin typeface="Arial" pitchFamily="34" charset="0"/>
                <a:ea typeface="Arial" pitchFamily="34" charset="-122"/>
                <a:cs typeface="Arial" pitchFamily="34" charset="-120"/>
              </a:rPr>
              <a:t>?</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18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THE PROBLEM</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Why is teamwork so difficult?</a:t>
            </a:r>
            <a:endParaRPr lang="en-US" sz="3800" dirty="0"/>
          </a:p>
        </p:txBody>
      </p:sp>
      <p:sp>
        <p:nvSpPr>
          <p:cNvPr id="13" name="Text 10"/>
          <p:cNvSpPr/>
          <p:nvPr/>
        </p:nvSpPr>
        <p:spPr>
          <a:xfrm>
            <a:off x="566928" y="2286000"/>
            <a:ext cx="11055096" cy="566928"/>
          </a:xfrm>
          <a:prstGeom prst="rect">
            <a:avLst/>
          </a:prstGeom>
          <a:noFill/>
          <a:ln/>
        </p:spPr>
        <p:txBody>
          <a:bodyPr wrap="square" lIns="0" tIns="0" rIns="0" bIns="0" rtlCol="0" anchor="ctr"/>
          <a:lstStyle/>
          <a:p>
            <a:pPr indent="0" marL="0">
              <a:buNone/>
            </a:pPr>
            <a:r>
              <a:rPr lang="en-US" sz="2000" dirty="0">
                <a:solidFill>
                  <a:srgbClr val="EDE9E3"/>
                </a:solidFill>
                <a:latin typeface="Arial" pitchFamily="34" charset="0"/>
                <a:ea typeface="Arial" pitchFamily="34" charset="-122"/>
                <a:cs typeface="Arial" pitchFamily="34" charset="-120"/>
              </a:rPr>
              <a:t>How do you communicate </a:t>
            </a:r>
            <a:pPr indent="0" marL="0">
              <a:buNone/>
            </a:pPr>
            <a:r>
              <a:rPr lang="en-US" sz="2000" dirty="0">
                <a:solidFill>
                  <a:srgbClr val="E8A020"/>
                </a:solidFill>
                <a:latin typeface="Arial" pitchFamily="34" charset="0"/>
                <a:ea typeface="Arial" pitchFamily="34" charset="-122"/>
                <a:cs typeface="Arial" pitchFamily="34" charset="-120"/>
              </a:rPr>
              <a:t>what needs doing</a:t>
            </a:r>
            <a:pPr indent="0" marL="0">
              <a:buNone/>
            </a:pPr>
            <a:r>
              <a:rPr lang="en-US" sz="2000" dirty="0">
                <a:solidFill>
                  <a:srgbClr val="EDE9E3"/>
                </a:solidFill>
                <a:latin typeface="Arial" pitchFamily="34" charset="0"/>
                <a:ea typeface="Arial" pitchFamily="34" charset="-122"/>
                <a:cs typeface="Arial" pitchFamily="34" charset="-120"/>
              </a:rPr>
              <a:t>?</a:t>
            </a:r>
            <a:pPr indent="0" marL="0">
              <a:buNone/>
            </a:pPr>
            <a:r>
              <a:rPr lang="en-US" sz="1700" b="1" dirty="0">
                <a:solidFill>
                  <a:srgbClr val="E8A020"/>
                </a:solidFill>
                <a:latin typeface="Courier New" pitchFamily="34" charset="0"/>
                <a:ea typeface="Courier New" pitchFamily="34" charset="-122"/>
                <a:cs typeface="Courier New" pitchFamily="34" charset="-120"/>
              </a:rPr>
              <a:t>    →  Issues</a:t>
            </a:r>
            <a:endParaRPr lang="en-US" sz="2000" dirty="0"/>
          </a:p>
        </p:txBody>
      </p:sp>
      <p:sp>
        <p:nvSpPr>
          <p:cNvPr id="14" name="Text 11"/>
          <p:cNvSpPr/>
          <p:nvPr/>
        </p:nvSpPr>
        <p:spPr>
          <a:xfrm>
            <a:off x="566928" y="2980944"/>
            <a:ext cx="11055096" cy="566928"/>
          </a:xfrm>
          <a:prstGeom prst="rect">
            <a:avLst/>
          </a:prstGeom>
          <a:noFill/>
          <a:ln/>
        </p:spPr>
        <p:txBody>
          <a:bodyPr wrap="square" lIns="0" tIns="0" rIns="0" bIns="0" rtlCol="0" anchor="ctr"/>
          <a:lstStyle/>
          <a:p>
            <a:pPr indent="0" marL="0">
              <a:buNone/>
            </a:pPr>
            <a:r>
              <a:rPr lang="en-US" sz="2000" dirty="0">
                <a:solidFill>
                  <a:srgbClr val="EDE9E3"/>
                </a:solidFill>
                <a:latin typeface="Arial" pitchFamily="34" charset="0"/>
                <a:ea typeface="Arial" pitchFamily="34" charset="-122"/>
                <a:cs typeface="Arial" pitchFamily="34" charset="-120"/>
              </a:rPr>
              <a:t>How do you work </a:t>
            </a:r>
            <a:pPr indent="0" marL="0">
              <a:buNone/>
            </a:pPr>
            <a:r>
              <a:rPr lang="en-US" sz="2000" dirty="0">
                <a:solidFill>
                  <a:srgbClr val="E8A020"/>
                </a:solidFill>
                <a:latin typeface="Arial" pitchFamily="34" charset="0"/>
                <a:ea typeface="Arial" pitchFamily="34" charset="-122"/>
                <a:cs typeface="Arial" pitchFamily="34" charset="-120"/>
              </a:rPr>
              <a:t>without stepping on each other</a:t>
            </a:r>
            <a:pPr indent="0" marL="0">
              <a:buNone/>
            </a:pPr>
            <a:r>
              <a:rPr lang="en-US" sz="2000" dirty="0">
                <a:solidFill>
                  <a:srgbClr val="EDE9E3"/>
                </a:solidFill>
                <a:latin typeface="Arial" pitchFamily="34" charset="0"/>
                <a:ea typeface="Arial" pitchFamily="34" charset="-122"/>
                <a:cs typeface="Arial" pitchFamily="34" charset="-120"/>
              </a:rPr>
              <a:t>?</a:t>
            </a:r>
            <a:pPr indent="0" marL="0">
              <a:buNone/>
            </a:pPr>
            <a:r>
              <a:rPr lang="en-US" sz="1700" b="1" dirty="0">
                <a:solidFill>
                  <a:srgbClr val="E8A020"/>
                </a:solidFill>
                <a:latin typeface="Courier New" pitchFamily="34" charset="0"/>
                <a:ea typeface="Courier New" pitchFamily="34" charset="-122"/>
                <a:cs typeface="Courier New" pitchFamily="34" charset="-120"/>
              </a:rPr>
              <a:t>    →  Branches</a:t>
            </a:r>
            <a:endParaRPr lang="en-US" sz="2000" dirty="0"/>
          </a:p>
        </p:txBody>
      </p:sp>
      <p:sp>
        <p:nvSpPr>
          <p:cNvPr id="15" name="Text 12"/>
          <p:cNvSpPr/>
          <p:nvPr/>
        </p:nvSpPr>
        <p:spPr>
          <a:xfrm>
            <a:off x="566928" y="3675888"/>
            <a:ext cx="11055096" cy="566928"/>
          </a:xfrm>
          <a:prstGeom prst="rect">
            <a:avLst/>
          </a:prstGeom>
          <a:noFill/>
          <a:ln/>
        </p:spPr>
        <p:txBody>
          <a:bodyPr wrap="square" lIns="0" tIns="0" rIns="0" bIns="0" rtlCol="0" anchor="ctr"/>
          <a:lstStyle/>
          <a:p>
            <a:pPr indent="0" marL="0">
              <a:buNone/>
            </a:pPr>
            <a:r>
              <a:rPr lang="en-US" sz="2000" dirty="0">
                <a:solidFill>
                  <a:srgbClr val="EDE9E3"/>
                </a:solidFill>
                <a:latin typeface="Arial" pitchFamily="34" charset="0"/>
                <a:ea typeface="Arial" pitchFamily="34" charset="-122"/>
                <a:cs typeface="Arial" pitchFamily="34" charset="-120"/>
              </a:rPr>
              <a:t>How do you keep code </a:t>
            </a:r>
            <a:pPr indent="0" marL="0">
              <a:buNone/>
            </a:pPr>
            <a:r>
              <a:rPr lang="en-US" sz="2000" dirty="0">
                <a:solidFill>
                  <a:srgbClr val="E8A020"/>
                </a:solidFill>
                <a:latin typeface="Arial" pitchFamily="34" charset="0"/>
                <a:ea typeface="Arial" pitchFamily="34" charset="-122"/>
                <a:cs typeface="Arial" pitchFamily="34" charset="-120"/>
              </a:rPr>
              <a:t>good and consistent</a:t>
            </a:r>
            <a:pPr indent="0" marL="0">
              <a:buNone/>
            </a:pPr>
            <a:r>
              <a:rPr lang="en-US" sz="2000" dirty="0">
                <a:solidFill>
                  <a:srgbClr val="EDE9E3"/>
                </a:solidFill>
                <a:latin typeface="Arial" pitchFamily="34" charset="0"/>
                <a:ea typeface="Arial" pitchFamily="34" charset="-122"/>
                <a:cs typeface="Arial" pitchFamily="34" charset="-120"/>
              </a:rPr>
              <a:t>?</a:t>
            </a:r>
            <a:pPr indent="0" marL="0">
              <a:buNone/>
            </a:pPr>
            <a:r>
              <a:rPr lang="en-US" sz="1700" b="1" dirty="0">
                <a:solidFill>
                  <a:srgbClr val="E8A020"/>
                </a:solidFill>
                <a:latin typeface="Courier New" pitchFamily="34" charset="0"/>
                <a:ea typeface="Courier New" pitchFamily="34" charset="-122"/>
                <a:cs typeface="Courier New" pitchFamily="34" charset="-120"/>
              </a:rPr>
              <a:t>    →  Pull requests + review</a:t>
            </a:r>
            <a:endParaRPr lang="en-US" sz="2000" dirty="0"/>
          </a:p>
        </p:txBody>
      </p:sp>
      <p:sp>
        <p:nvSpPr>
          <p:cNvPr id="16" name="Shape 13"/>
          <p:cNvSpPr/>
          <p:nvPr/>
        </p:nvSpPr>
        <p:spPr>
          <a:xfrm>
            <a:off x="566928" y="4507992"/>
            <a:ext cx="11055096" cy="841248"/>
          </a:xfrm>
          <a:prstGeom prst="rect">
            <a:avLst/>
          </a:prstGeom>
          <a:solidFill>
            <a:srgbClr val="241D10"/>
          </a:solidFill>
          <a:ln w="12700">
            <a:solidFill>
              <a:srgbClr val="E8A020"/>
            </a:solidFill>
            <a:prstDash val="solid"/>
          </a:ln>
        </p:spPr>
      </p:sp>
      <p:sp>
        <p:nvSpPr>
          <p:cNvPr id="17" name="Shape 14"/>
          <p:cNvSpPr/>
          <p:nvPr/>
        </p:nvSpPr>
        <p:spPr>
          <a:xfrm>
            <a:off x="566928" y="4507992"/>
            <a:ext cx="54864" cy="841248"/>
          </a:xfrm>
          <a:prstGeom prst="rect">
            <a:avLst/>
          </a:prstGeom>
          <a:solidFill>
            <a:srgbClr val="E8A020"/>
          </a:solidFill>
          <a:ln/>
        </p:spPr>
      </p:sp>
      <p:sp>
        <p:nvSpPr>
          <p:cNvPr id="18" name="Text 15"/>
          <p:cNvSpPr/>
          <p:nvPr/>
        </p:nvSpPr>
        <p:spPr>
          <a:xfrm>
            <a:off x="822960" y="4617720"/>
            <a:ext cx="10597896" cy="237744"/>
          </a:xfrm>
          <a:prstGeom prst="rect">
            <a:avLst/>
          </a:prstGeom>
          <a:noFill/>
          <a:ln/>
        </p:spPr>
        <p:txBody>
          <a:bodyPr wrap="square" lIns="0" tIns="0" rIns="0" bIns="0" rtlCol="0" anchor="ctr"/>
          <a:lstStyle/>
          <a:p>
            <a:pPr indent="0" marL="0">
              <a:buNone/>
            </a:pPr>
            <a:r>
              <a:rPr lang="en-US" sz="950" spc="200" kern="0" dirty="0">
                <a:solidFill>
                  <a:srgbClr val="E8A020"/>
                </a:solidFill>
                <a:latin typeface="Courier New" pitchFamily="34" charset="0"/>
                <a:ea typeface="Courier New" pitchFamily="34" charset="-122"/>
                <a:cs typeface="Courier New" pitchFamily="34" charset="-120"/>
              </a:rPr>
              <a:t>THE MAPPING</a:t>
            </a:r>
            <a:endParaRPr lang="en-US" sz="950" dirty="0"/>
          </a:p>
        </p:txBody>
      </p:sp>
      <p:sp>
        <p:nvSpPr>
          <p:cNvPr id="19" name="Text 16"/>
          <p:cNvSpPr/>
          <p:nvPr/>
        </p:nvSpPr>
        <p:spPr>
          <a:xfrm>
            <a:off x="822960" y="4892040"/>
            <a:ext cx="10552176" cy="384048"/>
          </a:xfrm>
          <a:prstGeom prst="rect">
            <a:avLst/>
          </a:prstGeom>
          <a:noFill/>
          <a:ln/>
        </p:spPr>
        <p:txBody>
          <a:bodyPr wrap="square" lIns="0" tIns="0" rIns="0" bIns="0" rtlCol="0" anchor="t"/>
          <a:lstStyle/>
          <a:p>
            <a:pPr indent="0" marL="0">
              <a:lnSpc>
                <a:spcPct val="112000"/>
              </a:lnSpc>
              <a:buNone/>
            </a:pPr>
            <a:r>
              <a:rPr lang="en-US" sz="1550" dirty="0">
                <a:solidFill>
                  <a:srgbClr val="EDE9E3"/>
                </a:solidFill>
                <a:latin typeface="Arial" pitchFamily="34" charset="0"/>
                <a:ea typeface="Arial" pitchFamily="34" charset="-122"/>
                <a:cs typeface="Arial" pitchFamily="34" charset="-120"/>
              </a:rPr>
              <a:t>Three pains → three tools. That mapping </a:t>
            </a:r>
            <a:pPr indent="0" marL="0">
              <a:lnSpc>
                <a:spcPct val="112000"/>
              </a:lnSpc>
              <a:buNone/>
            </a:pPr>
            <a:r>
              <a:rPr lang="en-US" sz="1550" b="1" dirty="0">
                <a:solidFill>
                  <a:srgbClr val="FFFFFF"/>
                </a:solidFill>
                <a:latin typeface="Arial" pitchFamily="34" charset="0"/>
                <a:ea typeface="Arial" pitchFamily="34" charset="-122"/>
                <a:cs typeface="Arial" pitchFamily="34" charset="-120"/>
              </a:rPr>
              <a:t>is</a:t>
            </a:r>
            <a:pPr indent="0" marL="0">
              <a:lnSpc>
                <a:spcPct val="112000"/>
              </a:lnSpc>
              <a:buNone/>
            </a:pPr>
            <a:r>
              <a:rPr lang="en-US" sz="1550" dirty="0">
                <a:solidFill>
                  <a:srgbClr val="EDE9E3"/>
                </a:solidFill>
                <a:latin typeface="Arial" pitchFamily="34" charset="0"/>
                <a:ea typeface="Arial" pitchFamily="34" charset="-122"/>
                <a:cs typeface="Arial" pitchFamily="34" charset="-120"/>
              </a:rPr>
              <a:t> GitHub Flow.</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19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FUNDAMENTALS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Git vs. GitHub</a:t>
            </a:r>
            <a:endParaRPr lang="en-US" sz="3800" dirty="0"/>
          </a:p>
        </p:txBody>
      </p:sp>
      <p:sp>
        <p:nvSpPr>
          <p:cNvPr id="13" name="Text 10"/>
          <p:cNvSpPr/>
          <p:nvPr/>
        </p:nvSpPr>
        <p:spPr>
          <a:xfrm>
            <a:off x="566928" y="2194560"/>
            <a:ext cx="5298948" cy="274320"/>
          </a:xfrm>
          <a:prstGeom prst="rect">
            <a:avLst/>
          </a:prstGeom>
          <a:noFill/>
          <a:ln/>
        </p:spPr>
        <p:txBody>
          <a:bodyPr wrap="square" lIns="0" tIns="0" rIns="0" bIns="0" rtlCol="0" anchor="ctr"/>
          <a:lstStyle/>
          <a:p>
            <a:pPr indent="0" marL="0">
              <a:buNone/>
            </a:pPr>
            <a:r>
              <a:rPr lang="en-US" sz="1100" spc="100" kern="0" dirty="0">
                <a:solidFill>
                  <a:srgbClr val="E8A020"/>
                </a:solidFill>
                <a:latin typeface="Courier New" pitchFamily="34" charset="0"/>
                <a:ea typeface="Courier New" pitchFamily="34" charset="-122"/>
                <a:cs typeface="Courier New" pitchFamily="34" charset="-120"/>
              </a:rPr>
              <a:t>GIT (YOUR LAPTOP)</a:t>
            </a:r>
            <a:endParaRPr lang="en-US" sz="1100" dirty="0"/>
          </a:p>
        </p:txBody>
      </p:sp>
      <p:sp>
        <p:nvSpPr>
          <p:cNvPr id="14" name="Text 11"/>
          <p:cNvSpPr/>
          <p:nvPr/>
        </p:nvSpPr>
        <p:spPr>
          <a:xfrm>
            <a:off x="6323076" y="2194560"/>
            <a:ext cx="5298948" cy="274320"/>
          </a:xfrm>
          <a:prstGeom prst="rect">
            <a:avLst/>
          </a:prstGeom>
          <a:noFill/>
          <a:ln/>
        </p:spPr>
        <p:txBody>
          <a:bodyPr wrap="square" lIns="0" tIns="0" rIns="0" bIns="0" rtlCol="0" anchor="ctr"/>
          <a:lstStyle/>
          <a:p>
            <a:pPr indent="0" marL="0">
              <a:buNone/>
            </a:pPr>
            <a:r>
              <a:rPr lang="en-US" sz="1100" spc="100" kern="0" dirty="0">
                <a:solidFill>
                  <a:srgbClr val="E8A020"/>
                </a:solidFill>
                <a:latin typeface="Courier New" pitchFamily="34" charset="0"/>
                <a:ea typeface="Courier New" pitchFamily="34" charset="-122"/>
                <a:cs typeface="Courier New" pitchFamily="34" charset="-120"/>
              </a:rPr>
              <a:t>GITHUB (THE CLOUD)</a:t>
            </a:r>
            <a:endParaRPr lang="en-US" sz="1100" dirty="0"/>
          </a:p>
        </p:txBody>
      </p:sp>
      <p:sp>
        <p:nvSpPr>
          <p:cNvPr id="15" name="Shape 12"/>
          <p:cNvSpPr/>
          <p:nvPr/>
        </p:nvSpPr>
        <p:spPr>
          <a:xfrm>
            <a:off x="566928" y="2505456"/>
            <a:ext cx="5298948" cy="0"/>
          </a:xfrm>
          <a:prstGeom prst="line">
            <a:avLst/>
          </a:prstGeom>
          <a:noFill/>
          <a:ln w="12700">
            <a:solidFill>
              <a:srgbClr val="2A2926"/>
            </a:solidFill>
            <a:prstDash val="solid"/>
          </a:ln>
        </p:spPr>
      </p:sp>
      <p:sp>
        <p:nvSpPr>
          <p:cNvPr id="16" name="Shape 13"/>
          <p:cNvSpPr/>
          <p:nvPr/>
        </p:nvSpPr>
        <p:spPr>
          <a:xfrm>
            <a:off x="6323076" y="2505456"/>
            <a:ext cx="5298948" cy="0"/>
          </a:xfrm>
          <a:prstGeom prst="line">
            <a:avLst/>
          </a:prstGeom>
          <a:noFill/>
          <a:ln w="12700">
            <a:solidFill>
              <a:srgbClr val="2A2926"/>
            </a:solidFill>
            <a:prstDash val="solid"/>
          </a:ln>
        </p:spPr>
      </p:sp>
      <p:sp>
        <p:nvSpPr>
          <p:cNvPr id="17" name="Shape 14"/>
          <p:cNvSpPr/>
          <p:nvPr/>
        </p:nvSpPr>
        <p:spPr>
          <a:xfrm>
            <a:off x="576072" y="2724912"/>
            <a:ext cx="100584" cy="100584"/>
          </a:xfrm>
          <a:prstGeom prst="rect">
            <a:avLst/>
          </a:prstGeom>
          <a:solidFill>
            <a:srgbClr val="E8A020"/>
          </a:solidFill>
          <a:ln/>
        </p:spPr>
      </p:sp>
      <p:sp>
        <p:nvSpPr>
          <p:cNvPr id="18" name="Text 15"/>
          <p:cNvSpPr/>
          <p:nvPr/>
        </p:nvSpPr>
        <p:spPr>
          <a:xfrm>
            <a:off x="859536" y="263347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Version-control tool</a:t>
            </a:r>
            <a:endParaRPr lang="en-US" sz="1400" dirty="0"/>
          </a:p>
        </p:txBody>
      </p:sp>
      <p:sp>
        <p:nvSpPr>
          <p:cNvPr id="19" name="Shape 16"/>
          <p:cNvSpPr/>
          <p:nvPr/>
        </p:nvSpPr>
        <p:spPr>
          <a:xfrm>
            <a:off x="576072" y="3102356"/>
            <a:ext cx="100584" cy="100584"/>
          </a:xfrm>
          <a:prstGeom prst="rect">
            <a:avLst/>
          </a:prstGeom>
          <a:solidFill>
            <a:srgbClr val="E8A020"/>
          </a:solidFill>
          <a:ln/>
        </p:spPr>
      </p:sp>
      <p:sp>
        <p:nvSpPr>
          <p:cNvPr id="20" name="Text 17"/>
          <p:cNvSpPr/>
          <p:nvPr/>
        </p:nvSpPr>
        <p:spPr>
          <a:xfrm>
            <a:off x="859536" y="3010916"/>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Tracks history + branches</a:t>
            </a:r>
            <a:endParaRPr lang="en-US" sz="1400" dirty="0"/>
          </a:p>
        </p:txBody>
      </p:sp>
      <p:sp>
        <p:nvSpPr>
          <p:cNvPr id="21" name="Shape 18"/>
          <p:cNvSpPr/>
          <p:nvPr/>
        </p:nvSpPr>
        <p:spPr>
          <a:xfrm>
            <a:off x="576072" y="3479800"/>
            <a:ext cx="100584" cy="100584"/>
          </a:xfrm>
          <a:prstGeom prst="rect">
            <a:avLst/>
          </a:prstGeom>
          <a:solidFill>
            <a:srgbClr val="E8A020"/>
          </a:solidFill>
          <a:ln/>
        </p:spPr>
      </p:sp>
      <p:sp>
        <p:nvSpPr>
          <p:cNvPr id="22" name="Text 19"/>
          <p:cNvSpPr/>
          <p:nvPr/>
        </p:nvSpPr>
        <p:spPr>
          <a:xfrm>
            <a:off x="859536" y="338836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Works fully offline</a:t>
            </a:r>
            <a:endParaRPr lang="en-US" sz="1400" dirty="0"/>
          </a:p>
        </p:txBody>
      </p:sp>
      <p:sp>
        <p:nvSpPr>
          <p:cNvPr id="23" name="Shape 20"/>
          <p:cNvSpPr/>
          <p:nvPr/>
        </p:nvSpPr>
        <p:spPr>
          <a:xfrm>
            <a:off x="6332220" y="2724912"/>
            <a:ext cx="100584" cy="100584"/>
          </a:xfrm>
          <a:prstGeom prst="rect">
            <a:avLst/>
          </a:prstGeom>
          <a:solidFill>
            <a:srgbClr val="E8A020"/>
          </a:solidFill>
          <a:ln/>
        </p:spPr>
      </p:sp>
      <p:sp>
        <p:nvSpPr>
          <p:cNvPr id="24" name="Text 21"/>
          <p:cNvSpPr/>
          <p:nvPr/>
        </p:nvSpPr>
        <p:spPr>
          <a:xfrm>
            <a:off x="6615684" y="263347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Hosts your repos</a:t>
            </a:r>
            <a:endParaRPr lang="en-US" sz="1400" dirty="0"/>
          </a:p>
        </p:txBody>
      </p:sp>
      <p:sp>
        <p:nvSpPr>
          <p:cNvPr id="25" name="Shape 22"/>
          <p:cNvSpPr/>
          <p:nvPr/>
        </p:nvSpPr>
        <p:spPr>
          <a:xfrm>
            <a:off x="6332220" y="3102356"/>
            <a:ext cx="100584" cy="100584"/>
          </a:xfrm>
          <a:prstGeom prst="rect">
            <a:avLst/>
          </a:prstGeom>
          <a:solidFill>
            <a:srgbClr val="E8A020"/>
          </a:solidFill>
          <a:ln/>
        </p:spPr>
      </p:sp>
      <p:sp>
        <p:nvSpPr>
          <p:cNvPr id="26" name="Text 23"/>
          <p:cNvSpPr/>
          <p:nvPr/>
        </p:nvSpPr>
        <p:spPr>
          <a:xfrm>
            <a:off x="6615684" y="3010916"/>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Adds the team layer</a:t>
            </a:r>
            <a:endParaRPr lang="en-US" sz="1400" dirty="0"/>
          </a:p>
        </p:txBody>
      </p:sp>
      <p:sp>
        <p:nvSpPr>
          <p:cNvPr id="27" name="Shape 24"/>
          <p:cNvSpPr/>
          <p:nvPr/>
        </p:nvSpPr>
        <p:spPr>
          <a:xfrm>
            <a:off x="6332220" y="3479800"/>
            <a:ext cx="100584" cy="100584"/>
          </a:xfrm>
          <a:prstGeom prst="rect">
            <a:avLst/>
          </a:prstGeom>
          <a:solidFill>
            <a:srgbClr val="E8A020"/>
          </a:solidFill>
          <a:ln/>
        </p:spPr>
      </p:sp>
      <p:sp>
        <p:nvSpPr>
          <p:cNvPr id="28" name="Text 25"/>
          <p:cNvSpPr/>
          <p:nvPr/>
        </p:nvSpPr>
        <p:spPr>
          <a:xfrm>
            <a:off x="6615684" y="338836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Issues, PRs, reviews, Projects</a:t>
            </a:r>
            <a:endParaRPr lang="en-US" sz="1400" dirty="0"/>
          </a:p>
        </p:txBody>
      </p:sp>
      <p:sp>
        <p:nvSpPr>
          <p:cNvPr id="29" name="Text 26"/>
          <p:cNvSpPr/>
          <p:nvPr/>
        </p:nvSpPr>
        <p:spPr>
          <a:xfrm>
            <a:off x="566928" y="3930396"/>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Git you can use alone. GitHub is what makes it a team sport.</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20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MENTAL MODEL</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Where your work lives</a:t>
            </a:r>
            <a:endParaRPr lang="en-US" sz="3800" dirty="0"/>
          </a:p>
        </p:txBody>
      </p:sp>
      <p:sp>
        <p:nvSpPr>
          <p:cNvPr id="13" name="Shape 10"/>
          <p:cNvSpPr/>
          <p:nvPr/>
        </p:nvSpPr>
        <p:spPr>
          <a:xfrm>
            <a:off x="566928" y="2194560"/>
            <a:ext cx="2983992" cy="1234440"/>
          </a:xfrm>
          <a:prstGeom prst="roundRect">
            <a:avLst>
              <a:gd name="adj" fmla="val 4444"/>
            </a:avLst>
          </a:prstGeom>
          <a:solidFill>
            <a:srgbClr val="1C1B1A"/>
          </a:solidFill>
          <a:ln w="12700">
            <a:solidFill>
              <a:srgbClr val="2A2926"/>
            </a:solidFill>
            <a:prstDash val="solid"/>
          </a:ln>
        </p:spPr>
      </p:sp>
      <p:sp>
        <p:nvSpPr>
          <p:cNvPr id="14" name="Text 11"/>
          <p:cNvSpPr/>
          <p:nvPr/>
        </p:nvSpPr>
        <p:spPr>
          <a:xfrm>
            <a:off x="658368" y="2194560"/>
            <a:ext cx="2801112" cy="1234440"/>
          </a:xfrm>
          <a:prstGeom prst="rect">
            <a:avLst/>
          </a:prstGeom>
          <a:noFill/>
          <a:ln/>
        </p:spPr>
        <p:txBody>
          <a:bodyPr wrap="square" lIns="0" tIns="0" rIns="0" bIns="0" rtlCol="0" anchor="ctr"/>
          <a:lstStyle/>
          <a:p>
            <a:pPr algn="ctr" indent="0" marL="0">
              <a:lnSpc>
                <a:spcPct val="100000"/>
              </a:lnSpc>
              <a:buNone/>
            </a:pPr>
            <a:r>
              <a:rPr lang="en-US" sz="1700" b="1" dirty="0">
                <a:solidFill>
                  <a:srgbClr val="EDE9E3"/>
                </a:solidFill>
                <a:latin typeface="Arial" pitchFamily="34" charset="0"/>
                <a:ea typeface="Arial" pitchFamily="34" charset="-122"/>
                <a:cs typeface="Arial" pitchFamily="34" charset="-120"/>
              </a:rPr>
              <a:t>Files you edit</a:t>
            </a:r>
            <a:endParaRPr lang="en-US" sz="1700" dirty="0"/>
          </a:p>
        </p:txBody>
      </p:sp>
      <p:sp>
        <p:nvSpPr>
          <p:cNvPr id="15" name="Text 12"/>
          <p:cNvSpPr/>
          <p:nvPr/>
        </p:nvSpPr>
        <p:spPr>
          <a:xfrm>
            <a:off x="3550920" y="2446020"/>
            <a:ext cx="1051560" cy="237744"/>
          </a:xfrm>
          <a:prstGeom prst="rect">
            <a:avLst/>
          </a:prstGeom>
          <a:noFill/>
          <a:ln/>
        </p:spPr>
        <p:txBody>
          <a:bodyPr wrap="square" lIns="0" tIns="0" rIns="0" bIns="0" rtlCol="0" anchor="ctr"/>
          <a:lstStyle/>
          <a:p>
            <a:pPr algn="ctr" indent="0" marL="0">
              <a:buNone/>
            </a:pPr>
            <a:r>
              <a:rPr lang="en-US" sz="1100" spc="100" kern="0" dirty="0">
                <a:solidFill>
                  <a:srgbClr val="E8A020"/>
                </a:solidFill>
                <a:latin typeface="Courier New" pitchFamily="34" charset="0"/>
                <a:ea typeface="Courier New" pitchFamily="34" charset="-122"/>
                <a:cs typeface="Courier New" pitchFamily="34" charset="-120"/>
              </a:rPr>
              <a:t>COMMIT</a:t>
            </a:r>
            <a:endParaRPr lang="en-US" sz="1100" dirty="0"/>
          </a:p>
        </p:txBody>
      </p:sp>
      <p:sp>
        <p:nvSpPr>
          <p:cNvPr id="16" name="Text 13"/>
          <p:cNvSpPr/>
          <p:nvPr/>
        </p:nvSpPr>
        <p:spPr>
          <a:xfrm>
            <a:off x="3550920" y="2702052"/>
            <a:ext cx="1051560" cy="365760"/>
          </a:xfrm>
          <a:prstGeom prst="rect">
            <a:avLst/>
          </a:prstGeom>
          <a:noFill/>
          <a:ln/>
        </p:spPr>
        <p:txBody>
          <a:bodyPr wrap="square" lIns="0" tIns="0" rIns="0" bIns="0" rtlCol="0" anchor="ctr"/>
          <a:lstStyle/>
          <a:p>
            <a:pPr algn="ctr" indent="0" marL="0">
              <a:buNone/>
            </a:pPr>
            <a:r>
              <a:rPr lang="en-US" sz="2600" dirty="0">
                <a:solidFill>
                  <a:srgbClr val="E8A020"/>
                </a:solidFill>
                <a:latin typeface="Arial" pitchFamily="34" charset="0"/>
                <a:ea typeface="Arial" pitchFamily="34" charset="-122"/>
                <a:cs typeface="Arial" pitchFamily="34" charset="-120"/>
              </a:rPr>
              <a:t>→</a:t>
            </a:r>
            <a:endParaRPr lang="en-US" sz="2600" dirty="0"/>
          </a:p>
        </p:txBody>
      </p:sp>
      <p:sp>
        <p:nvSpPr>
          <p:cNvPr id="17" name="Shape 14"/>
          <p:cNvSpPr/>
          <p:nvPr/>
        </p:nvSpPr>
        <p:spPr>
          <a:xfrm>
            <a:off x="4602480" y="2194560"/>
            <a:ext cx="2983992" cy="1234440"/>
          </a:xfrm>
          <a:prstGeom prst="roundRect">
            <a:avLst>
              <a:gd name="adj" fmla="val 4444"/>
            </a:avLst>
          </a:prstGeom>
          <a:solidFill>
            <a:srgbClr val="1C1B1A"/>
          </a:solidFill>
          <a:ln w="12700">
            <a:solidFill>
              <a:srgbClr val="2A2926"/>
            </a:solidFill>
            <a:prstDash val="solid"/>
          </a:ln>
        </p:spPr>
      </p:sp>
      <p:sp>
        <p:nvSpPr>
          <p:cNvPr id="18" name="Text 15"/>
          <p:cNvSpPr/>
          <p:nvPr/>
        </p:nvSpPr>
        <p:spPr>
          <a:xfrm>
            <a:off x="4693920" y="2194560"/>
            <a:ext cx="2801112" cy="1234440"/>
          </a:xfrm>
          <a:prstGeom prst="rect">
            <a:avLst/>
          </a:prstGeom>
          <a:noFill/>
          <a:ln/>
        </p:spPr>
        <p:txBody>
          <a:bodyPr wrap="square" lIns="0" tIns="0" rIns="0" bIns="0" rtlCol="0" anchor="ctr"/>
          <a:lstStyle/>
          <a:p>
            <a:pPr algn="ctr" indent="0" marL="0">
              <a:lnSpc>
                <a:spcPct val="100000"/>
              </a:lnSpc>
              <a:buNone/>
            </a:pPr>
            <a:r>
              <a:rPr lang="en-US" sz="1700" b="1" dirty="0">
                <a:solidFill>
                  <a:srgbClr val="EDE9E3"/>
                </a:solidFill>
                <a:latin typeface="Arial" pitchFamily="34" charset="0"/>
                <a:ea typeface="Arial" pitchFamily="34" charset="-122"/>
                <a:cs typeface="Arial" pitchFamily="34" charset="-120"/>
              </a:rPr>
              <a:t>Saved on your computer</a:t>
            </a:r>
            <a:endParaRPr lang="en-US" sz="1700" dirty="0"/>
          </a:p>
        </p:txBody>
      </p:sp>
      <p:sp>
        <p:nvSpPr>
          <p:cNvPr id="19" name="Text 16"/>
          <p:cNvSpPr/>
          <p:nvPr/>
        </p:nvSpPr>
        <p:spPr>
          <a:xfrm>
            <a:off x="7586472" y="2446020"/>
            <a:ext cx="1051560" cy="237744"/>
          </a:xfrm>
          <a:prstGeom prst="rect">
            <a:avLst/>
          </a:prstGeom>
          <a:noFill/>
          <a:ln/>
        </p:spPr>
        <p:txBody>
          <a:bodyPr wrap="square" lIns="0" tIns="0" rIns="0" bIns="0" rtlCol="0" anchor="ctr"/>
          <a:lstStyle/>
          <a:p>
            <a:pPr algn="ctr" indent="0" marL="0">
              <a:buNone/>
            </a:pPr>
            <a:r>
              <a:rPr lang="en-US" sz="1100" spc="100" kern="0" dirty="0">
                <a:solidFill>
                  <a:srgbClr val="E8A020"/>
                </a:solidFill>
                <a:latin typeface="Courier New" pitchFamily="34" charset="0"/>
                <a:ea typeface="Courier New" pitchFamily="34" charset="-122"/>
                <a:cs typeface="Courier New" pitchFamily="34" charset="-120"/>
              </a:rPr>
              <a:t>PUSH</a:t>
            </a:r>
            <a:endParaRPr lang="en-US" sz="1100" dirty="0"/>
          </a:p>
        </p:txBody>
      </p:sp>
      <p:sp>
        <p:nvSpPr>
          <p:cNvPr id="20" name="Text 17"/>
          <p:cNvSpPr/>
          <p:nvPr/>
        </p:nvSpPr>
        <p:spPr>
          <a:xfrm>
            <a:off x="7586472" y="2702052"/>
            <a:ext cx="1051560" cy="365760"/>
          </a:xfrm>
          <a:prstGeom prst="rect">
            <a:avLst/>
          </a:prstGeom>
          <a:noFill/>
          <a:ln/>
        </p:spPr>
        <p:txBody>
          <a:bodyPr wrap="square" lIns="0" tIns="0" rIns="0" bIns="0" rtlCol="0" anchor="ctr"/>
          <a:lstStyle/>
          <a:p>
            <a:pPr algn="ctr" indent="0" marL="0">
              <a:buNone/>
            </a:pPr>
            <a:r>
              <a:rPr lang="en-US" sz="2600" dirty="0">
                <a:solidFill>
                  <a:srgbClr val="E8A020"/>
                </a:solidFill>
                <a:latin typeface="Arial" pitchFamily="34" charset="0"/>
                <a:ea typeface="Arial" pitchFamily="34" charset="-122"/>
                <a:cs typeface="Arial" pitchFamily="34" charset="-120"/>
              </a:rPr>
              <a:t>→</a:t>
            </a:r>
            <a:endParaRPr lang="en-US" sz="2600" dirty="0"/>
          </a:p>
        </p:txBody>
      </p:sp>
      <p:sp>
        <p:nvSpPr>
          <p:cNvPr id="21" name="Shape 18"/>
          <p:cNvSpPr/>
          <p:nvPr/>
        </p:nvSpPr>
        <p:spPr>
          <a:xfrm>
            <a:off x="8638032" y="2194560"/>
            <a:ext cx="2983992" cy="1234440"/>
          </a:xfrm>
          <a:prstGeom prst="roundRect">
            <a:avLst>
              <a:gd name="adj" fmla="val 4444"/>
            </a:avLst>
          </a:prstGeom>
          <a:solidFill>
            <a:srgbClr val="1C1B1A"/>
          </a:solidFill>
          <a:ln w="12700">
            <a:solidFill>
              <a:srgbClr val="2A2926"/>
            </a:solidFill>
            <a:prstDash val="solid"/>
          </a:ln>
        </p:spPr>
      </p:sp>
      <p:sp>
        <p:nvSpPr>
          <p:cNvPr id="22" name="Text 19"/>
          <p:cNvSpPr/>
          <p:nvPr/>
        </p:nvSpPr>
        <p:spPr>
          <a:xfrm>
            <a:off x="8729472" y="2194560"/>
            <a:ext cx="2801112" cy="1234440"/>
          </a:xfrm>
          <a:prstGeom prst="rect">
            <a:avLst/>
          </a:prstGeom>
          <a:noFill/>
          <a:ln/>
        </p:spPr>
        <p:txBody>
          <a:bodyPr wrap="square" lIns="0" tIns="0" rIns="0" bIns="0" rtlCol="0" anchor="ctr"/>
          <a:lstStyle/>
          <a:p>
            <a:pPr algn="ctr" indent="0" marL="0">
              <a:lnSpc>
                <a:spcPct val="100000"/>
              </a:lnSpc>
              <a:buNone/>
            </a:pPr>
            <a:r>
              <a:rPr lang="en-US" sz="1700" b="1" dirty="0">
                <a:solidFill>
                  <a:srgbClr val="EDE9E3"/>
                </a:solidFill>
                <a:latin typeface="Arial" pitchFamily="34" charset="0"/>
                <a:ea typeface="Arial" pitchFamily="34" charset="-122"/>
                <a:cs typeface="Arial" pitchFamily="34" charset="-120"/>
              </a:rPr>
              <a:t>On GitHub, shared</a:t>
            </a:r>
            <a:endParaRPr lang="en-US" sz="1700" dirty="0"/>
          </a:p>
        </p:txBody>
      </p:sp>
      <p:sp>
        <p:nvSpPr>
          <p:cNvPr id="23" name="Shape 20"/>
          <p:cNvSpPr/>
          <p:nvPr/>
        </p:nvSpPr>
        <p:spPr>
          <a:xfrm>
            <a:off x="658368" y="3886200"/>
            <a:ext cx="10872216" cy="0"/>
          </a:xfrm>
          <a:prstGeom prst="line">
            <a:avLst/>
          </a:prstGeom>
          <a:noFill/>
          <a:ln w="19050">
            <a:solidFill>
              <a:srgbClr val="E8A020"/>
            </a:solidFill>
            <a:prstDash val="dash"/>
            <a:headEnd type="triangle"/>
          </a:ln>
        </p:spPr>
      </p:sp>
      <p:sp>
        <p:nvSpPr>
          <p:cNvPr id="24" name="Shape 21"/>
          <p:cNvSpPr/>
          <p:nvPr/>
        </p:nvSpPr>
        <p:spPr>
          <a:xfrm>
            <a:off x="658368" y="3429000"/>
            <a:ext cx="0" cy="457200"/>
          </a:xfrm>
          <a:prstGeom prst="line">
            <a:avLst/>
          </a:prstGeom>
          <a:noFill/>
          <a:ln w="19050">
            <a:solidFill>
              <a:srgbClr val="E8A020"/>
            </a:solidFill>
            <a:prstDash val="solid"/>
          </a:ln>
        </p:spPr>
      </p:sp>
      <p:sp>
        <p:nvSpPr>
          <p:cNvPr id="25" name="Shape 22"/>
          <p:cNvSpPr/>
          <p:nvPr/>
        </p:nvSpPr>
        <p:spPr>
          <a:xfrm>
            <a:off x="11530584" y="3429000"/>
            <a:ext cx="0" cy="457200"/>
          </a:xfrm>
          <a:prstGeom prst="line">
            <a:avLst/>
          </a:prstGeom>
          <a:noFill/>
          <a:ln w="19050">
            <a:solidFill>
              <a:srgbClr val="E8A020"/>
            </a:solidFill>
            <a:prstDash val="solid"/>
          </a:ln>
        </p:spPr>
      </p:sp>
      <p:sp>
        <p:nvSpPr>
          <p:cNvPr id="26" name="Text 23"/>
          <p:cNvSpPr/>
          <p:nvPr/>
        </p:nvSpPr>
        <p:spPr>
          <a:xfrm>
            <a:off x="4997196" y="3685032"/>
            <a:ext cx="2194560" cy="402336"/>
          </a:xfrm>
          <a:prstGeom prst="rect">
            <a:avLst/>
          </a:prstGeom>
          <a:solidFill>
            <a:srgbClr val="111010"/>
          </a:solidFill>
          <a:ln/>
        </p:spPr>
        <p:txBody>
          <a:bodyPr wrap="square" lIns="0" tIns="0" rIns="0" bIns="0" rtlCol="0" anchor="ctr"/>
          <a:lstStyle/>
          <a:p>
            <a:pPr algn="ctr" indent="0" marL="0">
              <a:buNone/>
            </a:pPr>
            <a:r>
              <a:rPr lang="en-US" sz="1300" spc="100" kern="0" dirty="0">
                <a:solidFill>
                  <a:srgbClr val="E8A020"/>
                </a:solidFill>
                <a:latin typeface="Courier New" pitchFamily="34" charset="0"/>
                <a:ea typeface="Courier New" pitchFamily="34" charset="-122"/>
                <a:cs typeface="Courier New" pitchFamily="34" charset="-120"/>
              </a:rPr>
              <a:t>CLONE / PULL</a:t>
            </a:r>
            <a:endParaRPr lang="en-US" sz="1300" dirty="0"/>
          </a:p>
        </p:txBody>
      </p:sp>
      <p:sp>
        <p:nvSpPr>
          <p:cNvPr id="27" name="Text 24"/>
          <p:cNvSpPr/>
          <p:nvPr/>
        </p:nvSpPr>
        <p:spPr>
          <a:xfrm>
            <a:off x="566928" y="4251960"/>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clone / pull bring GitHub's copy back down to the files you edit — closing the loop.</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21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CHEAT SHEET</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The git commands you'll use</a:t>
            </a:r>
            <a:endParaRPr lang="en-US" sz="3800" dirty="0"/>
          </a:p>
        </p:txBody>
      </p:sp>
      <p:sp>
        <p:nvSpPr>
          <p:cNvPr id="13" name="Shape 10"/>
          <p:cNvSpPr/>
          <p:nvPr/>
        </p:nvSpPr>
        <p:spPr>
          <a:xfrm>
            <a:off x="566928" y="2194560"/>
            <a:ext cx="11055096" cy="1853184"/>
          </a:xfrm>
          <a:prstGeom prst="rect">
            <a:avLst/>
          </a:prstGeom>
          <a:solidFill>
            <a:srgbClr val="1C1B1A"/>
          </a:solidFill>
          <a:ln/>
        </p:spPr>
      </p:sp>
      <p:sp>
        <p:nvSpPr>
          <p:cNvPr id="14" name="Shape 11"/>
          <p:cNvSpPr/>
          <p:nvPr/>
        </p:nvSpPr>
        <p:spPr>
          <a:xfrm>
            <a:off x="566928" y="2194560"/>
            <a:ext cx="45720" cy="1853184"/>
          </a:xfrm>
          <a:prstGeom prst="rect">
            <a:avLst/>
          </a:prstGeom>
          <a:solidFill>
            <a:srgbClr val="E8A020"/>
          </a:solidFill>
          <a:ln/>
        </p:spPr>
      </p:sp>
      <p:sp>
        <p:nvSpPr>
          <p:cNvPr id="15" name="Text 12"/>
          <p:cNvSpPr/>
          <p:nvPr/>
        </p:nvSpPr>
        <p:spPr>
          <a:xfrm>
            <a:off x="822960" y="2359152"/>
            <a:ext cx="10597896" cy="1524000"/>
          </a:xfrm>
          <a:prstGeom prst="rect">
            <a:avLst/>
          </a:prstGeom>
          <a:noFill/>
          <a:ln/>
        </p:spPr>
        <p:txBody>
          <a:bodyPr wrap="square" lIns="0" tIns="0" rIns="0" bIns="0" rtlCol="0" anchor="t"/>
          <a:lstStyle/>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git clone &lt;url&gt;             # copy a repo to your computer</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git status                  # what's changed</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git checkout -b &lt;branch&gt;    # create + switch to a branch</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git add &lt;files&gt;             # stage changes  (git add . = all)</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git commit -m "message"     # save a snapshot</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git push -u origin &lt;branch&gt; # publish your branch to GitHub</a:t>
            </a:r>
            <a:endParaRPr lang="en-US" sz="1300" dirty="0"/>
          </a:p>
        </p:txBody>
      </p:sp>
      <p:sp>
        <p:nvSpPr>
          <p:cNvPr id="16" name="Text 13"/>
          <p:cNvSpPr/>
          <p:nvPr/>
        </p:nvSpPr>
        <p:spPr>
          <a:xfrm>
            <a:off x="566928" y="4267200"/>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These six are the whole command-line side of today. Screenshot this.</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22 — 48</a:t>
            </a:r>
            <a:endParaRPr lang="en-US" sz="800" dirty="0"/>
          </a:p>
        </p:txBody>
      </p:sp>
      <p:sp>
        <p:nvSpPr>
          <p:cNvPr id="10" name="Text 7"/>
          <p:cNvSpPr/>
          <p:nvPr/>
        </p:nvSpPr>
        <p:spPr>
          <a:xfrm>
            <a:off x="566928" y="2651760"/>
            <a:ext cx="11055096" cy="1280160"/>
          </a:xfrm>
          <a:prstGeom prst="rect">
            <a:avLst/>
          </a:prstGeom>
          <a:noFill/>
          <a:ln/>
        </p:spPr>
        <p:txBody>
          <a:bodyPr wrap="square" lIns="0" tIns="0" rIns="0" bIns="0" rtlCol="0" anchor="t"/>
          <a:lstStyle/>
          <a:p>
            <a:pPr indent="0" marL="0">
              <a:lnSpc>
                <a:spcPct val="98000"/>
              </a:lnSpc>
              <a:buNone/>
            </a:pPr>
            <a:r>
              <a:rPr lang="en-US" sz="5400" b="1" dirty="0">
                <a:solidFill>
                  <a:srgbClr val="EDE9E3"/>
                </a:solidFill>
                <a:latin typeface="Arial" pitchFamily="34" charset="0"/>
                <a:ea typeface="Arial" pitchFamily="34" charset="-122"/>
                <a:cs typeface="Arial" pitchFamily="34" charset="-120"/>
              </a:rPr>
              <a:t>Setup Lab</a:t>
            </a:r>
            <a:endParaRPr lang="en-US" sz="5400" dirty="0"/>
          </a:p>
        </p:txBody>
      </p:sp>
      <p:sp>
        <p:nvSpPr>
          <p:cNvPr id="11" name="Text 8"/>
          <p:cNvSpPr/>
          <p:nvPr/>
        </p:nvSpPr>
        <p:spPr>
          <a:xfrm>
            <a:off x="566928" y="3886200"/>
            <a:ext cx="10140696" cy="914400"/>
          </a:xfrm>
          <a:prstGeom prst="rect">
            <a:avLst/>
          </a:prstGeom>
          <a:noFill/>
          <a:ln/>
        </p:spPr>
        <p:txBody>
          <a:bodyPr wrap="square" lIns="0" tIns="0" rIns="0" bIns="0" rtlCol="0" anchor="t"/>
          <a:lstStyle/>
          <a:p>
            <a:pPr indent="0" marL="0">
              <a:lnSpc>
                <a:spcPct val="110000"/>
              </a:lnSpc>
              <a:buNone/>
            </a:pPr>
            <a:r>
              <a:rPr lang="en-US" sz="2200" i="1" dirty="0">
                <a:solidFill>
                  <a:srgbClr val="8C8880"/>
                </a:solidFill>
                <a:latin typeface="Cambria" pitchFamily="34" charset="0"/>
                <a:ea typeface="Cambria" pitchFamily="34" charset="-122"/>
                <a:cs typeface="Cambria" pitchFamily="34" charset="-120"/>
              </a:rPr>
              <a:t>In person — Jesse is in the room to help. One step at a time — I'll walk through each on screen.</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23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ROADMAP</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What we're installing</a:t>
            </a:r>
            <a:endParaRPr lang="en-US" sz="3800" dirty="0"/>
          </a:p>
        </p:txBody>
      </p:sp>
      <p:sp>
        <p:nvSpPr>
          <p:cNvPr id="13" name="Shape 10"/>
          <p:cNvSpPr/>
          <p:nvPr/>
        </p:nvSpPr>
        <p:spPr>
          <a:xfrm>
            <a:off x="566928" y="2194560"/>
            <a:ext cx="310896" cy="310896"/>
          </a:xfrm>
          <a:prstGeom prst="rect">
            <a:avLst/>
          </a:prstGeom>
          <a:solidFill>
            <a:srgbClr val="1F1B12"/>
          </a:solidFill>
          <a:ln w="12700">
            <a:solidFill>
              <a:srgbClr val="E8A02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A terminal + git</a:t>
            </a:r>
            <a:endParaRPr lang="en-US" sz="1600" dirty="0"/>
          </a:p>
        </p:txBody>
      </p:sp>
      <p:sp>
        <p:nvSpPr>
          <p:cNvPr id="16" name="Shape 13"/>
          <p:cNvSpPr/>
          <p:nvPr/>
        </p:nvSpPr>
        <p:spPr>
          <a:xfrm>
            <a:off x="566928" y="2678176"/>
            <a:ext cx="310896" cy="310896"/>
          </a:xfrm>
          <a:prstGeom prst="rect">
            <a:avLst/>
          </a:prstGeom>
          <a:solidFill>
            <a:srgbClr val="1F1B12"/>
          </a:solidFill>
          <a:ln w="12700">
            <a:solidFill>
              <a:srgbClr val="E8A020"/>
            </a:solidFill>
            <a:prstDash val="solid"/>
          </a:ln>
        </p:spPr>
      </p:sp>
      <p:sp>
        <p:nvSpPr>
          <p:cNvPr id="17" name="Text 14"/>
          <p:cNvSpPr/>
          <p:nvPr/>
        </p:nvSpPr>
        <p:spPr>
          <a:xfrm>
            <a:off x="566928" y="2678176"/>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650744"/>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Your git identity</a:t>
            </a:r>
            <a:endParaRPr lang="en-US" sz="1600" dirty="0"/>
          </a:p>
        </p:txBody>
      </p:sp>
      <p:sp>
        <p:nvSpPr>
          <p:cNvPr id="19" name="Shape 16"/>
          <p:cNvSpPr/>
          <p:nvPr/>
        </p:nvSpPr>
        <p:spPr>
          <a:xfrm>
            <a:off x="566928" y="3161792"/>
            <a:ext cx="310896" cy="310896"/>
          </a:xfrm>
          <a:prstGeom prst="rect">
            <a:avLst/>
          </a:prstGeom>
          <a:solidFill>
            <a:srgbClr val="1F1B12"/>
          </a:solidFill>
          <a:ln w="12700">
            <a:solidFill>
              <a:srgbClr val="E8A020"/>
            </a:solidFill>
            <a:prstDash val="solid"/>
          </a:ln>
        </p:spPr>
      </p:sp>
      <p:sp>
        <p:nvSpPr>
          <p:cNvPr id="20" name="Text 17"/>
          <p:cNvSpPr/>
          <p:nvPr/>
        </p:nvSpPr>
        <p:spPr>
          <a:xfrm>
            <a:off x="566928" y="3161792"/>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3</a:t>
            </a:r>
            <a:endParaRPr lang="en-US" sz="1200" dirty="0"/>
          </a:p>
        </p:txBody>
      </p:sp>
      <p:sp>
        <p:nvSpPr>
          <p:cNvPr id="21" name="Text 18"/>
          <p:cNvSpPr/>
          <p:nvPr/>
        </p:nvSpPr>
        <p:spPr>
          <a:xfrm>
            <a:off x="1042416" y="3134360"/>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An SSH key, added to GitHub</a:t>
            </a:r>
            <a:endParaRPr lang="en-US" sz="1600" dirty="0"/>
          </a:p>
        </p:txBody>
      </p:sp>
      <p:sp>
        <p:nvSpPr>
          <p:cNvPr id="22" name="Shape 19"/>
          <p:cNvSpPr/>
          <p:nvPr/>
        </p:nvSpPr>
        <p:spPr>
          <a:xfrm>
            <a:off x="566928" y="3645408"/>
            <a:ext cx="310896" cy="310896"/>
          </a:xfrm>
          <a:prstGeom prst="rect">
            <a:avLst/>
          </a:prstGeom>
          <a:solidFill>
            <a:srgbClr val="1F1B12"/>
          </a:solidFill>
          <a:ln w="12700">
            <a:solidFill>
              <a:srgbClr val="E8A020"/>
            </a:solidFill>
            <a:prstDash val="solid"/>
          </a:ln>
        </p:spPr>
      </p:sp>
      <p:sp>
        <p:nvSpPr>
          <p:cNvPr id="23" name="Text 20"/>
          <p:cNvSpPr/>
          <p:nvPr/>
        </p:nvSpPr>
        <p:spPr>
          <a:xfrm>
            <a:off x="566928" y="3645408"/>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4</a:t>
            </a:r>
            <a:endParaRPr lang="en-US" sz="1200" dirty="0"/>
          </a:p>
        </p:txBody>
      </p:sp>
      <p:sp>
        <p:nvSpPr>
          <p:cNvPr id="24" name="Text 21"/>
          <p:cNvSpPr/>
          <p:nvPr/>
        </p:nvSpPr>
        <p:spPr>
          <a:xfrm>
            <a:off x="1042416" y="3617976"/>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GitHub CLI (gh)</a:t>
            </a:r>
            <a:endParaRPr lang="en-US" sz="1600" dirty="0"/>
          </a:p>
        </p:txBody>
      </p:sp>
      <p:sp>
        <p:nvSpPr>
          <p:cNvPr id="25" name="Shape 22"/>
          <p:cNvSpPr/>
          <p:nvPr/>
        </p:nvSpPr>
        <p:spPr>
          <a:xfrm>
            <a:off x="566928" y="4129024"/>
            <a:ext cx="310896" cy="310896"/>
          </a:xfrm>
          <a:prstGeom prst="rect">
            <a:avLst/>
          </a:prstGeom>
          <a:solidFill>
            <a:srgbClr val="1F1B12"/>
          </a:solidFill>
          <a:ln w="12700">
            <a:solidFill>
              <a:srgbClr val="E8A020"/>
            </a:solidFill>
            <a:prstDash val="solid"/>
          </a:ln>
        </p:spPr>
      </p:sp>
      <p:sp>
        <p:nvSpPr>
          <p:cNvPr id="26" name="Text 23"/>
          <p:cNvSpPr/>
          <p:nvPr/>
        </p:nvSpPr>
        <p:spPr>
          <a:xfrm>
            <a:off x="566928" y="4129024"/>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5</a:t>
            </a:r>
            <a:endParaRPr lang="en-US" sz="1200" dirty="0"/>
          </a:p>
        </p:txBody>
      </p:sp>
      <p:sp>
        <p:nvSpPr>
          <p:cNvPr id="27" name="Text 24"/>
          <p:cNvSpPr/>
          <p:nvPr/>
        </p:nvSpPr>
        <p:spPr>
          <a:xfrm>
            <a:off x="1042416" y="4101592"/>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Claude Code</a:t>
            </a:r>
            <a:endParaRPr lang="en-US" sz="1600" dirty="0"/>
          </a:p>
        </p:txBody>
      </p:sp>
      <p:sp>
        <p:nvSpPr>
          <p:cNvPr id="28" name="Shape 25"/>
          <p:cNvSpPr/>
          <p:nvPr/>
        </p:nvSpPr>
        <p:spPr>
          <a:xfrm>
            <a:off x="566928" y="4612640"/>
            <a:ext cx="310896" cy="310896"/>
          </a:xfrm>
          <a:prstGeom prst="rect">
            <a:avLst/>
          </a:prstGeom>
          <a:solidFill>
            <a:srgbClr val="1F1B12"/>
          </a:solidFill>
          <a:ln w="12700">
            <a:solidFill>
              <a:srgbClr val="E8A020"/>
            </a:solidFill>
            <a:prstDash val="solid"/>
          </a:ln>
        </p:spPr>
      </p:sp>
      <p:sp>
        <p:nvSpPr>
          <p:cNvPr id="29" name="Text 26"/>
          <p:cNvSpPr/>
          <p:nvPr/>
        </p:nvSpPr>
        <p:spPr>
          <a:xfrm>
            <a:off x="566928" y="4612640"/>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6</a:t>
            </a:r>
            <a:endParaRPr lang="en-US" sz="1200" dirty="0"/>
          </a:p>
        </p:txBody>
      </p:sp>
      <p:sp>
        <p:nvSpPr>
          <p:cNvPr id="30" name="Text 27"/>
          <p:cNvSpPr/>
          <p:nvPr/>
        </p:nvSpPr>
        <p:spPr>
          <a:xfrm>
            <a:off x="1042416" y="4585208"/>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A Hugging Face account (for later)</a:t>
            </a:r>
            <a:endParaRPr lang="en-US" sz="1600" dirty="0"/>
          </a:p>
        </p:txBody>
      </p:sp>
      <p:sp>
        <p:nvSpPr>
          <p:cNvPr id="31" name="Text 28"/>
          <p:cNvSpPr/>
          <p:nvPr/>
        </p:nvSpPr>
        <p:spPr>
          <a:xfrm>
            <a:off x="566928" y="5151120"/>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We assume nothing is installed yet — including git.</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24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STEP 1 · MACOS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Xcode CLT → Homebrew → git</a:t>
            </a:r>
            <a:endParaRPr lang="en-US" sz="3800" dirty="0"/>
          </a:p>
        </p:txBody>
      </p:sp>
      <p:sp>
        <p:nvSpPr>
          <p:cNvPr id="13" name="Shape 10"/>
          <p:cNvSpPr/>
          <p:nvPr/>
        </p:nvSpPr>
        <p:spPr>
          <a:xfrm>
            <a:off x="566928" y="2194560"/>
            <a:ext cx="11055096" cy="2869184"/>
          </a:xfrm>
          <a:prstGeom prst="rect">
            <a:avLst/>
          </a:prstGeom>
          <a:solidFill>
            <a:srgbClr val="1C1B1A"/>
          </a:solidFill>
          <a:ln/>
        </p:spPr>
      </p:sp>
      <p:sp>
        <p:nvSpPr>
          <p:cNvPr id="14" name="Shape 11"/>
          <p:cNvSpPr/>
          <p:nvPr/>
        </p:nvSpPr>
        <p:spPr>
          <a:xfrm>
            <a:off x="566928" y="2194560"/>
            <a:ext cx="45720" cy="2869184"/>
          </a:xfrm>
          <a:prstGeom prst="rect">
            <a:avLst/>
          </a:prstGeom>
          <a:solidFill>
            <a:srgbClr val="E8A020"/>
          </a:solidFill>
          <a:ln/>
        </p:spPr>
      </p:sp>
      <p:sp>
        <p:nvSpPr>
          <p:cNvPr id="15" name="Text 12"/>
          <p:cNvSpPr/>
          <p:nvPr/>
        </p:nvSpPr>
        <p:spPr>
          <a:xfrm>
            <a:off x="822960" y="2359152"/>
            <a:ext cx="10597896" cy="2540000"/>
          </a:xfrm>
          <a:prstGeom prst="rect">
            <a:avLst/>
          </a:prstGeom>
          <a:noFill/>
          <a:ln/>
        </p:spPr>
        <p:txBody>
          <a:bodyPr wrap="square" lIns="0" tIns="0" rIns="0" bIns="0" rtlCol="0" anchor="t"/>
          <a:lstStyle/>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 1. Xcode Command Line Tools (gives you git, compilers)</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xcode-select --install        # click Install in the popup, wait</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 </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 2. Homebrew (package manager)</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/bin/bash -c "$(curl -fsSL \</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  https://raw.githubusercontent.com/Homebrew/install/HEAD/install.sh)"</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   then run the two 'Next steps' lines it prints</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 </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 3. git</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brew install git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25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STEP 1 · WINDOWS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Git for Windows (+ Git Bash)</a:t>
            </a:r>
            <a:endParaRPr lang="en-US" sz="3800" dirty="0"/>
          </a:p>
        </p:txBody>
      </p:sp>
      <p:sp>
        <p:nvSpPr>
          <p:cNvPr id="13" name="Shape 10"/>
          <p:cNvSpPr/>
          <p:nvPr/>
        </p:nvSpPr>
        <p:spPr>
          <a:xfrm>
            <a:off x="566928" y="2194560"/>
            <a:ext cx="310896" cy="310896"/>
          </a:xfrm>
          <a:prstGeom prst="rect">
            <a:avLst/>
          </a:prstGeom>
          <a:solidFill>
            <a:srgbClr val="1F1B12"/>
          </a:solidFill>
          <a:ln w="12700">
            <a:solidFill>
              <a:srgbClr val="E8A02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Download Git for Windows: </a:t>
            </a:r>
            <a:pPr indent="0" marL="0">
              <a:lnSpc>
                <a:spcPct val="110000"/>
              </a:lnSpc>
              <a:buNone/>
            </a:pPr>
            <a:r>
              <a:rPr lang="en-US" sz="1600" b="1" dirty="0">
                <a:solidFill>
                  <a:srgbClr val="FFFFFF"/>
                </a:solidFill>
                <a:latin typeface="Arial" pitchFamily="34" charset="0"/>
                <a:ea typeface="Arial" pitchFamily="34" charset="-122"/>
                <a:cs typeface="Arial" pitchFamily="34" charset="-120"/>
              </a:rPr>
              <a:t>git-scm.com/download/win</a:t>
            </a:r>
            <a:endParaRPr lang="en-US" sz="1600" dirty="0"/>
          </a:p>
        </p:txBody>
      </p:sp>
      <p:sp>
        <p:nvSpPr>
          <p:cNvPr id="16" name="Shape 13"/>
          <p:cNvSpPr/>
          <p:nvPr/>
        </p:nvSpPr>
        <p:spPr>
          <a:xfrm>
            <a:off x="566928" y="2678176"/>
            <a:ext cx="310896" cy="310896"/>
          </a:xfrm>
          <a:prstGeom prst="rect">
            <a:avLst/>
          </a:prstGeom>
          <a:solidFill>
            <a:srgbClr val="1F1B12"/>
          </a:solidFill>
          <a:ln w="12700">
            <a:solidFill>
              <a:srgbClr val="E8A020"/>
            </a:solidFill>
            <a:prstDash val="solid"/>
          </a:ln>
        </p:spPr>
      </p:sp>
      <p:sp>
        <p:nvSpPr>
          <p:cNvPr id="17" name="Text 14"/>
          <p:cNvSpPr/>
          <p:nvPr/>
        </p:nvSpPr>
        <p:spPr>
          <a:xfrm>
            <a:off x="566928" y="2678176"/>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650744"/>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Run the installer, accept the defaults (installs </a:t>
            </a:r>
            <a:pPr indent="0" marL="0">
              <a:lnSpc>
                <a:spcPct val="110000"/>
              </a:lnSpc>
              <a:buNone/>
            </a:pPr>
            <a:r>
              <a:rPr lang="en-US" sz="1600" b="1" dirty="0">
                <a:solidFill>
                  <a:srgbClr val="FFFFFF"/>
                </a:solidFill>
                <a:latin typeface="Arial" pitchFamily="34" charset="0"/>
                <a:ea typeface="Arial" pitchFamily="34" charset="-122"/>
                <a:cs typeface="Arial" pitchFamily="34" charset="-120"/>
              </a:rPr>
              <a:t>Git Bash</a:t>
            </a:r>
            <a:pPr indent="0" marL="0">
              <a:lnSpc>
                <a:spcPct val="110000"/>
              </a:lnSpc>
              <a:buNone/>
            </a:pPr>
            <a:r>
              <a:rPr lang="en-US" sz="1600" dirty="0">
                <a:solidFill>
                  <a:srgbClr val="EDE9E3"/>
                </a:solidFill>
                <a:latin typeface="Arial" pitchFamily="34" charset="0"/>
                <a:ea typeface="Arial" pitchFamily="34" charset="-122"/>
                <a:cs typeface="Arial" pitchFamily="34" charset="-120"/>
              </a:rPr>
              <a:t>)</a:t>
            </a:r>
            <a:endParaRPr lang="en-US" sz="1600" dirty="0"/>
          </a:p>
        </p:txBody>
      </p:sp>
      <p:sp>
        <p:nvSpPr>
          <p:cNvPr id="19" name="Shape 16"/>
          <p:cNvSpPr/>
          <p:nvPr/>
        </p:nvSpPr>
        <p:spPr>
          <a:xfrm>
            <a:off x="566928" y="3161792"/>
            <a:ext cx="310896" cy="310896"/>
          </a:xfrm>
          <a:prstGeom prst="rect">
            <a:avLst/>
          </a:prstGeom>
          <a:solidFill>
            <a:srgbClr val="1F1B12"/>
          </a:solidFill>
          <a:ln w="12700">
            <a:solidFill>
              <a:srgbClr val="E8A020"/>
            </a:solidFill>
            <a:prstDash val="solid"/>
          </a:ln>
        </p:spPr>
      </p:sp>
      <p:sp>
        <p:nvSpPr>
          <p:cNvPr id="20" name="Text 17"/>
          <p:cNvSpPr/>
          <p:nvPr/>
        </p:nvSpPr>
        <p:spPr>
          <a:xfrm>
            <a:off x="566928" y="3161792"/>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3</a:t>
            </a:r>
            <a:endParaRPr lang="en-US" sz="1200" dirty="0"/>
          </a:p>
        </p:txBody>
      </p:sp>
      <p:sp>
        <p:nvSpPr>
          <p:cNvPr id="21" name="Text 18"/>
          <p:cNvSpPr/>
          <p:nvPr/>
        </p:nvSpPr>
        <p:spPr>
          <a:xfrm>
            <a:off x="1042416" y="3134360"/>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Open </a:t>
            </a:r>
            <a:pPr indent="0" marL="0">
              <a:lnSpc>
                <a:spcPct val="110000"/>
              </a:lnSpc>
              <a:buNone/>
            </a:pPr>
            <a:r>
              <a:rPr lang="en-US" sz="1600" b="1" dirty="0">
                <a:solidFill>
                  <a:srgbClr val="FFFFFF"/>
                </a:solidFill>
                <a:latin typeface="Arial" pitchFamily="34" charset="0"/>
                <a:ea typeface="Arial" pitchFamily="34" charset="-122"/>
                <a:cs typeface="Arial" pitchFamily="34" charset="-120"/>
              </a:rPr>
              <a:t>Git Bash</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this is your terminal for today</a:t>
            </a:r>
            <a:endParaRPr lang="en-US" sz="1600" dirty="0"/>
          </a:p>
        </p:txBody>
      </p:sp>
      <p:sp>
        <p:nvSpPr>
          <p:cNvPr id="22" name="Text 19"/>
          <p:cNvSpPr/>
          <p:nvPr/>
        </p:nvSpPr>
        <p:spPr>
          <a:xfrm>
            <a:off x="566928" y="3700272"/>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Windows users: "terminal" = Git Bash, so your commands match the Mac ones.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26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STEP 2 · BOTH</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Configure your git identity</a:t>
            </a:r>
            <a:endParaRPr lang="en-US" sz="3800" dirty="0"/>
          </a:p>
        </p:txBody>
      </p:sp>
      <p:sp>
        <p:nvSpPr>
          <p:cNvPr id="13" name="Shape 10"/>
          <p:cNvSpPr/>
          <p:nvPr/>
        </p:nvSpPr>
        <p:spPr>
          <a:xfrm>
            <a:off x="566928" y="2194560"/>
            <a:ext cx="11055096" cy="1091184"/>
          </a:xfrm>
          <a:prstGeom prst="rect">
            <a:avLst/>
          </a:prstGeom>
          <a:solidFill>
            <a:srgbClr val="1C1B1A"/>
          </a:solidFill>
          <a:ln/>
        </p:spPr>
      </p:sp>
      <p:sp>
        <p:nvSpPr>
          <p:cNvPr id="14" name="Shape 11"/>
          <p:cNvSpPr/>
          <p:nvPr/>
        </p:nvSpPr>
        <p:spPr>
          <a:xfrm>
            <a:off x="566928" y="2194560"/>
            <a:ext cx="45720" cy="1091184"/>
          </a:xfrm>
          <a:prstGeom prst="rect">
            <a:avLst/>
          </a:prstGeom>
          <a:solidFill>
            <a:srgbClr val="E8A020"/>
          </a:solidFill>
          <a:ln/>
        </p:spPr>
      </p:sp>
      <p:sp>
        <p:nvSpPr>
          <p:cNvPr id="15" name="Text 12"/>
          <p:cNvSpPr/>
          <p:nvPr/>
        </p:nvSpPr>
        <p:spPr>
          <a:xfrm>
            <a:off x="822960" y="2359152"/>
            <a:ext cx="10597896" cy="762000"/>
          </a:xfrm>
          <a:prstGeom prst="rect">
            <a:avLst/>
          </a:prstGeom>
          <a:noFill/>
          <a:ln/>
        </p:spPr>
        <p:txBody>
          <a:bodyPr wrap="square" lIns="0" tIns="0" rIns="0" bIns="0" rtlCol="0" anchor="t"/>
          <a:lstStyle/>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git config --global user.name  "Your Name"</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git config --global user.email "you@vanderbilt.edu"</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git config --global init.defaultBranch main</a:t>
            </a:r>
            <a:endParaRPr lang="en-US" sz="1300" dirty="0"/>
          </a:p>
        </p:txBody>
      </p:sp>
      <p:sp>
        <p:nvSpPr>
          <p:cNvPr id="16" name="Text 13"/>
          <p:cNvSpPr/>
          <p:nvPr/>
        </p:nvSpPr>
        <p:spPr>
          <a:xfrm>
            <a:off x="566928" y="3505200"/>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Use the SAME email as your GitHub account so commits attribute to you.</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27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STEP 3 · BOTH</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Generate an SSH key</a:t>
            </a:r>
            <a:endParaRPr lang="en-US" sz="3800" dirty="0"/>
          </a:p>
        </p:txBody>
      </p:sp>
      <p:sp>
        <p:nvSpPr>
          <p:cNvPr id="13" name="Shape 10"/>
          <p:cNvSpPr/>
          <p:nvPr/>
        </p:nvSpPr>
        <p:spPr>
          <a:xfrm>
            <a:off x="566928" y="2194560"/>
            <a:ext cx="11055096" cy="1091184"/>
          </a:xfrm>
          <a:prstGeom prst="rect">
            <a:avLst/>
          </a:prstGeom>
          <a:solidFill>
            <a:srgbClr val="1C1B1A"/>
          </a:solidFill>
          <a:ln/>
        </p:spPr>
      </p:sp>
      <p:sp>
        <p:nvSpPr>
          <p:cNvPr id="14" name="Shape 11"/>
          <p:cNvSpPr/>
          <p:nvPr/>
        </p:nvSpPr>
        <p:spPr>
          <a:xfrm>
            <a:off x="566928" y="2194560"/>
            <a:ext cx="45720" cy="1091184"/>
          </a:xfrm>
          <a:prstGeom prst="rect">
            <a:avLst/>
          </a:prstGeom>
          <a:solidFill>
            <a:srgbClr val="E8A020"/>
          </a:solidFill>
          <a:ln/>
        </p:spPr>
      </p:sp>
      <p:sp>
        <p:nvSpPr>
          <p:cNvPr id="15" name="Text 12"/>
          <p:cNvSpPr/>
          <p:nvPr/>
        </p:nvSpPr>
        <p:spPr>
          <a:xfrm>
            <a:off x="822960" y="2359152"/>
            <a:ext cx="10597896" cy="762000"/>
          </a:xfrm>
          <a:prstGeom prst="rect">
            <a:avLst/>
          </a:prstGeom>
          <a:noFill/>
          <a:ln/>
        </p:spPr>
        <p:txBody>
          <a:bodyPr wrap="square" lIns="0" tIns="0" rIns="0" bIns="0" rtlCol="0" anchor="t"/>
          <a:lstStyle/>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ssh-keygen -t ed25519 -C "you@vanderbilt.edu"</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   press Enter for the default location</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   set a passphrase when prompted (recommended)</a:t>
            </a:r>
            <a:endParaRPr lang="en-US" sz="1300" dirty="0"/>
          </a:p>
        </p:txBody>
      </p:sp>
      <p:sp>
        <p:nvSpPr>
          <p:cNvPr id="16" name="Text 13"/>
          <p:cNvSpPr/>
          <p:nvPr/>
        </p:nvSpPr>
        <p:spPr>
          <a:xfrm>
            <a:off x="566928" y="3505200"/>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An SSH key is how GitHub knows it's really you when you push and pull — no password each time.</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28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STEP 3 · ADD TO GITHUB</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Add your key to GitHub</a:t>
            </a:r>
            <a:endParaRPr lang="en-US" sz="3800" dirty="0"/>
          </a:p>
        </p:txBody>
      </p:sp>
      <p:sp>
        <p:nvSpPr>
          <p:cNvPr id="13" name="Shape 10"/>
          <p:cNvSpPr/>
          <p:nvPr/>
        </p:nvSpPr>
        <p:spPr>
          <a:xfrm>
            <a:off x="566928" y="2194560"/>
            <a:ext cx="310896" cy="310896"/>
          </a:xfrm>
          <a:prstGeom prst="rect">
            <a:avLst/>
          </a:prstGeom>
          <a:solidFill>
            <a:srgbClr val="1F1B12"/>
          </a:solidFill>
          <a:ln w="12700">
            <a:solidFill>
              <a:srgbClr val="E8A02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65633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Open the file </a:t>
            </a:r>
            <a:pPr indent="0" marL="0">
              <a:lnSpc>
                <a:spcPct val="110000"/>
              </a:lnSpc>
              <a:buNone/>
            </a:pPr>
            <a:r>
              <a:rPr lang="en-US" sz="1600" b="1" dirty="0">
                <a:solidFill>
                  <a:srgbClr val="FFFFFF"/>
                </a:solidFill>
                <a:latin typeface="Arial" pitchFamily="34" charset="0"/>
                <a:ea typeface="Arial" pitchFamily="34" charset="-122"/>
                <a:cs typeface="Arial" pitchFamily="34" charset="-120"/>
              </a:rPr>
              <a:t>~/.ssh/id_ed25519.pub</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(Finder / File Explorer or any text editor) and copy all of it</a:t>
            </a:r>
            <a:endParaRPr lang="en-US" sz="1600" dirty="0"/>
          </a:p>
        </p:txBody>
      </p:sp>
      <p:sp>
        <p:nvSpPr>
          <p:cNvPr id="16" name="Shape 13"/>
          <p:cNvSpPr/>
          <p:nvPr/>
        </p:nvSpPr>
        <p:spPr>
          <a:xfrm>
            <a:off x="566928" y="2942336"/>
            <a:ext cx="310896" cy="310896"/>
          </a:xfrm>
          <a:prstGeom prst="rect">
            <a:avLst/>
          </a:prstGeom>
          <a:solidFill>
            <a:srgbClr val="1F1B12"/>
          </a:solidFill>
          <a:ln w="12700">
            <a:solidFill>
              <a:srgbClr val="E8A020"/>
            </a:solidFill>
            <a:prstDash val="solid"/>
          </a:ln>
        </p:spPr>
      </p:sp>
      <p:sp>
        <p:nvSpPr>
          <p:cNvPr id="17" name="Text 14"/>
          <p:cNvSpPr/>
          <p:nvPr/>
        </p:nvSpPr>
        <p:spPr>
          <a:xfrm>
            <a:off x="566928" y="2942336"/>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914904"/>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GitHub → your avatar → </a:t>
            </a:r>
            <a:pPr indent="0" marL="0">
              <a:lnSpc>
                <a:spcPct val="110000"/>
              </a:lnSpc>
              <a:buNone/>
            </a:pPr>
            <a:r>
              <a:rPr lang="en-US" sz="1600" b="1" dirty="0">
                <a:solidFill>
                  <a:srgbClr val="FFFFFF"/>
                </a:solidFill>
                <a:latin typeface="Arial" pitchFamily="34" charset="0"/>
                <a:ea typeface="Arial" pitchFamily="34" charset="-122"/>
                <a:cs typeface="Arial" pitchFamily="34" charset="-120"/>
              </a:rPr>
              <a:t>Settings</a:t>
            </a:r>
            <a:endParaRPr lang="en-US" sz="1600" dirty="0"/>
          </a:p>
        </p:txBody>
      </p:sp>
      <p:sp>
        <p:nvSpPr>
          <p:cNvPr id="19" name="Shape 16"/>
          <p:cNvSpPr/>
          <p:nvPr/>
        </p:nvSpPr>
        <p:spPr>
          <a:xfrm>
            <a:off x="566928" y="3425952"/>
            <a:ext cx="310896" cy="310896"/>
          </a:xfrm>
          <a:prstGeom prst="rect">
            <a:avLst/>
          </a:prstGeom>
          <a:solidFill>
            <a:srgbClr val="1F1B12"/>
          </a:solidFill>
          <a:ln w="12700">
            <a:solidFill>
              <a:srgbClr val="E8A020"/>
            </a:solidFill>
            <a:prstDash val="solid"/>
          </a:ln>
        </p:spPr>
      </p:sp>
      <p:sp>
        <p:nvSpPr>
          <p:cNvPr id="20" name="Text 17"/>
          <p:cNvSpPr/>
          <p:nvPr/>
        </p:nvSpPr>
        <p:spPr>
          <a:xfrm>
            <a:off x="566928" y="3425952"/>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3</a:t>
            </a:r>
            <a:endParaRPr lang="en-US" sz="1200" dirty="0"/>
          </a:p>
        </p:txBody>
      </p:sp>
      <p:sp>
        <p:nvSpPr>
          <p:cNvPr id="21" name="Text 18"/>
          <p:cNvSpPr/>
          <p:nvPr/>
        </p:nvSpPr>
        <p:spPr>
          <a:xfrm>
            <a:off x="1042416" y="3398520"/>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SSH and GPG keys</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a:t>
            </a:r>
            <a:pPr indent="0" marL="0">
              <a:lnSpc>
                <a:spcPct val="110000"/>
              </a:lnSpc>
              <a:buNone/>
            </a:pPr>
            <a:r>
              <a:rPr lang="en-US" sz="1600" b="1" dirty="0">
                <a:solidFill>
                  <a:srgbClr val="FFFFFF"/>
                </a:solidFill>
                <a:latin typeface="Arial" pitchFamily="34" charset="0"/>
                <a:ea typeface="Arial" pitchFamily="34" charset="-122"/>
                <a:cs typeface="Arial" pitchFamily="34" charset="-120"/>
              </a:rPr>
              <a:t>New SSH key</a:t>
            </a:r>
            <a:endParaRPr lang="en-US" sz="1600" dirty="0"/>
          </a:p>
        </p:txBody>
      </p:sp>
      <p:sp>
        <p:nvSpPr>
          <p:cNvPr id="22" name="Shape 19"/>
          <p:cNvSpPr/>
          <p:nvPr/>
        </p:nvSpPr>
        <p:spPr>
          <a:xfrm>
            <a:off x="566928" y="3909568"/>
            <a:ext cx="310896" cy="310896"/>
          </a:xfrm>
          <a:prstGeom prst="rect">
            <a:avLst/>
          </a:prstGeom>
          <a:solidFill>
            <a:srgbClr val="1F1B12"/>
          </a:solidFill>
          <a:ln w="12700">
            <a:solidFill>
              <a:srgbClr val="E8A020"/>
            </a:solidFill>
            <a:prstDash val="solid"/>
          </a:ln>
        </p:spPr>
      </p:sp>
      <p:sp>
        <p:nvSpPr>
          <p:cNvPr id="23" name="Text 20"/>
          <p:cNvSpPr/>
          <p:nvPr/>
        </p:nvSpPr>
        <p:spPr>
          <a:xfrm>
            <a:off x="566928" y="3909568"/>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4</a:t>
            </a:r>
            <a:endParaRPr lang="en-US" sz="1200" dirty="0"/>
          </a:p>
        </p:txBody>
      </p:sp>
      <p:sp>
        <p:nvSpPr>
          <p:cNvPr id="24" name="Text 21"/>
          <p:cNvSpPr/>
          <p:nvPr/>
        </p:nvSpPr>
        <p:spPr>
          <a:xfrm>
            <a:off x="1042416" y="3882136"/>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Paste, give it a title (e.g. "MacBook 2026"), → </a:t>
            </a:r>
            <a:pPr indent="0" marL="0">
              <a:lnSpc>
                <a:spcPct val="110000"/>
              </a:lnSpc>
              <a:buNone/>
            </a:pPr>
            <a:r>
              <a:rPr lang="en-US" sz="1600" b="1" dirty="0">
                <a:solidFill>
                  <a:srgbClr val="FFFFFF"/>
                </a:solidFill>
                <a:latin typeface="Arial" pitchFamily="34" charset="0"/>
                <a:ea typeface="Arial" pitchFamily="34" charset="-122"/>
                <a:cs typeface="Arial" pitchFamily="34" charset="-120"/>
              </a:rPr>
              <a:t>Add SSH key</a:t>
            </a:r>
            <a:endParaRPr lang="en-US" sz="1600" dirty="0"/>
          </a:p>
        </p:txBody>
      </p:sp>
      <p:sp>
        <p:nvSpPr>
          <p:cNvPr id="25" name="Shape 22"/>
          <p:cNvSpPr/>
          <p:nvPr/>
        </p:nvSpPr>
        <p:spPr>
          <a:xfrm>
            <a:off x="566928" y="4448048"/>
            <a:ext cx="11055096" cy="1078992"/>
          </a:xfrm>
          <a:prstGeom prst="rect">
            <a:avLst/>
          </a:prstGeom>
          <a:solidFill>
            <a:srgbClr val="241D10"/>
          </a:solidFill>
          <a:ln w="12700">
            <a:solidFill>
              <a:srgbClr val="E8A020"/>
            </a:solidFill>
            <a:prstDash val="solid"/>
          </a:ln>
        </p:spPr>
      </p:sp>
      <p:sp>
        <p:nvSpPr>
          <p:cNvPr id="26" name="Shape 23"/>
          <p:cNvSpPr/>
          <p:nvPr/>
        </p:nvSpPr>
        <p:spPr>
          <a:xfrm>
            <a:off x="566928" y="4448048"/>
            <a:ext cx="54864" cy="1078992"/>
          </a:xfrm>
          <a:prstGeom prst="rect">
            <a:avLst/>
          </a:prstGeom>
          <a:solidFill>
            <a:srgbClr val="E8A020"/>
          </a:solidFill>
          <a:ln/>
        </p:spPr>
      </p:sp>
      <p:sp>
        <p:nvSpPr>
          <p:cNvPr id="27" name="Text 24"/>
          <p:cNvSpPr/>
          <p:nvPr/>
        </p:nvSpPr>
        <p:spPr>
          <a:xfrm>
            <a:off x="822960" y="4557776"/>
            <a:ext cx="10597896" cy="237744"/>
          </a:xfrm>
          <a:prstGeom prst="rect">
            <a:avLst/>
          </a:prstGeom>
          <a:noFill/>
          <a:ln/>
        </p:spPr>
        <p:txBody>
          <a:bodyPr wrap="square" lIns="0" tIns="0" rIns="0" bIns="0" rtlCol="0" anchor="ctr"/>
          <a:lstStyle/>
          <a:p>
            <a:pPr indent="0" marL="0">
              <a:buNone/>
            </a:pPr>
            <a:r>
              <a:rPr lang="en-US" sz="950" spc="200" kern="0" dirty="0">
                <a:solidFill>
                  <a:srgbClr val="E8A020"/>
                </a:solidFill>
                <a:latin typeface="Courier New" pitchFamily="34" charset="0"/>
                <a:ea typeface="Courier New" pitchFamily="34" charset="-122"/>
                <a:cs typeface="Courier New" pitchFamily="34" charset="-120"/>
              </a:rPr>
              <a:t>THE .PUB FILE ONLY</a:t>
            </a:r>
            <a:endParaRPr lang="en-US" sz="950" dirty="0"/>
          </a:p>
        </p:txBody>
      </p:sp>
      <p:sp>
        <p:nvSpPr>
          <p:cNvPr id="28" name="Text 25"/>
          <p:cNvSpPr/>
          <p:nvPr/>
        </p:nvSpPr>
        <p:spPr>
          <a:xfrm>
            <a:off x="822960" y="4832096"/>
            <a:ext cx="10552176" cy="621792"/>
          </a:xfrm>
          <a:prstGeom prst="rect">
            <a:avLst/>
          </a:prstGeom>
          <a:noFill/>
          <a:ln/>
        </p:spPr>
        <p:txBody>
          <a:bodyPr wrap="square" lIns="0" tIns="0" rIns="0" bIns="0" rtlCol="0" anchor="t"/>
          <a:lstStyle/>
          <a:p>
            <a:pPr indent="0" marL="0">
              <a:lnSpc>
                <a:spcPct val="112000"/>
              </a:lnSpc>
              <a:buNone/>
            </a:pPr>
            <a:r>
              <a:rPr lang="en-US" sz="1550" dirty="0">
                <a:solidFill>
                  <a:srgbClr val="EDE9E3"/>
                </a:solidFill>
                <a:latin typeface="Arial" pitchFamily="34" charset="0"/>
                <a:ea typeface="Arial" pitchFamily="34" charset="-122"/>
                <a:cs typeface="Arial" pitchFamily="34" charset="-120"/>
              </a:rPr>
              <a:t>Copy the one ending in </a:t>
            </a:r>
            <a:pPr indent="0" marL="0">
              <a:lnSpc>
                <a:spcPct val="112000"/>
              </a:lnSpc>
              <a:buNone/>
            </a:pPr>
            <a:r>
              <a:rPr lang="en-US" sz="1550" b="1" dirty="0">
                <a:solidFill>
                  <a:srgbClr val="FFFFFF"/>
                </a:solidFill>
                <a:latin typeface="Arial" pitchFamily="34" charset="0"/>
                <a:ea typeface="Arial" pitchFamily="34" charset="-122"/>
                <a:cs typeface="Arial" pitchFamily="34" charset="-120"/>
              </a:rPr>
              <a:t>.pub</a:t>
            </a:r>
            <a:pPr indent="0" marL="0">
              <a:lnSpc>
                <a:spcPct val="112000"/>
              </a:lnSpc>
              <a:buNone/>
            </a:pPr>
            <a:r>
              <a:rPr lang="en-US" sz="1550" dirty="0">
                <a:solidFill>
                  <a:srgbClr val="EDE9E3"/>
                </a:solidFill>
                <a:latin typeface="Arial" pitchFamily="34" charset="0"/>
                <a:ea typeface="Arial" pitchFamily="34" charset="-122"/>
                <a:cs typeface="Arial" pitchFamily="34" charset="-120"/>
              </a:rPr>
              <a:t> (public). The other file is your private key — it never leaves your laptop.</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29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STEP 4 · BOTH</a:t>
            </a:r>
            <a:endParaRPr lang="en-US" sz="1050" dirty="0"/>
          </a:p>
        </p:txBody>
      </p:sp>
      <p:sp>
        <p:nvSpPr>
          <p:cNvPr id="12" name="Text 9"/>
          <p:cNvSpPr/>
          <p:nvPr/>
        </p:nvSpPr>
        <p:spPr>
          <a:xfrm>
            <a:off x="566928" y="1371600"/>
            <a:ext cx="11055096" cy="1225296"/>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GitHub CLI (gh) — and how it differs from git</a:t>
            </a:r>
            <a:endParaRPr lang="en-US" sz="3800" dirty="0"/>
          </a:p>
        </p:txBody>
      </p:sp>
      <p:sp>
        <p:nvSpPr>
          <p:cNvPr id="13" name="Text 10"/>
          <p:cNvSpPr/>
          <p:nvPr/>
        </p:nvSpPr>
        <p:spPr>
          <a:xfrm>
            <a:off x="566928" y="2761488"/>
            <a:ext cx="5298948" cy="274320"/>
          </a:xfrm>
          <a:prstGeom prst="rect">
            <a:avLst/>
          </a:prstGeom>
          <a:noFill/>
          <a:ln/>
        </p:spPr>
        <p:txBody>
          <a:bodyPr wrap="square" lIns="0" tIns="0" rIns="0" bIns="0" rtlCol="0" anchor="ctr"/>
          <a:lstStyle/>
          <a:p>
            <a:pPr indent="0" marL="0">
              <a:buNone/>
            </a:pPr>
            <a:r>
              <a:rPr lang="en-US" sz="1100" spc="100" kern="0" dirty="0">
                <a:solidFill>
                  <a:srgbClr val="E8A020"/>
                </a:solidFill>
                <a:latin typeface="Courier New" pitchFamily="34" charset="0"/>
                <a:ea typeface="Courier New" pitchFamily="34" charset="-122"/>
                <a:cs typeface="Courier New" pitchFamily="34" charset="-120"/>
              </a:rPr>
              <a:t>GIT</a:t>
            </a:r>
            <a:endParaRPr lang="en-US" sz="1100" dirty="0"/>
          </a:p>
        </p:txBody>
      </p:sp>
      <p:sp>
        <p:nvSpPr>
          <p:cNvPr id="14" name="Text 11"/>
          <p:cNvSpPr/>
          <p:nvPr/>
        </p:nvSpPr>
        <p:spPr>
          <a:xfrm>
            <a:off x="6323076" y="2761488"/>
            <a:ext cx="5298948" cy="274320"/>
          </a:xfrm>
          <a:prstGeom prst="rect">
            <a:avLst/>
          </a:prstGeom>
          <a:noFill/>
          <a:ln/>
        </p:spPr>
        <p:txBody>
          <a:bodyPr wrap="square" lIns="0" tIns="0" rIns="0" bIns="0" rtlCol="0" anchor="ctr"/>
          <a:lstStyle/>
          <a:p>
            <a:pPr indent="0" marL="0">
              <a:buNone/>
            </a:pPr>
            <a:r>
              <a:rPr lang="en-US" sz="1100" spc="100" kern="0" dirty="0">
                <a:solidFill>
                  <a:srgbClr val="E8A020"/>
                </a:solidFill>
                <a:latin typeface="Courier New" pitchFamily="34" charset="0"/>
                <a:ea typeface="Courier New" pitchFamily="34" charset="-122"/>
                <a:cs typeface="Courier New" pitchFamily="34" charset="-120"/>
              </a:rPr>
              <a:t>GH (GITHUB CLI)</a:t>
            </a:r>
            <a:endParaRPr lang="en-US" sz="1100" dirty="0"/>
          </a:p>
        </p:txBody>
      </p:sp>
      <p:sp>
        <p:nvSpPr>
          <p:cNvPr id="15" name="Shape 12"/>
          <p:cNvSpPr/>
          <p:nvPr/>
        </p:nvSpPr>
        <p:spPr>
          <a:xfrm>
            <a:off x="566928" y="3072384"/>
            <a:ext cx="5298948" cy="0"/>
          </a:xfrm>
          <a:prstGeom prst="line">
            <a:avLst/>
          </a:prstGeom>
          <a:noFill/>
          <a:ln w="12700">
            <a:solidFill>
              <a:srgbClr val="2A2926"/>
            </a:solidFill>
            <a:prstDash val="solid"/>
          </a:ln>
        </p:spPr>
      </p:sp>
      <p:sp>
        <p:nvSpPr>
          <p:cNvPr id="16" name="Shape 13"/>
          <p:cNvSpPr/>
          <p:nvPr/>
        </p:nvSpPr>
        <p:spPr>
          <a:xfrm>
            <a:off x="6323076" y="3072384"/>
            <a:ext cx="5298948" cy="0"/>
          </a:xfrm>
          <a:prstGeom prst="line">
            <a:avLst/>
          </a:prstGeom>
          <a:noFill/>
          <a:ln w="12700">
            <a:solidFill>
              <a:srgbClr val="2A2926"/>
            </a:solidFill>
            <a:prstDash val="solid"/>
          </a:ln>
        </p:spPr>
      </p:sp>
      <p:sp>
        <p:nvSpPr>
          <p:cNvPr id="17" name="Shape 14"/>
          <p:cNvSpPr/>
          <p:nvPr/>
        </p:nvSpPr>
        <p:spPr>
          <a:xfrm>
            <a:off x="576072" y="3291840"/>
            <a:ext cx="100584" cy="100584"/>
          </a:xfrm>
          <a:prstGeom prst="rect">
            <a:avLst/>
          </a:prstGeom>
          <a:solidFill>
            <a:srgbClr val="E8A020"/>
          </a:solidFill>
          <a:ln/>
        </p:spPr>
      </p:sp>
      <p:sp>
        <p:nvSpPr>
          <p:cNvPr id="18" name="Text 15"/>
          <p:cNvSpPr/>
          <p:nvPr/>
        </p:nvSpPr>
        <p:spPr>
          <a:xfrm>
            <a:off x="859536" y="320040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Manages your </a:t>
            </a:r>
            <a:pPr indent="0" marL="0">
              <a:lnSpc>
                <a:spcPct val="110000"/>
              </a:lnSpc>
              <a:buNone/>
            </a:pPr>
            <a:r>
              <a:rPr lang="en-US" sz="1400" dirty="0">
                <a:solidFill>
                  <a:srgbClr val="E8A020"/>
                </a:solidFill>
                <a:latin typeface="Arial" pitchFamily="34" charset="0"/>
                <a:ea typeface="Arial" pitchFamily="34" charset="-122"/>
                <a:cs typeface="Arial" pitchFamily="34" charset="-120"/>
              </a:rPr>
              <a:t>code</a:t>
            </a:r>
            <a:pPr indent="0" marL="0">
              <a:lnSpc>
                <a:spcPct val="110000"/>
              </a:lnSpc>
              <a:buNone/>
            </a:pPr>
            <a:r>
              <a:rPr lang="en-US" sz="1400" dirty="0">
                <a:solidFill>
                  <a:srgbClr val="EDE9E3"/>
                </a:solidFill>
                <a:latin typeface="Arial" pitchFamily="34" charset="0"/>
                <a:ea typeface="Arial" pitchFamily="34" charset="-122"/>
                <a:cs typeface="Arial" pitchFamily="34" charset="-120"/>
              </a:rPr>
              <a:t> + history</a:t>
            </a:r>
            <a:endParaRPr lang="en-US" sz="1400" dirty="0"/>
          </a:p>
        </p:txBody>
      </p:sp>
      <p:sp>
        <p:nvSpPr>
          <p:cNvPr id="19" name="Shape 16"/>
          <p:cNvSpPr/>
          <p:nvPr/>
        </p:nvSpPr>
        <p:spPr>
          <a:xfrm>
            <a:off x="576072" y="3669284"/>
            <a:ext cx="100584" cy="100584"/>
          </a:xfrm>
          <a:prstGeom prst="rect">
            <a:avLst/>
          </a:prstGeom>
          <a:solidFill>
            <a:srgbClr val="E8A020"/>
          </a:solidFill>
          <a:ln/>
        </p:spPr>
      </p:sp>
      <p:sp>
        <p:nvSpPr>
          <p:cNvPr id="20" name="Text 17"/>
          <p:cNvSpPr/>
          <p:nvPr/>
        </p:nvSpPr>
        <p:spPr>
          <a:xfrm>
            <a:off x="859536" y="3577844"/>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clone, commit, push, pull</a:t>
            </a:r>
            <a:endParaRPr lang="en-US" sz="1400" dirty="0"/>
          </a:p>
        </p:txBody>
      </p:sp>
      <p:sp>
        <p:nvSpPr>
          <p:cNvPr id="21" name="Shape 18"/>
          <p:cNvSpPr/>
          <p:nvPr/>
        </p:nvSpPr>
        <p:spPr>
          <a:xfrm>
            <a:off x="576072" y="4046728"/>
            <a:ext cx="100584" cy="100584"/>
          </a:xfrm>
          <a:prstGeom prst="rect">
            <a:avLst/>
          </a:prstGeom>
          <a:solidFill>
            <a:srgbClr val="E8A020"/>
          </a:solidFill>
          <a:ln/>
        </p:spPr>
      </p:sp>
      <p:sp>
        <p:nvSpPr>
          <p:cNvPr id="22" name="Text 19"/>
          <p:cNvSpPr/>
          <p:nvPr/>
        </p:nvSpPr>
        <p:spPr>
          <a:xfrm>
            <a:off x="859536" y="3955288"/>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Talks to any git host</a:t>
            </a:r>
            <a:endParaRPr lang="en-US" sz="1400" dirty="0"/>
          </a:p>
        </p:txBody>
      </p:sp>
      <p:sp>
        <p:nvSpPr>
          <p:cNvPr id="23" name="Shape 20"/>
          <p:cNvSpPr/>
          <p:nvPr/>
        </p:nvSpPr>
        <p:spPr>
          <a:xfrm>
            <a:off x="6332220" y="3291840"/>
            <a:ext cx="100584" cy="100584"/>
          </a:xfrm>
          <a:prstGeom prst="rect">
            <a:avLst/>
          </a:prstGeom>
          <a:solidFill>
            <a:srgbClr val="E8A020"/>
          </a:solidFill>
          <a:ln/>
        </p:spPr>
      </p:sp>
      <p:sp>
        <p:nvSpPr>
          <p:cNvPr id="24" name="Text 21"/>
          <p:cNvSpPr/>
          <p:nvPr/>
        </p:nvSpPr>
        <p:spPr>
          <a:xfrm>
            <a:off x="6615684" y="320040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Talks to </a:t>
            </a:r>
            <a:pPr indent="0" marL="0">
              <a:lnSpc>
                <a:spcPct val="110000"/>
              </a:lnSpc>
              <a:buNone/>
            </a:pPr>
            <a:r>
              <a:rPr lang="en-US" sz="1400" dirty="0">
                <a:solidFill>
                  <a:srgbClr val="E8A020"/>
                </a:solidFill>
                <a:latin typeface="Arial" pitchFamily="34" charset="0"/>
                <a:ea typeface="Arial" pitchFamily="34" charset="-122"/>
                <a:cs typeface="Arial" pitchFamily="34" charset="-120"/>
              </a:rPr>
              <a:t>GitHub.com's features</a:t>
            </a:r>
            <a:endParaRPr lang="en-US" sz="1400" dirty="0"/>
          </a:p>
        </p:txBody>
      </p:sp>
      <p:sp>
        <p:nvSpPr>
          <p:cNvPr id="25" name="Shape 22"/>
          <p:cNvSpPr/>
          <p:nvPr/>
        </p:nvSpPr>
        <p:spPr>
          <a:xfrm>
            <a:off x="6332220" y="3669284"/>
            <a:ext cx="100584" cy="100584"/>
          </a:xfrm>
          <a:prstGeom prst="rect">
            <a:avLst/>
          </a:prstGeom>
          <a:solidFill>
            <a:srgbClr val="E8A020"/>
          </a:solidFill>
          <a:ln/>
        </p:spPr>
      </p:sp>
      <p:sp>
        <p:nvSpPr>
          <p:cNvPr id="26" name="Text 23"/>
          <p:cNvSpPr/>
          <p:nvPr/>
        </p:nvSpPr>
        <p:spPr>
          <a:xfrm>
            <a:off x="6615684" y="3577844"/>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repos, issues, PRs from the terminal</a:t>
            </a:r>
            <a:endParaRPr lang="en-US" sz="1400" dirty="0"/>
          </a:p>
        </p:txBody>
      </p:sp>
      <p:sp>
        <p:nvSpPr>
          <p:cNvPr id="27" name="Shape 24"/>
          <p:cNvSpPr/>
          <p:nvPr/>
        </p:nvSpPr>
        <p:spPr>
          <a:xfrm>
            <a:off x="6332220" y="4046728"/>
            <a:ext cx="100584" cy="100584"/>
          </a:xfrm>
          <a:prstGeom prst="rect">
            <a:avLst/>
          </a:prstGeom>
          <a:solidFill>
            <a:srgbClr val="E8A020"/>
          </a:solidFill>
          <a:ln/>
        </p:spPr>
      </p:sp>
      <p:sp>
        <p:nvSpPr>
          <p:cNvPr id="28" name="Text 25"/>
          <p:cNvSpPr/>
          <p:nvPr/>
        </p:nvSpPr>
        <p:spPr>
          <a:xfrm>
            <a:off x="6615684" y="3955288"/>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We install it so Claude Code can drive GitHub</a:t>
            </a:r>
            <a:endParaRPr lang="en-US" sz="1400" dirty="0"/>
          </a:p>
        </p:txBody>
      </p:sp>
      <p:sp>
        <p:nvSpPr>
          <p:cNvPr id="29" name="Shape 26"/>
          <p:cNvSpPr/>
          <p:nvPr/>
        </p:nvSpPr>
        <p:spPr>
          <a:xfrm>
            <a:off x="566928" y="4497324"/>
            <a:ext cx="11055096" cy="837184"/>
          </a:xfrm>
          <a:prstGeom prst="rect">
            <a:avLst/>
          </a:prstGeom>
          <a:solidFill>
            <a:srgbClr val="1C1B1A"/>
          </a:solidFill>
          <a:ln/>
        </p:spPr>
      </p:sp>
      <p:sp>
        <p:nvSpPr>
          <p:cNvPr id="30" name="Shape 27"/>
          <p:cNvSpPr/>
          <p:nvPr/>
        </p:nvSpPr>
        <p:spPr>
          <a:xfrm>
            <a:off x="566928" y="4497324"/>
            <a:ext cx="45720" cy="837184"/>
          </a:xfrm>
          <a:prstGeom prst="rect">
            <a:avLst/>
          </a:prstGeom>
          <a:solidFill>
            <a:srgbClr val="E8A020"/>
          </a:solidFill>
          <a:ln/>
        </p:spPr>
      </p:sp>
      <p:sp>
        <p:nvSpPr>
          <p:cNvPr id="31" name="Text 28"/>
          <p:cNvSpPr/>
          <p:nvPr/>
        </p:nvSpPr>
        <p:spPr>
          <a:xfrm>
            <a:off x="822960" y="4661916"/>
            <a:ext cx="10597896" cy="508000"/>
          </a:xfrm>
          <a:prstGeom prst="rect">
            <a:avLst/>
          </a:prstGeom>
          <a:noFill/>
          <a:ln/>
        </p:spPr>
        <p:txBody>
          <a:bodyPr wrap="square" lIns="0" tIns="0" rIns="0" bIns="0" rtlCol="0" anchor="t"/>
          <a:lstStyle/>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 macOS:  brew install gh      Windows:  winget install --id GitHub.cli</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gh auth login     # GitHub.com -&gt; SSH -&gt; login with browser</a:t>
            </a:r>
            <a:endParaRPr lang="en-US" sz="1300" dirty="0"/>
          </a:p>
        </p:txBody>
      </p:sp>
      <p:sp>
        <p:nvSpPr>
          <p:cNvPr id="32" name="Text 29"/>
          <p:cNvSpPr/>
          <p:nvPr/>
        </p:nvSpPr>
        <p:spPr>
          <a:xfrm>
            <a:off x="566928" y="5553964"/>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Today you'll click through issues &amp; PRs on the website — gh is mainly here for Claude Code.</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30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STEP 5 · BOTH</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Claude Code</a:t>
            </a:r>
            <a:endParaRPr lang="en-US" sz="3800" dirty="0"/>
          </a:p>
        </p:txBody>
      </p:sp>
      <p:sp>
        <p:nvSpPr>
          <p:cNvPr id="13" name="Text 10"/>
          <p:cNvSpPr/>
          <p:nvPr/>
        </p:nvSpPr>
        <p:spPr>
          <a:xfrm>
            <a:off x="566928" y="2194560"/>
            <a:ext cx="5298948" cy="274320"/>
          </a:xfrm>
          <a:prstGeom prst="rect">
            <a:avLst/>
          </a:prstGeom>
          <a:noFill/>
          <a:ln/>
        </p:spPr>
        <p:txBody>
          <a:bodyPr wrap="square" lIns="0" tIns="0" rIns="0" bIns="0" rtlCol="0" anchor="ctr"/>
          <a:lstStyle/>
          <a:p>
            <a:pPr indent="0" marL="0">
              <a:buNone/>
            </a:pPr>
            <a:r>
              <a:rPr lang="en-US" sz="1100" spc="100" kern="0" dirty="0">
                <a:solidFill>
                  <a:srgbClr val="E8A020"/>
                </a:solidFill>
                <a:latin typeface="Courier New" pitchFamily="34" charset="0"/>
                <a:ea typeface="Courier New" pitchFamily="34" charset="-122"/>
                <a:cs typeface="Courier New" pitchFamily="34" charset="-120"/>
              </a:rPr>
              <a:t>MACOS / GIT BASH</a:t>
            </a:r>
            <a:endParaRPr lang="en-US" sz="1100" dirty="0"/>
          </a:p>
        </p:txBody>
      </p:sp>
      <p:sp>
        <p:nvSpPr>
          <p:cNvPr id="14" name="Text 11"/>
          <p:cNvSpPr/>
          <p:nvPr/>
        </p:nvSpPr>
        <p:spPr>
          <a:xfrm>
            <a:off x="6323076" y="2194560"/>
            <a:ext cx="5298948" cy="274320"/>
          </a:xfrm>
          <a:prstGeom prst="rect">
            <a:avLst/>
          </a:prstGeom>
          <a:noFill/>
          <a:ln/>
        </p:spPr>
        <p:txBody>
          <a:bodyPr wrap="square" lIns="0" tIns="0" rIns="0" bIns="0" rtlCol="0" anchor="ctr"/>
          <a:lstStyle/>
          <a:p>
            <a:pPr indent="0" marL="0">
              <a:buNone/>
            </a:pPr>
            <a:r>
              <a:rPr lang="en-US" sz="1100" spc="100" kern="0" dirty="0">
                <a:solidFill>
                  <a:srgbClr val="E8A020"/>
                </a:solidFill>
                <a:latin typeface="Courier New" pitchFamily="34" charset="0"/>
                <a:ea typeface="Courier New" pitchFamily="34" charset="-122"/>
                <a:cs typeface="Courier New" pitchFamily="34" charset="-120"/>
              </a:rPr>
              <a:t>WINDOWS (POWERSHELL)</a:t>
            </a:r>
            <a:endParaRPr lang="en-US" sz="1100" dirty="0"/>
          </a:p>
        </p:txBody>
      </p:sp>
      <p:sp>
        <p:nvSpPr>
          <p:cNvPr id="15" name="Shape 12"/>
          <p:cNvSpPr/>
          <p:nvPr/>
        </p:nvSpPr>
        <p:spPr>
          <a:xfrm>
            <a:off x="566928" y="2505456"/>
            <a:ext cx="5298948" cy="0"/>
          </a:xfrm>
          <a:prstGeom prst="line">
            <a:avLst/>
          </a:prstGeom>
          <a:noFill/>
          <a:ln w="12700">
            <a:solidFill>
              <a:srgbClr val="2A2926"/>
            </a:solidFill>
            <a:prstDash val="solid"/>
          </a:ln>
        </p:spPr>
      </p:sp>
      <p:sp>
        <p:nvSpPr>
          <p:cNvPr id="16" name="Shape 13"/>
          <p:cNvSpPr/>
          <p:nvPr/>
        </p:nvSpPr>
        <p:spPr>
          <a:xfrm>
            <a:off x="6323076" y="2505456"/>
            <a:ext cx="5298948" cy="0"/>
          </a:xfrm>
          <a:prstGeom prst="line">
            <a:avLst/>
          </a:prstGeom>
          <a:noFill/>
          <a:ln w="12700">
            <a:solidFill>
              <a:srgbClr val="2A2926"/>
            </a:solidFill>
            <a:prstDash val="solid"/>
          </a:ln>
        </p:spPr>
      </p:sp>
      <p:sp>
        <p:nvSpPr>
          <p:cNvPr id="17" name="Shape 14"/>
          <p:cNvSpPr/>
          <p:nvPr/>
        </p:nvSpPr>
        <p:spPr>
          <a:xfrm>
            <a:off x="566928" y="2651760"/>
            <a:ext cx="5298948" cy="699008"/>
          </a:xfrm>
          <a:prstGeom prst="rect">
            <a:avLst/>
          </a:prstGeom>
          <a:solidFill>
            <a:srgbClr val="1C1B1A"/>
          </a:solidFill>
          <a:ln/>
        </p:spPr>
      </p:sp>
      <p:sp>
        <p:nvSpPr>
          <p:cNvPr id="18" name="Shape 15"/>
          <p:cNvSpPr/>
          <p:nvPr/>
        </p:nvSpPr>
        <p:spPr>
          <a:xfrm>
            <a:off x="566928" y="2651760"/>
            <a:ext cx="45720" cy="699008"/>
          </a:xfrm>
          <a:prstGeom prst="rect">
            <a:avLst/>
          </a:prstGeom>
          <a:solidFill>
            <a:srgbClr val="E8A020"/>
          </a:solidFill>
          <a:ln/>
        </p:spPr>
      </p:sp>
      <p:sp>
        <p:nvSpPr>
          <p:cNvPr id="19" name="Text 16"/>
          <p:cNvSpPr/>
          <p:nvPr/>
        </p:nvSpPr>
        <p:spPr>
          <a:xfrm>
            <a:off x="768096" y="2798064"/>
            <a:ext cx="4978908" cy="406400"/>
          </a:xfrm>
          <a:prstGeom prst="rect">
            <a:avLst/>
          </a:prstGeom>
          <a:noFill/>
          <a:ln/>
        </p:spPr>
        <p:txBody>
          <a:bodyPr wrap="square" lIns="0" tIns="0" rIns="0" bIns="0" rtlCol="0" anchor="t"/>
          <a:lstStyle/>
          <a:p>
            <a:pPr indent="0" marL="0">
              <a:lnSpc>
                <a:spcPts val="1600"/>
              </a:lnSpc>
              <a:buNone/>
            </a:pPr>
            <a:r>
              <a:rPr lang="en-US" sz="1050" dirty="0">
                <a:solidFill>
                  <a:srgbClr val="EDE9E3"/>
                </a:solidFill>
                <a:latin typeface="Courier New" pitchFamily="34" charset="0"/>
                <a:ea typeface="Courier New" pitchFamily="34" charset="-122"/>
                <a:cs typeface="Courier New" pitchFamily="34" charset="-120"/>
              </a:rPr>
              <a:t>curl -fsSL https://claude.ai/install.sh \</a:t>
            </a:r>
            <a:endParaRPr lang="en-US" sz="1050" dirty="0"/>
          </a:p>
          <a:p>
            <a:pPr indent="0" marL="0">
              <a:lnSpc>
                <a:spcPts val="1600"/>
              </a:lnSpc>
              <a:buNone/>
            </a:pPr>
            <a:r>
              <a:rPr lang="en-US" sz="1050" dirty="0">
                <a:solidFill>
                  <a:srgbClr val="EDE9E3"/>
                </a:solidFill>
                <a:latin typeface="Courier New" pitchFamily="34" charset="0"/>
                <a:ea typeface="Courier New" pitchFamily="34" charset="-122"/>
                <a:cs typeface="Courier New" pitchFamily="34" charset="-120"/>
              </a:rPr>
              <a:t>  | bash</a:t>
            </a:r>
            <a:endParaRPr lang="en-US" sz="1050" dirty="0"/>
          </a:p>
        </p:txBody>
      </p:sp>
      <p:sp>
        <p:nvSpPr>
          <p:cNvPr id="20" name="Shape 17"/>
          <p:cNvSpPr/>
          <p:nvPr/>
        </p:nvSpPr>
        <p:spPr>
          <a:xfrm>
            <a:off x="6323076" y="2651760"/>
            <a:ext cx="5298948" cy="699008"/>
          </a:xfrm>
          <a:prstGeom prst="rect">
            <a:avLst/>
          </a:prstGeom>
          <a:solidFill>
            <a:srgbClr val="1C1B1A"/>
          </a:solidFill>
          <a:ln/>
        </p:spPr>
      </p:sp>
      <p:sp>
        <p:nvSpPr>
          <p:cNvPr id="21" name="Shape 18"/>
          <p:cNvSpPr/>
          <p:nvPr/>
        </p:nvSpPr>
        <p:spPr>
          <a:xfrm>
            <a:off x="6323076" y="2651760"/>
            <a:ext cx="45720" cy="699008"/>
          </a:xfrm>
          <a:prstGeom prst="rect">
            <a:avLst/>
          </a:prstGeom>
          <a:solidFill>
            <a:srgbClr val="E8A020"/>
          </a:solidFill>
          <a:ln/>
        </p:spPr>
      </p:sp>
      <p:sp>
        <p:nvSpPr>
          <p:cNvPr id="22" name="Text 19"/>
          <p:cNvSpPr/>
          <p:nvPr/>
        </p:nvSpPr>
        <p:spPr>
          <a:xfrm>
            <a:off x="6524244" y="2798064"/>
            <a:ext cx="4978908" cy="406400"/>
          </a:xfrm>
          <a:prstGeom prst="rect">
            <a:avLst/>
          </a:prstGeom>
          <a:noFill/>
          <a:ln/>
        </p:spPr>
        <p:txBody>
          <a:bodyPr wrap="square" lIns="0" tIns="0" rIns="0" bIns="0" rtlCol="0" anchor="t"/>
          <a:lstStyle/>
          <a:p>
            <a:pPr indent="0" marL="0">
              <a:lnSpc>
                <a:spcPts val="1600"/>
              </a:lnSpc>
              <a:buNone/>
            </a:pPr>
            <a:r>
              <a:rPr lang="en-US" sz="1050" dirty="0">
                <a:solidFill>
                  <a:srgbClr val="EDE9E3"/>
                </a:solidFill>
                <a:latin typeface="Courier New" pitchFamily="34" charset="0"/>
                <a:ea typeface="Courier New" pitchFamily="34" charset="-122"/>
                <a:cs typeface="Courier New" pitchFamily="34" charset="-120"/>
              </a:rPr>
              <a:t>irm https://claude.ai/install.ps1 | iex</a:t>
            </a:r>
            <a:endParaRPr lang="en-US" sz="1050" dirty="0"/>
          </a:p>
        </p:txBody>
      </p:sp>
      <p:sp>
        <p:nvSpPr>
          <p:cNvPr id="23" name="Shape 20"/>
          <p:cNvSpPr/>
          <p:nvPr/>
        </p:nvSpPr>
        <p:spPr>
          <a:xfrm>
            <a:off x="566928" y="3570224"/>
            <a:ext cx="11055096" cy="837184"/>
          </a:xfrm>
          <a:prstGeom prst="rect">
            <a:avLst/>
          </a:prstGeom>
          <a:solidFill>
            <a:srgbClr val="1C1B1A"/>
          </a:solidFill>
          <a:ln/>
        </p:spPr>
      </p:sp>
      <p:sp>
        <p:nvSpPr>
          <p:cNvPr id="24" name="Shape 21"/>
          <p:cNvSpPr/>
          <p:nvPr/>
        </p:nvSpPr>
        <p:spPr>
          <a:xfrm>
            <a:off x="566928" y="3570224"/>
            <a:ext cx="45720" cy="837184"/>
          </a:xfrm>
          <a:prstGeom prst="rect">
            <a:avLst/>
          </a:prstGeom>
          <a:solidFill>
            <a:srgbClr val="E8A020"/>
          </a:solidFill>
          <a:ln/>
        </p:spPr>
      </p:sp>
      <p:sp>
        <p:nvSpPr>
          <p:cNvPr id="25" name="Text 22"/>
          <p:cNvSpPr/>
          <p:nvPr/>
        </p:nvSpPr>
        <p:spPr>
          <a:xfrm>
            <a:off x="822960" y="3734816"/>
            <a:ext cx="10597896" cy="508000"/>
          </a:xfrm>
          <a:prstGeom prst="rect">
            <a:avLst/>
          </a:prstGeom>
          <a:noFill/>
          <a:ln/>
        </p:spPr>
        <p:txBody>
          <a:bodyPr wrap="square" lIns="0" tIns="0" rIns="0" bIns="0" rtlCol="0" anchor="t"/>
          <a:lstStyle/>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claude --version</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claude          # launches; log in via the browser prompt</a:t>
            </a:r>
            <a:endParaRPr lang="en-US" sz="1300" dirty="0"/>
          </a:p>
        </p:txBody>
      </p:sp>
      <p:sp>
        <p:nvSpPr>
          <p:cNvPr id="26" name="Text 23"/>
          <p:cNvSpPr/>
          <p:nvPr/>
        </p:nvSpPr>
        <p:spPr>
          <a:xfrm>
            <a:off x="566928" y="4626864"/>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Native installer — no Node required. Uses your Claude account. It can read your repo and make branches, commits, and PRs for you.</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31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STEP 6 · BOTH</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Create a Hugging Face account</a:t>
            </a:r>
            <a:endParaRPr lang="en-US" sz="3800" dirty="0"/>
          </a:p>
        </p:txBody>
      </p:sp>
      <p:sp>
        <p:nvSpPr>
          <p:cNvPr id="13" name="Shape 10"/>
          <p:cNvSpPr/>
          <p:nvPr/>
        </p:nvSpPr>
        <p:spPr>
          <a:xfrm>
            <a:off x="566928" y="2194560"/>
            <a:ext cx="310896" cy="310896"/>
          </a:xfrm>
          <a:prstGeom prst="rect">
            <a:avLst/>
          </a:prstGeom>
          <a:solidFill>
            <a:srgbClr val="1F1B12"/>
          </a:solidFill>
          <a:ln w="12700">
            <a:solidFill>
              <a:srgbClr val="E8A02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Sign up at </a:t>
            </a:r>
            <a:pPr indent="0" marL="0">
              <a:lnSpc>
                <a:spcPct val="110000"/>
              </a:lnSpc>
              <a:buNone/>
            </a:pPr>
            <a:r>
              <a:rPr lang="en-US" sz="1600" b="1" dirty="0">
                <a:solidFill>
                  <a:srgbClr val="FFFFFF"/>
                </a:solidFill>
                <a:latin typeface="Arial" pitchFamily="34" charset="0"/>
                <a:ea typeface="Arial" pitchFamily="34" charset="-122"/>
                <a:cs typeface="Arial" pitchFamily="34" charset="-120"/>
              </a:rPr>
              <a:t>huggingface.co</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and verify your email</a:t>
            </a:r>
            <a:endParaRPr lang="en-US" sz="1600" dirty="0"/>
          </a:p>
        </p:txBody>
      </p:sp>
      <p:sp>
        <p:nvSpPr>
          <p:cNvPr id="16" name="Shape 13"/>
          <p:cNvSpPr/>
          <p:nvPr/>
        </p:nvSpPr>
        <p:spPr>
          <a:xfrm>
            <a:off x="566928" y="2678176"/>
            <a:ext cx="310896" cy="310896"/>
          </a:xfrm>
          <a:prstGeom prst="rect">
            <a:avLst/>
          </a:prstGeom>
          <a:solidFill>
            <a:srgbClr val="1F1B12"/>
          </a:solidFill>
          <a:ln w="12700">
            <a:solidFill>
              <a:srgbClr val="E8A020"/>
            </a:solidFill>
            <a:prstDash val="solid"/>
          </a:ln>
        </p:spPr>
      </p:sp>
      <p:sp>
        <p:nvSpPr>
          <p:cNvPr id="17" name="Text 14"/>
          <p:cNvSpPr/>
          <p:nvPr/>
        </p:nvSpPr>
        <p:spPr>
          <a:xfrm>
            <a:off x="566928" y="2678176"/>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650744"/>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Settings → Access Tokens</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create a </a:t>
            </a:r>
            <a:pPr indent="0" marL="0">
              <a:lnSpc>
                <a:spcPct val="110000"/>
              </a:lnSpc>
              <a:buNone/>
            </a:pPr>
            <a:r>
              <a:rPr lang="en-US" sz="1600" b="1" dirty="0">
                <a:solidFill>
                  <a:srgbClr val="FFFFFF"/>
                </a:solidFill>
                <a:latin typeface="Arial" pitchFamily="34" charset="0"/>
                <a:ea typeface="Arial" pitchFamily="34" charset="-122"/>
                <a:cs typeface="Arial" pitchFamily="34" charset="-120"/>
              </a:rPr>
              <a:t>read</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token; save it</a:t>
            </a:r>
            <a:endParaRPr lang="en-US" sz="1600" dirty="0"/>
          </a:p>
        </p:txBody>
      </p:sp>
      <p:sp>
        <p:nvSpPr>
          <p:cNvPr id="19" name="Shape 16"/>
          <p:cNvSpPr/>
          <p:nvPr/>
        </p:nvSpPr>
        <p:spPr>
          <a:xfrm>
            <a:off x="566928" y="3216656"/>
            <a:ext cx="11055096" cy="841248"/>
          </a:xfrm>
          <a:prstGeom prst="rect">
            <a:avLst/>
          </a:prstGeom>
          <a:solidFill>
            <a:srgbClr val="241D10"/>
          </a:solidFill>
          <a:ln w="12700">
            <a:solidFill>
              <a:srgbClr val="E8A020"/>
            </a:solidFill>
            <a:prstDash val="solid"/>
          </a:ln>
        </p:spPr>
      </p:sp>
      <p:sp>
        <p:nvSpPr>
          <p:cNvPr id="20" name="Shape 17"/>
          <p:cNvSpPr/>
          <p:nvPr/>
        </p:nvSpPr>
        <p:spPr>
          <a:xfrm>
            <a:off x="566928" y="3216656"/>
            <a:ext cx="54864" cy="841248"/>
          </a:xfrm>
          <a:prstGeom prst="rect">
            <a:avLst/>
          </a:prstGeom>
          <a:solidFill>
            <a:srgbClr val="E8A020"/>
          </a:solidFill>
          <a:ln/>
        </p:spPr>
      </p:sp>
      <p:sp>
        <p:nvSpPr>
          <p:cNvPr id="21" name="Text 18"/>
          <p:cNvSpPr/>
          <p:nvPr/>
        </p:nvSpPr>
        <p:spPr>
          <a:xfrm>
            <a:off x="822960" y="3326384"/>
            <a:ext cx="10597896" cy="237744"/>
          </a:xfrm>
          <a:prstGeom prst="rect">
            <a:avLst/>
          </a:prstGeom>
          <a:noFill/>
          <a:ln/>
        </p:spPr>
        <p:txBody>
          <a:bodyPr wrap="square" lIns="0" tIns="0" rIns="0" bIns="0" rtlCol="0" anchor="ctr"/>
          <a:lstStyle/>
          <a:p>
            <a:pPr indent="0" marL="0">
              <a:buNone/>
            </a:pPr>
            <a:r>
              <a:rPr lang="en-US" sz="950" spc="200" kern="0" dirty="0">
                <a:solidFill>
                  <a:srgbClr val="E8A020"/>
                </a:solidFill>
                <a:latin typeface="Courier New" pitchFamily="34" charset="0"/>
                <a:ea typeface="Courier New" pitchFamily="34" charset="-122"/>
                <a:cs typeface="Courier New" pitchFamily="34" charset="-120"/>
              </a:rPr>
              <a:t>FOR LATER — NOT TODAY</a:t>
            </a:r>
            <a:endParaRPr lang="en-US" sz="950" dirty="0"/>
          </a:p>
        </p:txBody>
      </p:sp>
      <p:sp>
        <p:nvSpPr>
          <p:cNvPr id="22" name="Text 19"/>
          <p:cNvSpPr/>
          <p:nvPr/>
        </p:nvSpPr>
        <p:spPr>
          <a:xfrm>
            <a:off x="822960" y="3600704"/>
            <a:ext cx="10552176" cy="384048"/>
          </a:xfrm>
          <a:prstGeom prst="rect">
            <a:avLst/>
          </a:prstGeom>
          <a:noFill/>
          <a:ln/>
        </p:spPr>
        <p:txBody>
          <a:bodyPr wrap="square" lIns="0" tIns="0" rIns="0" bIns="0" rtlCol="0" anchor="t"/>
          <a:lstStyle/>
          <a:p>
            <a:pPr indent="0" marL="0">
              <a:lnSpc>
                <a:spcPct val="112000"/>
              </a:lnSpc>
              <a:buNone/>
            </a:pPr>
            <a:r>
              <a:rPr lang="en-US" sz="1550" dirty="0">
                <a:solidFill>
                  <a:srgbClr val="EDE9E3"/>
                </a:solidFill>
                <a:latin typeface="Arial" pitchFamily="34" charset="0"/>
                <a:ea typeface="Arial" pitchFamily="34" charset="-122"/>
                <a:cs typeface="Arial" pitchFamily="34" charset="-120"/>
              </a:rPr>
              <a:t>So you're ready to pull models (LM Studio, Colab, ACCRE) later in the program.</a:t>
            </a:r>
            <a:endParaRPr lang="en-US" sz="15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32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CHECKPOINT</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Setup checklist</a:t>
            </a:r>
            <a:endParaRPr lang="en-US" sz="3800" dirty="0"/>
          </a:p>
        </p:txBody>
      </p:sp>
      <p:sp>
        <p:nvSpPr>
          <p:cNvPr id="13" name="Shape 10"/>
          <p:cNvSpPr/>
          <p:nvPr/>
        </p:nvSpPr>
        <p:spPr>
          <a:xfrm>
            <a:off x="585216" y="2276856"/>
            <a:ext cx="109728" cy="109728"/>
          </a:xfrm>
          <a:prstGeom prst="rect">
            <a:avLst/>
          </a:prstGeom>
          <a:solidFill>
            <a:srgbClr val="E8A020"/>
          </a:solidFill>
          <a:ln/>
        </p:spPr>
      </p:sp>
      <p:sp>
        <p:nvSpPr>
          <p:cNvPr id="14" name="Text 11"/>
          <p:cNvSpPr/>
          <p:nvPr/>
        </p:nvSpPr>
        <p:spPr>
          <a:xfrm>
            <a:off x="896112" y="2176272"/>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git</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installed</a:t>
            </a:r>
            <a:endParaRPr lang="en-US" sz="1600" dirty="0"/>
          </a:p>
        </p:txBody>
      </p:sp>
      <p:sp>
        <p:nvSpPr>
          <p:cNvPr id="15" name="Shape 12"/>
          <p:cNvSpPr/>
          <p:nvPr/>
        </p:nvSpPr>
        <p:spPr>
          <a:xfrm>
            <a:off x="585216" y="2687320"/>
            <a:ext cx="109728" cy="109728"/>
          </a:xfrm>
          <a:prstGeom prst="rect">
            <a:avLst/>
          </a:prstGeom>
          <a:solidFill>
            <a:srgbClr val="E8A020"/>
          </a:solidFill>
          <a:ln/>
        </p:spPr>
      </p:sp>
      <p:sp>
        <p:nvSpPr>
          <p:cNvPr id="16" name="Text 13"/>
          <p:cNvSpPr/>
          <p:nvPr/>
        </p:nvSpPr>
        <p:spPr>
          <a:xfrm>
            <a:off x="896112" y="258673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SSH key </a:t>
            </a:r>
            <a:pPr indent="0" marL="0">
              <a:lnSpc>
                <a:spcPct val="110000"/>
              </a:lnSpc>
              <a:buNone/>
            </a:pPr>
            <a:r>
              <a:rPr lang="en-US" sz="1600" b="1" dirty="0">
                <a:solidFill>
                  <a:srgbClr val="FFFFFF"/>
                </a:solidFill>
                <a:latin typeface="Arial" pitchFamily="34" charset="0"/>
                <a:ea typeface="Arial" pitchFamily="34" charset="-122"/>
                <a:cs typeface="Arial" pitchFamily="34" charset="-120"/>
              </a:rPr>
              <a:t>added to GitHub</a:t>
            </a:r>
            <a:endParaRPr lang="en-US" sz="1600" dirty="0"/>
          </a:p>
        </p:txBody>
      </p:sp>
      <p:sp>
        <p:nvSpPr>
          <p:cNvPr id="17" name="Shape 14"/>
          <p:cNvSpPr/>
          <p:nvPr/>
        </p:nvSpPr>
        <p:spPr>
          <a:xfrm>
            <a:off x="585216" y="3097784"/>
            <a:ext cx="109728" cy="109728"/>
          </a:xfrm>
          <a:prstGeom prst="rect">
            <a:avLst/>
          </a:prstGeom>
          <a:solidFill>
            <a:srgbClr val="E8A020"/>
          </a:solidFill>
          <a:ln/>
        </p:spPr>
      </p:sp>
      <p:sp>
        <p:nvSpPr>
          <p:cNvPr id="18" name="Text 15"/>
          <p:cNvSpPr/>
          <p:nvPr/>
        </p:nvSpPr>
        <p:spPr>
          <a:xfrm>
            <a:off x="896112" y="2997200"/>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gh</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logged in</a:t>
            </a:r>
            <a:endParaRPr lang="en-US" sz="1600" dirty="0"/>
          </a:p>
        </p:txBody>
      </p:sp>
      <p:sp>
        <p:nvSpPr>
          <p:cNvPr id="19" name="Shape 16"/>
          <p:cNvSpPr/>
          <p:nvPr/>
        </p:nvSpPr>
        <p:spPr>
          <a:xfrm>
            <a:off x="585216" y="3508248"/>
            <a:ext cx="109728" cy="109728"/>
          </a:xfrm>
          <a:prstGeom prst="rect">
            <a:avLst/>
          </a:prstGeom>
          <a:solidFill>
            <a:srgbClr val="E8A020"/>
          </a:solidFill>
          <a:ln/>
        </p:spPr>
      </p:sp>
      <p:sp>
        <p:nvSpPr>
          <p:cNvPr id="20" name="Text 17"/>
          <p:cNvSpPr/>
          <p:nvPr/>
        </p:nvSpPr>
        <p:spPr>
          <a:xfrm>
            <a:off x="896112" y="3407664"/>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Claude Code</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launches</a:t>
            </a:r>
            <a:endParaRPr lang="en-US" sz="1600" dirty="0"/>
          </a:p>
        </p:txBody>
      </p:sp>
      <p:sp>
        <p:nvSpPr>
          <p:cNvPr id="21" name="Shape 18"/>
          <p:cNvSpPr/>
          <p:nvPr/>
        </p:nvSpPr>
        <p:spPr>
          <a:xfrm>
            <a:off x="585216" y="3918712"/>
            <a:ext cx="109728" cy="109728"/>
          </a:xfrm>
          <a:prstGeom prst="rect">
            <a:avLst/>
          </a:prstGeom>
          <a:solidFill>
            <a:srgbClr val="E8A020"/>
          </a:solidFill>
          <a:ln/>
        </p:spPr>
      </p:sp>
      <p:sp>
        <p:nvSpPr>
          <p:cNvPr id="22" name="Text 19"/>
          <p:cNvSpPr/>
          <p:nvPr/>
        </p:nvSpPr>
        <p:spPr>
          <a:xfrm>
            <a:off x="896112" y="3818128"/>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Hugging Face</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account created</a:t>
            </a:r>
            <a:endParaRPr lang="en-US" sz="1600" dirty="0"/>
          </a:p>
        </p:txBody>
      </p:sp>
      <p:sp>
        <p:nvSpPr>
          <p:cNvPr id="23" name="Text 20"/>
          <p:cNvSpPr/>
          <p:nvPr/>
        </p:nvSpPr>
        <p:spPr>
          <a:xfrm>
            <a:off x="566928" y="4338320"/>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We'll confirm SSH works for real in a moment — when we clone a repo. Raise a hand if you're still working through a step and Jesse will come help.</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33 — 48</a:t>
            </a:r>
            <a:endParaRPr lang="en-US" sz="800" dirty="0"/>
          </a:p>
        </p:txBody>
      </p:sp>
      <p:sp>
        <p:nvSpPr>
          <p:cNvPr id="10" name="Text 7"/>
          <p:cNvSpPr/>
          <p:nvPr/>
        </p:nvSpPr>
        <p:spPr>
          <a:xfrm>
            <a:off x="566928" y="2651760"/>
            <a:ext cx="11055096" cy="1280160"/>
          </a:xfrm>
          <a:prstGeom prst="rect">
            <a:avLst/>
          </a:prstGeom>
          <a:noFill/>
          <a:ln/>
        </p:spPr>
        <p:txBody>
          <a:bodyPr wrap="square" lIns="0" tIns="0" rIns="0" bIns="0" rtlCol="0" anchor="t"/>
          <a:lstStyle/>
          <a:p>
            <a:pPr indent="0" marL="0">
              <a:lnSpc>
                <a:spcPct val="98000"/>
              </a:lnSpc>
              <a:buNone/>
            </a:pPr>
            <a:r>
              <a:rPr lang="en-US" sz="5400" b="1" dirty="0">
                <a:solidFill>
                  <a:srgbClr val="EDE9E3"/>
                </a:solidFill>
                <a:latin typeface="Arial" pitchFamily="34" charset="0"/>
                <a:ea typeface="Arial" pitchFamily="34" charset="-122"/>
                <a:cs typeface="Arial" pitchFamily="34" charset="-120"/>
              </a:rPr>
              <a:t>☕  Break</a:t>
            </a:r>
            <a:endParaRPr lang="en-US" sz="5400" dirty="0"/>
          </a:p>
        </p:txBody>
      </p:sp>
      <p:sp>
        <p:nvSpPr>
          <p:cNvPr id="11" name="Text 8"/>
          <p:cNvSpPr/>
          <p:nvPr/>
        </p:nvSpPr>
        <p:spPr>
          <a:xfrm>
            <a:off x="566928" y="3886200"/>
            <a:ext cx="10140696" cy="914400"/>
          </a:xfrm>
          <a:prstGeom prst="rect">
            <a:avLst/>
          </a:prstGeom>
          <a:noFill/>
          <a:ln/>
        </p:spPr>
        <p:txBody>
          <a:bodyPr wrap="square" lIns="0" tIns="0" rIns="0" bIns="0" rtlCol="0" anchor="t"/>
          <a:lstStyle/>
          <a:p>
            <a:pPr indent="0" marL="0">
              <a:lnSpc>
                <a:spcPct val="110000"/>
              </a:lnSpc>
              <a:buNone/>
            </a:pPr>
            <a:r>
              <a:rPr lang="en-US" sz="2200" i="1" dirty="0">
                <a:solidFill>
                  <a:srgbClr val="8C8880"/>
                </a:solidFill>
                <a:latin typeface="Cambria" pitchFamily="34" charset="0"/>
                <a:ea typeface="Cambria" pitchFamily="34" charset="-122"/>
                <a:cs typeface="Cambria" pitchFamily="34" charset="-120"/>
              </a:rPr>
              <a:t>15 minutes. Grab water, charge up — back together for GitHub Flow.</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34 — 48</a:t>
            </a:r>
            <a:endParaRPr lang="en-US" sz="800" dirty="0"/>
          </a:p>
        </p:txBody>
      </p:sp>
      <p:sp>
        <p:nvSpPr>
          <p:cNvPr id="10" name="Text 7"/>
          <p:cNvSpPr/>
          <p:nvPr/>
        </p:nvSpPr>
        <p:spPr>
          <a:xfrm>
            <a:off x="566928" y="2331720"/>
            <a:ext cx="11055096" cy="640080"/>
          </a:xfrm>
          <a:prstGeom prst="rect">
            <a:avLst/>
          </a:prstGeom>
          <a:noFill/>
          <a:ln/>
        </p:spPr>
        <p:txBody>
          <a:bodyPr wrap="square" lIns="0" tIns="0" rIns="0" bIns="0" rtlCol="0" anchor="ctr"/>
          <a:lstStyle/>
          <a:p>
            <a:pPr indent="0" marL="0">
              <a:buNone/>
            </a:pPr>
            <a:r>
              <a:rPr lang="en-US" sz="2200" spc="300" kern="0" dirty="0">
                <a:solidFill>
                  <a:srgbClr val="E8A020"/>
                </a:solidFill>
                <a:latin typeface="Courier New" pitchFamily="34" charset="0"/>
                <a:ea typeface="Courier New" pitchFamily="34" charset="-122"/>
                <a:cs typeface="Courier New" pitchFamily="34" charset="-120"/>
              </a:rPr>
              <a:t>03</a:t>
            </a:r>
            <a:endParaRPr lang="en-US" sz="2200" dirty="0"/>
          </a:p>
        </p:txBody>
      </p:sp>
      <p:sp>
        <p:nvSpPr>
          <p:cNvPr id="11" name="Text 8"/>
          <p:cNvSpPr/>
          <p:nvPr/>
        </p:nvSpPr>
        <p:spPr>
          <a:xfrm>
            <a:off x="566928" y="2880360"/>
            <a:ext cx="11055096" cy="1280160"/>
          </a:xfrm>
          <a:prstGeom prst="rect">
            <a:avLst/>
          </a:prstGeom>
          <a:noFill/>
          <a:ln/>
        </p:spPr>
        <p:txBody>
          <a:bodyPr wrap="square" lIns="0" tIns="0" rIns="0" bIns="0" rtlCol="0" anchor="t"/>
          <a:lstStyle/>
          <a:p>
            <a:pPr indent="0" marL="0">
              <a:lnSpc>
                <a:spcPct val="98000"/>
              </a:lnSpc>
              <a:buNone/>
            </a:pPr>
            <a:r>
              <a:rPr lang="en-US" sz="5400" b="1" dirty="0">
                <a:solidFill>
                  <a:srgbClr val="EDE9E3"/>
                </a:solidFill>
                <a:latin typeface="Arial" pitchFamily="34" charset="0"/>
                <a:ea typeface="Arial" pitchFamily="34" charset="-122"/>
                <a:cs typeface="Arial" pitchFamily="34" charset="-120"/>
              </a:rPr>
              <a:t>GitHub Flow</a:t>
            </a:r>
            <a:endParaRPr lang="en-US" sz="5400" dirty="0"/>
          </a:p>
        </p:txBody>
      </p:sp>
      <p:sp>
        <p:nvSpPr>
          <p:cNvPr id="12" name="Text 9"/>
          <p:cNvSpPr/>
          <p:nvPr/>
        </p:nvSpPr>
        <p:spPr>
          <a:xfrm>
            <a:off x="566928" y="4114800"/>
            <a:ext cx="10140696" cy="914400"/>
          </a:xfrm>
          <a:prstGeom prst="rect">
            <a:avLst/>
          </a:prstGeom>
          <a:noFill/>
          <a:ln/>
        </p:spPr>
        <p:txBody>
          <a:bodyPr wrap="square" lIns="0" tIns="0" rIns="0" bIns="0" rtlCol="0" anchor="t"/>
          <a:lstStyle/>
          <a:p>
            <a:pPr indent="0" marL="0">
              <a:lnSpc>
                <a:spcPct val="110000"/>
              </a:lnSpc>
              <a:buNone/>
            </a:pPr>
            <a:r>
              <a:rPr lang="en-US" sz="2200" i="1" dirty="0">
                <a:solidFill>
                  <a:srgbClr val="8C8880"/>
                </a:solidFill>
                <a:latin typeface="Cambria" pitchFamily="34" charset="0"/>
                <a:ea typeface="Cambria" pitchFamily="34" charset="-122"/>
                <a:cs typeface="Cambria" pitchFamily="34" charset="-120"/>
              </a:rPr>
              <a:t>How data science teams actually plan, build, and ship together.</a:t>
            </a:r>
            <a:endParaRPr lang="en-US" sz="2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35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AGILE</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What is Agile?</a:t>
            </a:r>
            <a:endParaRPr lang="en-US" sz="3800" dirty="0"/>
          </a:p>
        </p:txBody>
      </p:sp>
      <p:sp>
        <p:nvSpPr>
          <p:cNvPr id="13" name="Text 10"/>
          <p:cNvSpPr/>
          <p:nvPr/>
        </p:nvSpPr>
        <p:spPr>
          <a:xfrm>
            <a:off x="566928" y="2194560"/>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A way of working in short, repeated cycles called </a:t>
            </a:r>
            <a:pPr indent="0" marL="0">
              <a:lnSpc>
                <a:spcPct val="115000"/>
              </a:lnSpc>
              <a:buNone/>
            </a:pPr>
            <a:r>
              <a:rPr lang="en-US" sz="1900" i="1" dirty="0">
                <a:solidFill>
                  <a:srgbClr val="E8A020"/>
                </a:solidFill>
                <a:latin typeface="Cambria" pitchFamily="34" charset="0"/>
                <a:ea typeface="Cambria" pitchFamily="34" charset="-122"/>
                <a:cs typeface="Cambria" pitchFamily="34" charset="-120"/>
              </a:rPr>
              <a:t>sprints</a:t>
            </a:r>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 — plan, build, review, adjust, repeat. Here's a sprint at the DSI:</a:t>
            </a:r>
            <a:endParaRPr lang="en-US" sz="1900" dirty="0"/>
          </a:p>
        </p:txBody>
      </p:sp>
      <p:sp>
        <p:nvSpPr>
          <p:cNvPr id="14" name="Shape 11"/>
          <p:cNvSpPr/>
          <p:nvPr/>
        </p:nvSpPr>
        <p:spPr>
          <a:xfrm>
            <a:off x="566928" y="3054096"/>
            <a:ext cx="310896" cy="310896"/>
          </a:xfrm>
          <a:prstGeom prst="rect">
            <a:avLst/>
          </a:prstGeom>
          <a:solidFill>
            <a:srgbClr val="1F1B12"/>
          </a:solidFill>
          <a:ln w="12700">
            <a:solidFill>
              <a:srgbClr val="E8A020"/>
            </a:solidFill>
            <a:prstDash val="solid"/>
          </a:ln>
        </p:spPr>
      </p:sp>
      <p:sp>
        <p:nvSpPr>
          <p:cNvPr id="15" name="Text 12"/>
          <p:cNvSpPr/>
          <p:nvPr/>
        </p:nvSpPr>
        <p:spPr>
          <a:xfrm>
            <a:off x="566928" y="3054096"/>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1</a:t>
            </a:r>
            <a:endParaRPr lang="en-US" sz="1200" dirty="0"/>
          </a:p>
        </p:txBody>
      </p:sp>
      <p:sp>
        <p:nvSpPr>
          <p:cNvPr id="16" name="Text 13"/>
          <p:cNvSpPr/>
          <p:nvPr/>
        </p:nvSpPr>
        <p:spPr>
          <a:xfrm>
            <a:off x="1042416" y="3026664"/>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Backlog development</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collect &amp; refine the list of work worth doing</a:t>
            </a:r>
            <a:endParaRPr lang="en-US" sz="1600" dirty="0"/>
          </a:p>
        </p:txBody>
      </p:sp>
      <p:sp>
        <p:nvSpPr>
          <p:cNvPr id="17" name="Shape 14"/>
          <p:cNvSpPr/>
          <p:nvPr/>
        </p:nvSpPr>
        <p:spPr>
          <a:xfrm>
            <a:off x="566928" y="3537712"/>
            <a:ext cx="310896" cy="310896"/>
          </a:xfrm>
          <a:prstGeom prst="rect">
            <a:avLst/>
          </a:prstGeom>
          <a:solidFill>
            <a:srgbClr val="1F1B12"/>
          </a:solidFill>
          <a:ln w="12700">
            <a:solidFill>
              <a:srgbClr val="E8A020"/>
            </a:solidFill>
            <a:prstDash val="solid"/>
          </a:ln>
        </p:spPr>
      </p:sp>
      <p:sp>
        <p:nvSpPr>
          <p:cNvPr id="18" name="Text 15"/>
          <p:cNvSpPr/>
          <p:nvPr/>
        </p:nvSpPr>
        <p:spPr>
          <a:xfrm>
            <a:off x="566928" y="3537712"/>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2</a:t>
            </a:r>
            <a:endParaRPr lang="en-US" sz="1200" dirty="0"/>
          </a:p>
        </p:txBody>
      </p:sp>
      <p:sp>
        <p:nvSpPr>
          <p:cNvPr id="19" name="Text 16"/>
          <p:cNvSpPr/>
          <p:nvPr/>
        </p:nvSpPr>
        <p:spPr>
          <a:xfrm>
            <a:off x="1042416" y="3510280"/>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Sprint planning</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(start of the week) — choose what the team commits to this sprint</a:t>
            </a:r>
            <a:endParaRPr lang="en-US" sz="1600" dirty="0"/>
          </a:p>
        </p:txBody>
      </p:sp>
      <p:sp>
        <p:nvSpPr>
          <p:cNvPr id="20" name="Shape 17"/>
          <p:cNvSpPr/>
          <p:nvPr/>
        </p:nvSpPr>
        <p:spPr>
          <a:xfrm>
            <a:off x="566928" y="4021328"/>
            <a:ext cx="310896" cy="310896"/>
          </a:xfrm>
          <a:prstGeom prst="rect">
            <a:avLst/>
          </a:prstGeom>
          <a:solidFill>
            <a:srgbClr val="1F1B12"/>
          </a:solidFill>
          <a:ln w="12700">
            <a:solidFill>
              <a:srgbClr val="E8A020"/>
            </a:solidFill>
            <a:prstDash val="solid"/>
          </a:ln>
        </p:spPr>
      </p:sp>
      <p:sp>
        <p:nvSpPr>
          <p:cNvPr id="21" name="Text 18"/>
          <p:cNvSpPr/>
          <p:nvPr/>
        </p:nvSpPr>
        <p:spPr>
          <a:xfrm>
            <a:off x="566928" y="4021328"/>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3</a:t>
            </a:r>
            <a:endParaRPr lang="en-US" sz="1200" dirty="0"/>
          </a:p>
        </p:txBody>
      </p:sp>
      <p:sp>
        <p:nvSpPr>
          <p:cNvPr id="22" name="Text 19"/>
          <p:cNvSpPr/>
          <p:nvPr/>
        </p:nvSpPr>
        <p:spPr>
          <a:xfrm>
            <a:off x="1042416" y="3993896"/>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Coding meetings</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through the week — office hours, pair programming</a:t>
            </a:r>
            <a:endParaRPr lang="en-US" sz="1600" dirty="0"/>
          </a:p>
        </p:txBody>
      </p:sp>
      <p:sp>
        <p:nvSpPr>
          <p:cNvPr id="23" name="Shape 20"/>
          <p:cNvSpPr/>
          <p:nvPr/>
        </p:nvSpPr>
        <p:spPr>
          <a:xfrm>
            <a:off x="566928" y="4504944"/>
            <a:ext cx="310896" cy="310896"/>
          </a:xfrm>
          <a:prstGeom prst="rect">
            <a:avLst/>
          </a:prstGeom>
          <a:solidFill>
            <a:srgbClr val="1F1B12"/>
          </a:solidFill>
          <a:ln w="12700">
            <a:solidFill>
              <a:srgbClr val="E8A020"/>
            </a:solidFill>
            <a:prstDash val="solid"/>
          </a:ln>
        </p:spPr>
      </p:sp>
      <p:sp>
        <p:nvSpPr>
          <p:cNvPr id="24" name="Text 21"/>
          <p:cNvSpPr/>
          <p:nvPr/>
        </p:nvSpPr>
        <p:spPr>
          <a:xfrm>
            <a:off x="566928" y="4504944"/>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4</a:t>
            </a:r>
            <a:endParaRPr lang="en-US" sz="1200" dirty="0"/>
          </a:p>
        </p:txBody>
      </p:sp>
      <p:sp>
        <p:nvSpPr>
          <p:cNvPr id="25" name="Text 22"/>
          <p:cNvSpPr/>
          <p:nvPr/>
        </p:nvSpPr>
        <p:spPr>
          <a:xfrm>
            <a:off x="1042416" y="4477512"/>
            <a:ext cx="10579608" cy="65633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Sprint retrospective</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(end of the week) — review what got done, discuss, reset goals for next week</a:t>
            </a:r>
            <a:endParaRPr lang="en-US" sz="1600" dirty="0"/>
          </a:p>
        </p:txBody>
      </p:sp>
      <p:sp>
        <p:nvSpPr>
          <p:cNvPr id="26" name="Text 23"/>
          <p:cNvSpPr/>
          <p:nvPr/>
        </p:nvSpPr>
        <p:spPr>
          <a:xfrm>
            <a:off x="566928" y="5307584"/>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A sprint is about a week. At the retro you mark issues done — or, as often in data science, re-strategize based on what you learned.</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36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PLANNING</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Issues &amp; boards</a:t>
            </a:r>
            <a:endParaRPr lang="en-US" sz="3800" dirty="0"/>
          </a:p>
        </p:txBody>
      </p:sp>
      <p:sp>
        <p:nvSpPr>
          <p:cNvPr id="13" name="Text 10"/>
          <p:cNvSpPr/>
          <p:nvPr/>
        </p:nvSpPr>
        <p:spPr>
          <a:xfrm>
            <a:off x="566928" y="2194560"/>
            <a:ext cx="5298948" cy="274320"/>
          </a:xfrm>
          <a:prstGeom prst="rect">
            <a:avLst/>
          </a:prstGeom>
          <a:noFill/>
          <a:ln/>
        </p:spPr>
        <p:txBody>
          <a:bodyPr wrap="square" lIns="0" tIns="0" rIns="0" bIns="0" rtlCol="0" anchor="ctr"/>
          <a:lstStyle/>
          <a:p>
            <a:pPr indent="0" marL="0">
              <a:buNone/>
            </a:pPr>
            <a:r>
              <a:rPr lang="en-US" sz="1100" spc="100" kern="0" dirty="0">
                <a:solidFill>
                  <a:srgbClr val="E8A020"/>
                </a:solidFill>
                <a:latin typeface="Courier New" pitchFamily="34" charset="0"/>
                <a:ea typeface="Courier New" pitchFamily="34" charset="-122"/>
                <a:cs typeface="Courier New" pitchFamily="34" charset="-120"/>
              </a:rPr>
              <a:t>ISSUES</a:t>
            </a:r>
            <a:endParaRPr lang="en-US" sz="1100" dirty="0"/>
          </a:p>
        </p:txBody>
      </p:sp>
      <p:sp>
        <p:nvSpPr>
          <p:cNvPr id="14" name="Text 11"/>
          <p:cNvSpPr/>
          <p:nvPr/>
        </p:nvSpPr>
        <p:spPr>
          <a:xfrm>
            <a:off x="6323076" y="2194560"/>
            <a:ext cx="5298948" cy="274320"/>
          </a:xfrm>
          <a:prstGeom prst="rect">
            <a:avLst/>
          </a:prstGeom>
          <a:noFill/>
          <a:ln/>
        </p:spPr>
        <p:txBody>
          <a:bodyPr wrap="square" lIns="0" tIns="0" rIns="0" bIns="0" rtlCol="0" anchor="ctr"/>
          <a:lstStyle/>
          <a:p>
            <a:pPr indent="0" marL="0">
              <a:buNone/>
            </a:pPr>
            <a:r>
              <a:rPr lang="en-US" sz="1100" spc="100" kern="0" dirty="0">
                <a:solidFill>
                  <a:srgbClr val="E8A020"/>
                </a:solidFill>
                <a:latin typeface="Courier New" pitchFamily="34" charset="0"/>
                <a:ea typeface="Courier New" pitchFamily="34" charset="-122"/>
                <a:cs typeface="Courier New" pitchFamily="34" charset="-120"/>
              </a:rPr>
              <a:t>GITHUB PROJECTS</a:t>
            </a:r>
            <a:endParaRPr lang="en-US" sz="1100" dirty="0"/>
          </a:p>
        </p:txBody>
      </p:sp>
      <p:sp>
        <p:nvSpPr>
          <p:cNvPr id="15" name="Shape 12"/>
          <p:cNvSpPr/>
          <p:nvPr/>
        </p:nvSpPr>
        <p:spPr>
          <a:xfrm>
            <a:off x="566928" y="2505456"/>
            <a:ext cx="5298948" cy="0"/>
          </a:xfrm>
          <a:prstGeom prst="line">
            <a:avLst/>
          </a:prstGeom>
          <a:noFill/>
          <a:ln w="12700">
            <a:solidFill>
              <a:srgbClr val="2A2926"/>
            </a:solidFill>
            <a:prstDash val="solid"/>
          </a:ln>
        </p:spPr>
      </p:sp>
      <p:sp>
        <p:nvSpPr>
          <p:cNvPr id="16" name="Shape 13"/>
          <p:cNvSpPr/>
          <p:nvPr/>
        </p:nvSpPr>
        <p:spPr>
          <a:xfrm>
            <a:off x="6323076" y="2505456"/>
            <a:ext cx="5298948" cy="0"/>
          </a:xfrm>
          <a:prstGeom prst="line">
            <a:avLst/>
          </a:prstGeom>
          <a:noFill/>
          <a:ln w="12700">
            <a:solidFill>
              <a:srgbClr val="2A2926"/>
            </a:solidFill>
            <a:prstDash val="solid"/>
          </a:ln>
        </p:spPr>
      </p:sp>
      <p:sp>
        <p:nvSpPr>
          <p:cNvPr id="17" name="Shape 14"/>
          <p:cNvSpPr/>
          <p:nvPr/>
        </p:nvSpPr>
        <p:spPr>
          <a:xfrm>
            <a:off x="576072" y="2724912"/>
            <a:ext cx="100584" cy="100584"/>
          </a:xfrm>
          <a:prstGeom prst="rect">
            <a:avLst/>
          </a:prstGeom>
          <a:solidFill>
            <a:srgbClr val="E8A020"/>
          </a:solidFill>
          <a:ln/>
        </p:spPr>
      </p:sp>
      <p:sp>
        <p:nvSpPr>
          <p:cNvPr id="18" name="Text 15"/>
          <p:cNvSpPr/>
          <p:nvPr/>
        </p:nvSpPr>
        <p:spPr>
          <a:xfrm>
            <a:off x="859536" y="263347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One issue = one thing to do</a:t>
            </a:r>
            <a:endParaRPr lang="en-US" sz="1400" dirty="0"/>
          </a:p>
        </p:txBody>
      </p:sp>
      <p:sp>
        <p:nvSpPr>
          <p:cNvPr id="19" name="Shape 16"/>
          <p:cNvSpPr/>
          <p:nvPr/>
        </p:nvSpPr>
        <p:spPr>
          <a:xfrm>
            <a:off x="576072" y="3102356"/>
            <a:ext cx="100584" cy="100584"/>
          </a:xfrm>
          <a:prstGeom prst="rect">
            <a:avLst/>
          </a:prstGeom>
          <a:solidFill>
            <a:srgbClr val="E8A020"/>
          </a:solidFill>
          <a:ln/>
        </p:spPr>
      </p:sp>
      <p:sp>
        <p:nvSpPr>
          <p:cNvPr id="20" name="Text 17"/>
          <p:cNvSpPr/>
          <p:nvPr/>
        </p:nvSpPr>
        <p:spPr>
          <a:xfrm>
            <a:off x="859536" y="3010916"/>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Bug, feature, or experiment</a:t>
            </a:r>
            <a:endParaRPr lang="en-US" sz="1400" dirty="0"/>
          </a:p>
        </p:txBody>
      </p:sp>
      <p:sp>
        <p:nvSpPr>
          <p:cNvPr id="21" name="Shape 18"/>
          <p:cNvSpPr/>
          <p:nvPr/>
        </p:nvSpPr>
        <p:spPr>
          <a:xfrm>
            <a:off x="576072" y="3479800"/>
            <a:ext cx="100584" cy="100584"/>
          </a:xfrm>
          <a:prstGeom prst="rect">
            <a:avLst/>
          </a:prstGeom>
          <a:solidFill>
            <a:srgbClr val="E8A020"/>
          </a:solidFill>
          <a:ln/>
        </p:spPr>
      </p:sp>
      <p:sp>
        <p:nvSpPr>
          <p:cNvPr id="22" name="Text 19"/>
          <p:cNvSpPr/>
          <p:nvPr/>
        </p:nvSpPr>
        <p:spPr>
          <a:xfrm>
            <a:off x="859536" y="338836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Answers "what needs doing?"</a:t>
            </a:r>
            <a:endParaRPr lang="en-US" sz="1400" dirty="0"/>
          </a:p>
        </p:txBody>
      </p:sp>
      <p:sp>
        <p:nvSpPr>
          <p:cNvPr id="23" name="Shape 20"/>
          <p:cNvSpPr/>
          <p:nvPr/>
        </p:nvSpPr>
        <p:spPr>
          <a:xfrm>
            <a:off x="6332220" y="2724912"/>
            <a:ext cx="100584" cy="100584"/>
          </a:xfrm>
          <a:prstGeom prst="rect">
            <a:avLst/>
          </a:prstGeom>
          <a:solidFill>
            <a:srgbClr val="E8A020"/>
          </a:solidFill>
          <a:ln/>
        </p:spPr>
      </p:sp>
      <p:sp>
        <p:nvSpPr>
          <p:cNvPr id="24" name="Text 21"/>
          <p:cNvSpPr/>
          <p:nvPr/>
        </p:nvSpPr>
        <p:spPr>
          <a:xfrm>
            <a:off x="6615684" y="263347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A board over your issues</a:t>
            </a:r>
            <a:endParaRPr lang="en-US" sz="1400" dirty="0"/>
          </a:p>
        </p:txBody>
      </p:sp>
      <p:sp>
        <p:nvSpPr>
          <p:cNvPr id="25" name="Shape 22"/>
          <p:cNvSpPr/>
          <p:nvPr/>
        </p:nvSpPr>
        <p:spPr>
          <a:xfrm>
            <a:off x="6332220" y="3102356"/>
            <a:ext cx="100584" cy="100584"/>
          </a:xfrm>
          <a:prstGeom prst="rect">
            <a:avLst/>
          </a:prstGeom>
          <a:solidFill>
            <a:srgbClr val="E8A020"/>
          </a:solidFill>
          <a:ln/>
        </p:spPr>
      </p:sp>
      <p:sp>
        <p:nvSpPr>
          <p:cNvPr id="26" name="Text 23"/>
          <p:cNvSpPr/>
          <p:nvPr/>
        </p:nvSpPr>
        <p:spPr>
          <a:xfrm>
            <a:off x="6615684" y="3010916"/>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Todo → In Progress → In Review → Done</a:t>
            </a:r>
            <a:endParaRPr lang="en-US" sz="1400" dirty="0"/>
          </a:p>
        </p:txBody>
      </p:sp>
      <p:sp>
        <p:nvSpPr>
          <p:cNvPr id="27" name="Shape 24"/>
          <p:cNvSpPr/>
          <p:nvPr/>
        </p:nvSpPr>
        <p:spPr>
          <a:xfrm>
            <a:off x="6332220" y="3479800"/>
            <a:ext cx="100584" cy="100584"/>
          </a:xfrm>
          <a:prstGeom prst="rect">
            <a:avLst/>
          </a:prstGeom>
          <a:solidFill>
            <a:srgbClr val="E8A020"/>
          </a:solidFill>
          <a:ln/>
        </p:spPr>
      </p:sp>
      <p:sp>
        <p:nvSpPr>
          <p:cNvPr id="28" name="Text 25"/>
          <p:cNvSpPr/>
          <p:nvPr/>
        </p:nvSpPr>
        <p:spPr>
          <a:xfrm>
            <a:off x="6615684" y="338836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Where your sprint lives</a:t>
            </a:r>
            <a:endParaRPr lang="en-US" sz="1400" dirty="0"/>
          </a:p>
        </p:txBody>
      </p:sp>
      <p:sp>
        <p:nvSpPr>
          <p:cNvPr id="29" name="Text 26"/>
          <p:cNvSpPr/>
          <p:nvPr/>
        </p:nvSpPr>
        <p:spPr>
          <a:xfrm>
            <a:off x="566928" y="3930396"/>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A good issue is written so anyone could pick it up. It should include:</a:t>
            </a:r>
            <a:endParaRPr lang="en-US" sz="1900" dirty="0"/>
          </a:p>
        </p:txBody>
      </p:sp>
      <p:sp>
        <p:nvSpPr>
          <p:cNvPr id="30" name="Shape 27"/>
          <p:cNvSpPr/>
          <p:nvPr/>
        </p:nvSpPr>
        <p:spPr>
          <a:xfrm>
            <a:off x="585216" y="4872228"/>
            <a:ext cx="109728" cy="109728"/>
          </a:xfrm>
          <a:prstGeom prst="rect">
            <a:avLst/>
          </a:prstGeom>
          <a:solidFill>
            <a:srgbClr val="E8A020"/>
          </a:solidFill>
          <a:ln/>
        </p:spPr>
      </p:sp>
      <p:sp>
        <p:nvSpPr>
          <p:cNvPr id="31" name="Text 28"/>
          <p:cNvSpPr/>
          <p:nvPr/>
        </p:nvSpPr>
        <p:spPr>
          <a:xfrm>
            <a:off x="896112" y="4771644"/>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8A020"/>
                </a:solidFill>
                <a:latin typeface="Arial" pitchFamily="34" charset="0"/>
                <a:ea typeface="Arial" pitchFamily="34" charset="-122"/>
                <a:cs typeface="Arial" pitchFamily="34" charset="-120"/>
              </a:rPr>
              <a:t>Context &amp; objectives</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the background and what "done" achieves</a:t>
            </a:r>
            <a:endParaRPr lang="en-US" sz="1600" dirty="0"/>
          </a:p>
        </p:txBody>
      </p:sp>
      <p:sp>
        <p:nvSpPr>
          <p:cNvPr id="32" name="Shape 29"/>
          <p:cNvSpPr/>
          <p:nvPr/>
        </p:nvSpPr>
        <p:spPr>
          <a:xfrm>
            <a:off x="585216" y="5282692"/>
            <a:ext cx="109728" cy="109728"/>
          </a:xfrm>
          <a:prstGeom prst="rect">
            <a:avLst/>
          </a:prstGeom>
          <a:solidFill>
            <a:srgbClr val="E8A020"/>
          </a:solidFill>
          <a:ln/>
        </p:spPr>
      </p:sp>
      <p:sp>
        <p:nvSpPr>
          <p:cNvPr id="33" name="Text 30"/>
          <p:cNvSpPr/>
          <p:nvPr/>
        </p:nvSpPr>
        <p:spPr>
          <a:xfrm>
            <a:off x="896112" y="5182108"/>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8A020"/>
                </a:solidFill>
                <a:latin typeface="Arial" pitchFamily="34" charset="0"/>
                <a:ea typeface="Arial" pitchFamily="34" charset="-122"/>
                <a:cs typeface="Arial" pitchFamily="34" charset="-120"/>
              </a:rPr>
              <a:t>Technical details</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approach, files, constraints, links</a:t>
            </a:r>
            <a:endParaRPr lang="en-US" sz="1600" dirty="0"/>
          </a:p>
        </p:txBody>
      </p:sp>
      <p:sp>
        <p:nvSpPr>
          <p:cNvPr id="34" name="Shape 31"/>
          <p:cNvSpPr/>
          <p:nvPr/>
        </p:nvSpPr>
        <p:spPr>
          <a:xfrm>
            <a:off x="585216" y="5693156"/>
            <a:ext cx="109728" cy="109728"/>
          </a:xfrm>
          <a:prstGeom prst="rect">
            <a:avLst/>
          </a:prstGeom>
          <a:solidFill>
            <a:srgbClr val="E8A020"/>
          </a:solidFill>
          <a:ln/>
        </p:spPr>
      </p:sp>
      <p:sp>
        <p:nvSpPr>
          <p:cNvPr id="35" name="Text 32"/>
          <p:cNvSpPr/>
          <p:nvPr/>
        </p:nvSpPr>
        <p:spPr>
          <a:xfrm>
            <a:off x="896112" y="559257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8A020"/>
                </a:solidFill>
                <a:latin typeface="Arial" pitchFamily="34" charset="0"/>
                <a:ea typeface="Arial" pitchFamily="34" charset="-122"/>
                <a:cs typeface="Arial" pitchFamily="34" charset="-120"/>
              </a:rPr>
              <a:t>Acceptance criteria</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the checklist that defines done</a:t>
            </a:r>
            <a:endParaRPr lang="en-US" sz="1600" dirty="0"/>
          </a:p>
        </p:txBody>
      </p:sp>
      <p:sp>
        <p:nvSpPr>
          <p:cNvPr id="36" name="Shape 33"/>
          <p:cNvSpPr/>
          <p:nvPr/>
        </p:nvSpPr>
        <p:spPr>
          <a:xfrm>
            <a:off x="585216" y="6103620"/>
            <a:ext cx="109728" cy="109728"/>
          </a:xfrm>
          <a:prstGeom prst="rect">
            <a:avLst/>
          </a:prstGeom>
          <a:solidFill>
            <a:srgbClr val="E8A020"/>
          </a:solidFill>
          <a:ln/>
        </p:spPr>
      </p:sp>
      <p:sp>
        <p:nvSpPr>
          <p:cNvPr id="37" name="Text 34"/>
          <p:cNvSpPr/>
          <p:nvPr/>
        </p:nvSpPr>
        <p:spPr>
          <a:xfrm>
            <a:off x="896112" y="600303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E8A020"/>
                </a:solidFill>
                <a:latin typeface="Arial" pitchFamily="34" charset="0"/>
                <a:ea typeface="Arial" pitchFamily="34" charset="-122"/>
                <a:cs typeface="Arial" pitchFamily="34" charset="-120"/>
              </a:rPr>
              <a:t>Deadline</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when it's due</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37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GITHUB CLASSROOM</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How work is handed out</a:t>
            </a:r>
            <a:endParaRPr lang="en-US" sz="3800" dirty="0"/>
          </a:p>
        </p:txBody>
      </p:sp>
      <p:sp>
        <p:nvSpPr>
          <p:cNvPr id="13" name="Shape 10"/>
          <p:cNvSpPr/>
          <p:nvPr/>
        </p:nvSpPr>
        <p:spPr>
          <a:xfrm>
            <a:off x="566928" y="2194560"/>
            <a:ext cx="310896" cy="310896"/>
          </a:xfrm>
          <a:prstGeom prst="rect">
            <a:avLst/>
          </a:prstGeom>
          <a:solidFill>
            <a:srgbClr val="1F1B12"/>
          </a:solidFill>
          <a:ln w="12700">
            <a:solidFill>
              <a:srgbClr val="E8A02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Instructor posts an </a:t>
            </a:r>
            <a:pPr indent="0" marL="0">
              <a:lnSpc>
                <a:spcPct val="110000"/>
              </a:lnSpc>
              <a:buNone/>
            </a:pPr>
            <a:r>
              <a:rPr lang="en-US" sz="1600" b="1" dirty="0">
                <a:solidFill>
                  <a:srgbClr val="FFFFFF"/>
                </a:solidFill>
                <a:latin typeface="Arial" pitchFamily="34" charset="0"/>
                <a:ea typeface="Arial" pitchFamily="34" charset="-122"/>
                <a:cs typeface="Arial" pitchFamily="34" charset="-120"/>
              </a:rPr>
              <a:t>assignment link</a:t>
            </a:r>
            <a:endParaRPr lang="en-US" sz="1600" dirty="0"/>
          </a:p>
        </p:txBody>
      </p:sp>
      <p:sp>
        <p:nvSpPr>
          <p:cNvPr id="16" name="Shape 13"/>
          <p:cNvSpPr/>
          <p:nvPr/>
        </p:nvSpPr>
        <p:spPr>
          <a:xfrm>
            <a:off x="566928" y="2678176"/>
            <a:ext cx="310896" cy="310896"/>
          </a:xfrm>
          <a:prstGeom prst="rect">
            <a:avLst/>
          </a:prstGeom>
          <a:solidFill>
            <a:srgbClr val="1F1B12"/>
          </a:solidFill>
          <a:ln w="12700">
            <a:solidFill>
              <a:srgbClr val="E8A020"/>
            </a:solidFill>
            <a:prstDash val="solid"/>
          </a:ln>
        </p:spPr>
      </p:sp>
      <p:sp>
        <p:nvSpPr>
          <p:cNvPr id="17" name="Text 14"/>
          <p:cNvSpPr/>
          <p:nvPr/>
        </p:nvSpPr>
        <p:spPr>
          <a:xfrm>
            <a:off x="566928" y="2678176"/>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650744"/>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You click it → GitHub creates </a:t>
            </a:r>
            <a:pPr indent="0" marL="0">
              <a:lnSpc>
                <a:spcPct val="110000"/>
              </a:lnSpc>
              <a:buNone/>
            </a:pPr>
            <a:r>
              <a:rPr lang="en-US" sz="1600" b="1" dirty="0">
                <a:solidFill>
                  <a:srgbClr val="FFFFFF"/>
                </a:solidFill>
                <a:latin typeface="Arial" pitchFamily="34" charset="0"/>
                <a:ea typeface="Arial" pitchFamily="34" charset="-122"/>
                <a:cs typeface="Arial" pitchFamily="34" charset="-120"/>
              </a:rPr>
              <a:t>your own repo</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from a template</a:t>
            </a:r>
            <a:endParaRPr lang="en-US" sz="1600" dirty="0"/>
          </a:p>
        </p:txBody>
      </p:sp>
      <p:sp>
        <p:nvSpPr>
          <p:cNvPr id="19" name="Shape 16"/>
          <p:cNvSpPr/>
          <p:nvPr/>
        </p:nvSpPr>
        <p:spPr>
          <a:xfrm>
            <a:off x="566928" y="3161792"/>
            <a:ext cx="310896" cy="310896"/>
          </a:xfrm>
          <a:prstGeom prst="rect">
            <a:avLst/>
          </a:prstGeom>
          <a:solidFill>
            <a:srgbClr val="1F1B12"/>
          </a:solidFill>
          <a:ln w="12700">
            <a:solidFill>
              <a:srgbClr val="E8A020"/>
            </a:solidFill>
            <a:prstDash val="solid"/>
          </a:ln>
        </p:spPr>
      </p:sp>
      <p:sp>
        <p:nvSpPr>
          <p:cNvPr id="20" name="Text 17"/>
          <p:cNvSpPr/>
          <p:nvPr/>
        </p:nvSpPr>
        <p:spPr>
          <a:xfrm>
            <a:off x="566928" y="3161792"/>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3</a:t>
            </a:r>
            <a:endParaRPr lang="en-US" sz="1200" dirty="0"/>
          </a:p>
        </p:txBody>
      </p:sp>
      <p:sp>
        <p:nvSpPr>
          <p:cNvPr id="21" name="Text 18"/>
          <p:cNvSpPr/>
          <p:nvPr/>
        </p:nvSpPr>
        <p:spPr>
          <a:xfrm>
            <a:off x="1042416" y="3134360"/>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EDE9E3"/>
                </a:solidFill>
                <a:latin typeface="Arial" pitchFamily="34" charset="0"/>
                <a:ea typeface="Arial" pitchFamily="34" charset="-122"/>
                <a:cs typeface="Arial" pitchFamily="34" charset="-120"/>
              </a:rPr>
              <a:t>You work in that repo with the normal GitHub Flow</a:t>
            </a:r>
            <a:endParaRPr lang="en-US" sz="1600" dirty="0"/>
          </a:p>
        </p:txBody>
      </p:sp>
      <p:sp>
        <p:nvSpPr>
          <p:cNvPr id="22" name="Text 19"/>
          <p:cNvSpPr/>
          <p:nvPr/>
        </p:nvSpPr>
        <p:spPr>
          <a:xfrm>
            <a:off x="566928" y="3700272"/>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Click the link, get a repo, work normally.</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38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SAFETY</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Branches keep main safe</a:t>
            </a:r>
            <a:endParaRPr lang="en-US" sz="3800" dirty="0"/>
          </a:p>
        </p:txBody>
      </p:sp>
      <p:sp>
        <p:nvSpPr>
          <p:cNvPr id="13" name="Text 10"/>
          <p:cNvSpPr/>
          <p:nvPr/>
        </p:nvSpPr>
        <p:spPr>
          <a:xfrm>
            <a:off x="566928" y="2194560"/>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main is always the working version. Your branch is a sandbox — experiment freely; main is untouched until review passes.</a:t>
            </a:r>
            <a:endParaRPr lang="en-US" sz="1900" dirty="0"/>
          </a:p>
        </p:txBody>
      </p:sp>
      <p:sp>
        <p:nvSpPr>
          <p:cNvPr id="14" name="Shape 11"/>
          <p:cNvSpPr/>
          <p:nvPr/>
        </p:nvSpPr>
        <p:spPr>
          <a:xfrm>
            <a:off x="566928" y="3054096"/>
            <a:ext cx="11055096" cy="1316736"/>
          </a:xfrm>
          <a:prstGeom prst="rect">
            <a:avLst/>
          </a:prstGeom>
          <a:solidFill>
            <a:srgbClr val="241D10"/>
          </a:solidFill>
          <a:ln w="12700">
            <a:solidFill>
              <a:srgbClr val="E8A020"/>
            </a:solidFill>
            <a:prstDash val="solid"/>
          </a:ln>
        </p:spPr>
      </p:sp>
      <p:sp>
        <p:nvSpPr>
          <p:cNvPr id="15" name="Shape 12"/>
          <p:cNvSpPr/>
          <p:nvPr/>
        </p:nvSpPr>
        <p:spPr>
          <a:xfrm>
            <a:off x="566928" y="3054096"/>
            <a:ext cx="54864" cy="1316736"/>
          </a:xfrm>
          <a:prstGeom prst="rect">
            <a:avLst/>
          </a:prstGeom>
          <a:solidFill>
            <a:srgbClr val="E8A020"/>
          </a:solidFill>
          <a:ln/>
        </p:spPr>
      </p:sp>
      <p:sp>
        <p:nvSpPr>
          <p:cNvPr id="16" name="Text 13"/>
          <p:cNvSpPr/>
          <p:nvPr/>
        </p:nvSpPr>
        <p:spPr>
          <a:xfrm>
            <a:off x="822960" y="3163824"/>
            <a:ext cx="10597896" cy="237744"/>
          </a:xfrm>
          <a:prstGeom prst="rect">
            <a:avLst/>
          </a:prstGeom>
          <a:noFill/>
          <a:ln/>
        </p:spPr>
        <p:txBody>
          <a:bodyPr wrap="square" lIns="0" tIns="0" rIns="0" bIns="0" rtlCol="0" anchor="ctr"/>
          <a:lstStyle/>
          <a:p>
            <a:pPr indent="0" marL="0">
              <a:buNone/>
            </a:pPr>
            <a:r>
              <a:rPr lang="en-US" sz="950" spc="200" kern="0" dirty="0">
                <a:solidFill>
                  <a:srgbClr val="E8A020"/>
                </a:solidFill>
                <a:latin typeface="Courier New" pitchFamily="34" charset="0"/>
                <a:ea typeface="Courier New" pitchFamily="34" charset="-122"/>
                <a:cs typeface="Courier New" pitchFamily="34" charset="-120"/>
              </a:rPr>
              <a:t>KEEP BRANCHES SHORT-LIVED</a:t>
            </a:r>
            <a:endParaRPr lang="en-US" sz="950" dirty="0"/>
          </a:p>
        </p:txBody>
      </p:sp>
      <p:sp>
        <p:nvSpPr>
          <p:cNvPr id="17" name="Text 14"/>
          <p:cNvSpPr/>
          <p:nvPr/>
        </p:nvSpPr>
        <p:spPr>
          <a:xfrm>
            <a:off x="822960" y="3438144"/>
            <a:ext cx="10552176" cy="859536"/>
          </a:xfrm>
          <a:prstGeom prst="rect">
            <a:avLst/>
          </a:prstGeom>
          <a:noFill/>
          <a:ln/>
        </p:spPr>
        <p:txBody>
          <a:bodyPr wrap="square" lIns="0" tIns="0" rIns="0" bIns="0" rtlCol="0" anchor="t"/>
          <a:lstStyle/>
          <a:p>
            <a:pPr indent="0" marL="0">
              <a:lnSpc>
                <a:spcPct val="112000"/>
              </a:lnSpc>
              <a:buNone/>
            </a:pPr>
            <a:r>
              <a:rPr lang="en-US" sz="1550" dirty="0">
                <a:solidFill>
                  <a:srgbClr val="EDE9E3"/>
                </a:solidFill>
                <a:latin typeface="Arial" pitchFamily="34" charset="0"/>
                <a:ea typeface="Arial" pitchFamily="34" charset="-122"/>
                <a:cs typeface="Arial" pitchFamily="34" charset="-120"/>
              </a:rPr>
              <a:t>The longer a branch lives, the more </a:t>
            </a:r>
            <a:pPr indent="0" marL="0">
              <a:lnSpc>
                <a:spcPct val="112000"/>
              </a:lnSpc>
              <a:buNone/>
            </a:pPr>
            <a:r>
              <a:rPr lang="en-US" sz="1550" b="1" dirty="0">
                <a:solidFill>
                  <a:srgbClr val="FFFFFF"/>
                </a:solidFill>
                <a:latin typeface="Arial" pitchFamily="34" charset="0"/>
                <a:ea typeface="Arial" pitchFamily="34" charset="-122"/>
                <a:cs typeface="Arial" pitchFamily="34" charset="-120"/>
              </a:rPr>
              <a:t>main</a:t>
            </a:r>
            <a:pPr indent="0" marL="0">
              <a:lnSpc>
                <a:spcPct val="112000"/>
              </a:lnSpc>
              <a:buNone/>
            </a:pPr>
            <a:r>
              <a:rPr lang="en-US" sz="1550" dirty="0">
                <a:solidFill>
                  <a:srgbClr val="EDE9E3"/>
                </a:solidFill>
                <a:latin typeface="Arial" pitchFamily="34" charset="0"/>
                <a:ea typeface="Arial" pitchFamily="34" charset="-122"/>
                <a:cs typeface="Arial" pitchFamily="34" charset="-120"/>
              </a:rPr>
              <a:t> moves underneath it as teammates merge their own work — making the eventual merge harder. Small branches, merged often.</a:t>
            </a:r>
            <a:endParaRPr lang="en-US" sz="1550" dirty="0"/>
          </a:p>
        </p:txBody>
      </p:sp>
      <p:sp>
        <p:nvSpPr>
          <p:cNvPr id="18" name="Text 15"/>
          <p:cNvSpPr/>
          <p:nvPr/>
        </p:nvSpPr>
        <p:spPr>
          <a:xfrm>
            <a:off x="566928" y="4517136"/>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This is how you stop overwriting each other.</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39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POWER TOOL</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Worktrees</a:t>
            </a:r>
            <a:endParaRPr lang="en-US" sz="3800" dirty="0"/>
          </a:p>
        </p:txBody>
      </p:sp>
      <p:sp>
        <p:nvSpPr>
          <p:cNvPr id="13" name="Text 10"/>
          <p:cNvSpPr/>
          <p:nvPr/>
        </p:nvSpPr>
        <p:spPr>
          <a:xfrm>
            <a:off x="566928" y="2194560"/>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Check out </a:t>
            </a:r>
            <a:pPr indent="0" marL="0">
              <a:lnSpc>
                <a:spcPct val="115000"/>
              </a:lnSpc>
              <a:buNone/>
            </a:pPr>
            <a:r>
              <a:rPr lang="en-US" sz="1900" b="1" i="1" dirty="0">
                <a:solidFill>
                  <a:srgbClr val="FFFFFF"/>
                </a:solidFill>
                <a:latin typeface="Cambria" pitchFamily="34" charset="0"/>
                <a:ea typeface="Cambria" pitchFamily="34" charset="-122"/>
                <a:cs typeface="Cambria" pitchFamily="34" charset="-120"/>
              </a:rPr>
              <a:t>multiple branches into separate folders at once</a:t>
            </a:r>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 — no stashing to switch context.</a:t>
            </a:r>
            <a:endParaRPr lang="en-US" sz="1900" dirty="0"/>
          </a:p>
        </p:txBody>
      </p:sp>
      <p:sp>
        <p:nvSpPr>
          <p:cNvPr id="14" name="Shape 11"/>
          <p:cNvSpPr/>
          <p:nvPr/>
        </p:nvSpPr>
        <p:spPr>
          <a:xfrm>
            <a:off x="566928" y="3054096"/>
            <a:ext cx="11055096" cy="837184"/>
          </a:xfrm>
          <a:prstGeom prst="rect">
            <a:avLst/>
          </a:prstGeom>
          <a:solidFill>
            <a:srgbClr val="1C1B1A"/>
          </a:solidFill>
          <a:ln/>
        </p:spPr>
      </p:sp>
      <p:sp>
        <p:nvSpPr>
          <p:cNvPr id="15" name="Shape 12"/>
          <p:cNvSpPr/>
          <p:nvPr/>
        </p:nvSpPr>
        <p:spPr>
          <a:xfrm>
            <a:off x="566928" y="3054096"/>
            <a:ext cx="45720" cy="837184"/>
          </a:xfrm>
          <a:prstGeom prst="rect">
            <a:avLst/>
          </a:prstGeom>
          <a:solidFill>
            <a:srgbClr val="E8A020"/>
          </a:solidFill>
          <a:ln/>
        </p:spPr>
      </p:sp>
      <p:sp>
        <p:nvSpPr>
          <p:cNvPr id="16" name="Text 13"/>
          <p:cNvSpPr/>
          <p:nvPr/>
        </p:nvSpPr>
        <p:spPr>
          <a:xfrm>
            <a:off x="822960" y="3218688"/>
            <a:ext cx="10597896" cy="508000"/>
          </a:xfrm>
          <a:prstGeom prst="rect">
            <a:avLst/>
          </a:prstGeom>
          <a:noFill/>
          <a:ln/>
        </p:spPr>
        <p:txBody>
          <a:bodyPr wrap="square" lIns="0" tIns="0" rIns="0" bIns="0" rtlCol="0" anchor="t"/>
          <a:lstStyle/>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git worktree add ../feature-x feature-x   # branch in its own folder</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git worktree list</a:t>
            </a:r>
            <a:endParaRPr lang="en-US" sz="1300" dirty="0"/>
          </a:p>
        </p:txBody>
      </p:sp>
      <p:sp>
        <p:nvSpPr>
          <p:cNvPr id="17" name="Text 14"/>
          <p:cNvSpPr/>
          <p:nvPr/>
        </p:nvSpPr>
        <p:spPr>
          <a:xfrm>
            <a:off x="566928" y="4110736"/>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Handy for running Claude Code on one branch while you keep working on another.</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40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THE GATE</a:t>
            </a:r>
            <a:endParaRPr lang="en-US" sz="1050" dirty="0"/>
          </a:p>
        </p:txBody>
      </p:sp>
      <p:sp>
        <p:nvSpPr>
          <p:cNvPr id="12" name="Text 9"/>
          <p:cNvSpPr/>
          <p:nvPr/>
        </p:nvSpPr>
        <p:spPr>
          <a:xfrm>
            <a:off x="566928" y="1371600"/>
            <a:ext cx="11055096" cy="1225296"/>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Pull requests = conversation + gate</a:t>
            </a:r>
            <a:endParaRPr lang="en-US" sz="3800" dirty="0"/>
          </a:p>
        </p:txBody>
      </p:sp>
      <p:sp>
        <p:nvSpPr>
          <p:cNvPr id="13" name="Text 10"/>
          <p:cNvSpPr/>
          <p:nvPr/>
        </p:nvSpPr>
        <p:spPr>
          <a:xfrm>
            <a:off x="566928" y="2761488"/>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A pull request proposes merging your branch. It shows the diff, and it's where teammates review and discuss — all on the website.</a:t>
            </a:r>
            <a:endParaRPr lang="en-US" sz="1900" dirty="0"/>
          </a:p>
        </p:txBody>
      </p:sp>
      <p:sp>
        <p:nvSpPr>
          <p:cNvPr id="14" name="Text 11"/>
          <p:cNvSpPr/>
          <p:nvPr/>
        </p:nvSpPr>
        <p:spPr>
          <a:xfrm>
            <a:off x="566928" y="3621024"/>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This is your visibility and your quality check, in one place.</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41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EXPECT THIS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Merge conflicts</a:t>
            </a:r>
            <a:endParaRPr lang="en-US" sz="3800" dirty="0"/>
          </a:p>
        </p:txBody>
      </p:sp>
      <p:sp>
        <p:nvSpPr>
          <p:cNvPr id="13" name="Text 10"/>
          <p:cNvSpPr/>
          <p:nvPr/>
        </p:nvSpPr>
        <p:spPr>
          <a:xfrm>
            <a:off x="566928" y="2194560"/>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When two branches change the </a:t>
            </a:r>
            <a:pPr indent="0" marL="0">
              <a:lnSpc>
                <a:spcPct val="115000"/>
              </a:lnSpc>
              <a:buNone/>
            </a:pPr>
            <a:r>
              <a:rPr lang="en-US" sz="1900" b="1" i="1" dirty="0">
                <a:solidFill>
                  <a:srgbClr val="FFFFFF"/>
                </a:solidFill>
                <a:latin typeface="Cambria" pitchFamily="34" charset="0"/>
                <a:ea typeface="Cambria" pitchFamily="34" charset="-122"/>
                <a:cs typeface="Cambria" pitchFamily="34" charset="-120"/>
              </a:rPr>
              <a:t>same lines</a:t>
            </a:r>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 git can't choose — it stops and asks a human.</a:t>
            </a:r>
            <a:endParaRPr lang="en-US" sz="1900" dirty="0"/>
          </a:p>
        </p:txBody>
      </p:sp>
      <p:sp>
        <p:nvSpPr>
          <p:cNvPr id="14" name="Shape 11"/>
          <p:cNvSpPr/>
          <p:nvPr/>
        </p:nvSpPr>
        <p:spPr>
          <a:xfrm>
            <a:off x="566928" y="3054096"/>
            <a:ext cx="11055096" cy="1599184"/>
          </a:xfrm>
          <a:prstGeom prst="rect">
            <a:avLst/>
          </a:prstGeom>
          <a:solidFill>
            <a:srgbClr val="1C1B1A"/>
          </a:solidFill>
          <a:ln/>
        </p:spPr>
      </p:sp>
      <p:sp>
        <p:nvSpPr>
          <p:cNvPr id="15" name="Shape 12"/>
          <p:cNvSpPr/>
          <p:nvPr/>
        </p:nvSpPr>
        <p:spPr>
          <a:xfrm>
            <a:off x="566928" y="3054096"/>
            <a:ext cx="45720" cy="1599184"/>
          </a:xfrm>
          <a:prstGeom prst="rect">
            <a:avLst/>
          </a:prstGeom>
          <a:solidFill>
            <a:srgbClr val="E8A020"/>
          </a:solidFill>
          <a:ln/>
        </p:spPr>
      </p:sp>
      <p:sp>
        <p:nvSpPr>
          <p:cNvPr id="16" name="Text 13"/>
          <p:cNvSpPr/>
          <p:nvPr/>
        </p:nvSpPr>
        <p:spPr>
          <a:xfrm>
            <a:off x="822960" y="3218688"/>
            <a:ext cx="10597896" cy="1270000"/>
          </a:xfrm>
          <a:prstGeom prst="rect">
            <a:avLst/>
          </a:prstGeom>
          <a:noFill/>
          <a:ln/>
        </p:spPr>
        <p:txBody>
          <a:bodyPr wrap="square" lIns="0" tIns="0" rIns="0" bIns="0" rtlCol="0" anchor="t"/>
          <a:lstStyle/>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&lt;&lt;&lt;&lt;&lt;&lt;&lt; HEAD</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your change</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their change</a:t>
            </a:r>
            <a:endParaRPr lang="en-US" sz="1300" dirty="0"/>
          </a:p>
          <a:p>
            <a:pPr indent="0" marL="0">
              <a:lnSpc>
                <a:spcPts val="2000"/>
              </a:lnSpc>
              <a:buNone/>
            </a:pPr>
            <a:r>
              <a:rPr lang="en-US" sz="1300" dirty="0">
                <a:solidFill>
                  <a:srgbClr val="EDE9E3"/>
                </a:solidFill>
                <a:latin typeface="Courier New" pitchFamily="34" charset="0"/>
                <a:ea typeface="Courier New" pitchFamily="34" charset="-122"/>
                <a:cs typeface="Courier New" pitchFamily="34" charset="-120"/>
              </a:rPr>
              <a:t>&gt;&gt;&gt;&gt;&gt;&gt;&gt; main</a:t>
            </a:r>
            <a:endParaRPr lang="en-US" sz="1300" dirty="0"/>
          </a:p>
        </p:txBody>
      </p:sp>
      <p:sp>
        <p:nvSpPr>
          <p:cNvPr id="17" name="Shape 14"/>
          <p:cNvSpPr/>
          <p:nvPr/>
        </p:nvSpPr>
        <p:spPr>
          <a:xfrm>
            <a:off x="566928" y="4872736"/>
            <a:ext cx="11055096" cy="1078992"/>
          </a:xfrm>
          <a:prstGeom prst="rect">
            <a:avLst/>
          </a:prstGeom>
          <a:solidFill>
            <a:srgbClr val="241D10"/>
          </a:solidFill>
          <a:ln w="12700">
            <a:solidFill>
              <a:srgbClr val="E8A020"/>
            </a:solidFill>
            <a:prstDash val="solid"/>
          </a:ln>
        </p:spPr>
      </p:sp>
      <p:sp>
        <p:nvSpPr>
          <p:cNvPr id="18" name="Shape 15"/>
          <p:cNvSpPr/>
          <p:nvPr/>
        </p:nvSpPr>
        <p:spPr>
          <a:xfrm>
            <a:off x="566928" y="4872736"/>
            <a:ext cx="54864" cy="1078992"/>
          </a:xfrm>
          <a:prstGeom prst="rect">
            <a:avLst/>
          </a:prstGeom>
          <a:solidFill>
            <a:srgbClr val="E8A020"/>
          </a:solidFill>
          <a:ln/>
        </p:spPr>
      </p:sp>
      <p:sp>
        <p:nvSpPr>
          <p:cNvPr id="19" name="Text 16"/>
          <p:cNvSpPr/>
          <p:nvPr/>
        </p:nvSpPr>
        <p:spPr>
          <a:xfrm>
            <a:off x="822960" y="4982464"/>
            <a:ext cx="10597896" cy="237744"/>
          </a:xfrm>
          <a:prstGeom prst="rect">
            <a:avLst/>
          </a:prstGeom>
          <a:noFill/>
          <a:ln/>
        </p:spPr>
        <p:txBody>
          <a:bodyPr wrap="square" lIns="0" tIns="0" rIns="0" bIns="0" rtlCol="0" anchor="ctr"/>
          <a:lstStyle/>
          <a:p>
            <a:pPr indent="0" marL="0">
              <a:buNone/>
            </a:pPr>
            <a:r>
              <a:rPr lang="en-US" sz="950" spc="200" kern="0" dirty="0">
                <a:solidFill>
                  <a:srgbClr val="E8A020"/>
                </a:solidFill>
                <a:latin typeface="Courier New" pitchFamily="34" charset="0"/>
                <a:ea typeface="Courier New" pitchFamily="34" charset="-122"/>
                <a:cs typeface="Courier New" pitchFamily="34" charset="-120"/>
              </a:rPr>
              <a:t>DON'T PANIC</a:t>
            </a:r>
            <a:endParaRPr lang="en-US" sz="950" dirty="0"/>
          </a:p>
        </p:txBody>
      </p:sp>
      <p:sp>
        <p:nvSpPr>
          <p:cNvPr id="20" name="Text 17"/>
          <p:cNvSpPr/>
          <p:nvPr/>
        </p:nvSpPr>
        <p:spPr>
          <a:xfrm>
            <a:off x="822960" y="5256784"/>
            <a:ext cx="10552176" cy="621792"/>
          </a:xfrm>
          <a:prstGeom prst="rect">
            <a:avLst/>
          </a:prstGeom>
          <a:noFill/>
          <a:ln/>
        </p:spPr>
        <p:txBody>
          <a:bodyPr wrap="square" lIns="0" tIns="0" rIns="0" bIns="0" rtlCol="0" anchor="t"/>
          <a:lstStyle/>
          <a:p>
            <a:pPr indent="0" marL="0">
              <a:lnSpc>
                <a:spcPct val="112000"/>
              </a:lnSpc>
              <a:buNone/>
            </a:pPr>
            <a:r>
              <a:rPr lang="en-US" sz="1550" dirty="0">
                <a:solidFill>
                  <a:srgbClr val="EDE9E3"/>
                </a:solidFill>
                <a:latin typeface="Arial" pitchFamily="34" charset="0"/>
                <a:ea typeface="Arial" pitchFamily="34" charset="-122"/>
                <a:cs typeface="Arial" pitchFamily="34" charset="-120"/>
              </a:rPr>
              <a:t>You'll each cause one on purpose in a few minutes, and fix it right in the browser. It's normal.</a:t>
            </a:r>
            <a:endParaRPr lang="en-US" sz="15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42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WITHOUT A PROCESS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…and discipline slips</a:t>
            </a:r>
            <a:endParaRPr lang="en-US" sz="3800" dirty="0"/>
          </a:p>
        </p:txBody>
      </p:sp>
      <p:pic>
        <p:nvPicPr>
          <p:cNvPr id="13" name="Image 0" descr="preencoded.png">    </p:cNvPr>
          <p:cNvPicPr>
            <a:picLocks noChangeAspect="1"/>
          </p:cNvPicPr>
          <p:nvPr/>
        </p:nvPicPr>
        <p:blipFill>
          <a:blip r:embed="rId1"/>
          <a:stretch>
            <a:fillRect/>
          </a:stretch>
        </p:blipFill>
        <p:spPr>
          <a:xfrm>
            <a:off x="2714854" y="2331720"/>
            <a:ext cx="6759245" cy="384048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43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PUTTING IT ALL TOGETHER</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GitHub Flow</a:t>
            </a:r>
            <a:endParaRPr lang="en-US" sz="3800" dirty="0"/>
          </a:p>
        </p:txBody>
      </p:sp>
      <p:sp>
        <p:nvSpPr>
          <p:cNvPr id="13" name="Shape 10"/>
          <p:cNvSpPr/>
          <p:nvPr/>
        </p:nvSpPr>
        <p:spPr>
          <a:xfrm>
            <a:off x="1065047" y="2331720"/>
            <a:ext cx="10058857" cy="3520440"/>
          </a:xfrm>
          <a:prstGeom prst="roundRect">
            <a:avLst>
              <a:gd name="adj" fmla="val 2078"/>
            </a:avLst>
          </a:prstGeom>
          <a:solidFill>
            <a:srgbClr val="EDE9E3"/>
          </a:solidFill>
          <a:ln/>
        </p:spPr>
      </p:sp>
      <p:pic>
        <p:nvPicPr>
          <p:cNvPr id="14" name="Image 0" descr="preencoded.png">    </p:cNvPr>
          <p:cNvPicPr>
            <a:picLocks noChangeAspect="1"/>
          </p:cNvPicPr>
          <p:nvPr/>
        </p:nvPicPr>
        <p:blipFill>
          <a:blip r:embed="rId1"/>
          <a:stretch>
            <a:fillRect/>
          </a:stretch>
        </p:blipFill>
        <p:spPr>
          <a:xfrm>
            <a:off x="1385087" y="2651760"/>
            <a:ext cx="9418777" cy="2880360"/>
          </a:xfrm>
          <a:prstGeom prst="rect">
            <a:avLst/>
          </a:prstGeom>
        </p:spPr>
      </p:pic>
      <p:sp>
        <p:nvSpPr>
          <p:cNvPr id="15" name="Text 11"/>
          <p:cNvSpPr/>
          <p:nvPr/>
        </p:nvSpPr>
        <p:spPr>
          <a:xfrm>
            <a:off x="566928" y="6053328"/>
            <a:ext cx="11055096" cy="640080"/>
          </a:xfrm>
          <a:prstGeom prst="rect">
            <a:avLst/>
          </a:prstGeom>
          <a:noFill/>
          <a:ln/>
        </p:spPr>
        <p:txBody>
          <a:bodyPr wrap="square" lIns="0" tIns="0" rIns="0" bIns="0" rtlCol="0" anchor="t"/>
          <a:lstStyle/>
          <a:p>
            <a:pPr indent="0" marL="0">
              <a:lnSpc>
                <a:spcPct val="115000"/>
              </a:lnSpc>
              <a:buNone/>
            </a:pPr>
            <a:r>
              <a:rPr lang="en-US" sz="1400" i="1" dirty="0">
                <a:solidFill>
                  <a:srgbClr val="8C8880"/>
                </a:solidFill>
                <a:latin typeface="Cambria" pitchFamily="34" charset="0"/>
                <a:ea typeface="Cambria" pitchFamily="34" charset="-122"/>
                <a:cs typeface="Cambria" pitchFamily="34" charset="-120"/>
              </a:rPr>
              <a:t>Create a branch → add commits → open a pull request → discuss &amp; review → merge. One loop, every feature.</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44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DEMO · WATCH</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The task</a:t>
            </a:r>
            <a:endParaRPr lang="en-US" sz="3800" dirty="0"/>
          </a:p>
        </p:txBody>
      </p:sp>
      <p:sp>
        <p:nvSpPr>
          <p:cNvPr id="13" name="Text 10"/>
          <p:cNvSpPr/>
          <p:nvPr/>
        </p:nvSpPr>
        <p:spPr>
          <a:xfrm>
            <a:off x="566928" y="2194560"/>
            <a:ext cx="11055096" cy="1024128"/>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A repo made from the </a:t>
            </a:r>
            <a:pPr indent="0" marL="0">
              <a:lnSpc>
                <a:spcPct val="115000"/>
              </a:lnSpc>
              <a:buNone/>
            </a:pPr>
            <a:r>
              <a:rPr lang="en-US" sz="1900" b="1" i="1" dirty="0">
                <a:solidFill>
                  <a:srgbClr val="FFFFFF"/>
                </a:solidFill>
                <a:latin typeface="Cambria" pitchFamily="34" charset="0"/>
                <a:ea typeface="Cambria" pitchFamily="34" charset="-122"/>
                <a:cs typeface="Cambria" pitchFamily="34" charset="-120"/>
              </a:rPr>
              <a:t>ds-collaboration-frameworks</a:t>
            </a:r>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 template — the file </a:t>
            </a:r>
            <a:pPr indent="0" marL="0">
              <a:lnSpc>
                <a:spcPct val="115000"/>
              </a:lnSpc>
              <a:buNone/>
            </a:pPr>
            <a:r>
              <a:rPr lang="en-US" sz="1900" b="1" i="1" dirty="0">
                <a:solidFill>
                  <a:srgbClr val="FFFFFF"/>
                </a:solidFill>
                <a:latin typeface="Cambria" pitchFamily="34" charset="0"/>
                <a:ea typeface="Cambria" pitchFamily="34" charset="-122"/>
                <a:cs typeface="Cambria" pitchFamily="34" charset="-120"/>
              </a:rPr>
              <a:t>shape_attributes.py</a:t>
            </a:r>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 Two area functions to add at </a:t>
            </a:r>
            <a:pPr indent="0" marL="0">
              <a:lnSpc>
                <a:spcPct val="115000"/>
              </a:lnSpc>
              <a:buNone/>
            </a:pPr>
            <a:r>
              <a:rPr lang="en-US" sz="1900" b="1" i="1" dirty="0">
                <a:solidFill>
                  <a:srgbClr val="FFFFFF"/>
                </a:solidFill>
                <a:latin typeface="Cambria" pitchFamily="34" charset="0"/>
                <a:ea typeface="Cambria" pitchFamily="34" charset="-122"/>
                <a:cs typeface="Cambria" pitchFamily="34" charset="-120"/>
              </a:rPr>
              <a:t>line 11</a:t>
            </a:r>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 a sphere and a circle.</a:t>
            </a:r>
            <a:endParaRPr lang="en-US" sz="1900" dirty="0"/>
          </a:p>
        </p:txBody>
      </p:sp>
      <p:sp>
        <p:nvSpPr>
          <p:cNvPr id="14" name="Text 11"/>
          <p:cNvSpPr/>
          <p:nvPr/>
        </p:nvSpPr>
        <p:spPr>
          <a:xfrm>
            <a:off x="566928" y="3364992"/>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Both functions go on the same line — so the second pull request to merge hits a real conflict.</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45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DEMO · CHECKLIST</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Watch the whole loop</a:t>
            </a:r>
            <a:endParaRPr lang="en-US" sz="3800" dirty="0"/>
          </a:p>
        </p:txBody>
      </p:sp>
      <p:sp>
        <p:nvSpPr>
          <p:cNvPr id="13" name="Shape 10"/>
          <p:cNvSpPr/>
          <p:nvPr/>
        </p:nvSpPr>
        <p:spPr>
          <a:xfrm>
            <a:off x="566928" y="2194560"/>
            <a:ext cx="310896" cy="310896"/>
          </a:xfrm>
          <a:prstGeom prst="rect">
            <a:avLst/>
          </a:prstGeom>
          <a:solidFill>
            <a:srgbClr val="1F1B12"/>
          </a:solidFill>
          <a:ln w="12700">
            <a:solidFill>
              <a:srgbClr val="E8A02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Web:</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new repo from the ds-collaboration-frameworks template + two issues (sphere, circle)</a:t>
            </a:r>
            <a:endParaRPr lang="en-US" sz="1600" dirty="0"/>
          </a:p>
        </p:txBody>
      </p:sp>
      <p:sp>
        <p:nvSpPr>
          <p:cNvPr id="16" name="Shape 13"/>
          <p:cNvSpPr/>
          <p:nvPr/>
        </p:nvSpPr>
        <p:spPr>
          <a:xfrm>
            <a:off x="566928" y="2678176"/>
            <a:ext cx="310896" cy="310896"/>
          </a:xfrm>
          <a:prstGeom prst="rect">
            <a:avLst/>
          </a:prstGeom>
          <a:solidFill>
            <a:srgbClr val="1F1B12"/>
          </a:solidFill>
          <a:ln w="12700">
            <a:solidFill>
              <a:srgbClr val="E8A020"/>
            </a:solidFill>
            <a:prstDash val="solid"/>
          </a:ln>
        </p:spPr>
      </p:sp>
      <p:sp>
        <p:nvSpPr>
          <p:cNvPr id="17" name="Text 14"/>
          <p:cNvSpPr/>
          <p:nvPr/>
        </p:nvSpPr>
        <p:spPr>
          <a:xfrm>
            <a:off x="566928" y="2678176"/>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650744"/>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Terminal:</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clone → branch → add the function at line 11 → commit → push</a:t>
            </a:r>
            <a:endParaRPr lang="en-US" sz="1600" dirty="0"/>
          </a:p>
        </p:txBody>
      </p:sp>
      <p:sp>
        <p:nvSpPr>
          <p:cNvPr id="19" name="Shape 16"/>
          <p:cNvSpPr/>
          <p:nvPr/>
        </p:nvSpPr>
        <p:spPr>
          <a:xfrm>
            <a:off x="566928" y="3161792"/>
            <a:ext cx="310896" cy="310896"/>
          </a:xfrm>
          <a:prstGeom prst="rect">
            <a:avLst/>
          </a:prstGeom>
          <a:solidFill>
            <a:srgbClr val="1F1B12"/>
          </a:solidFill>
          <a:ln w="12700">
            <a:solidFill>
              <a:srgbClr val="E8A020"/>
            </a:solidFill>
            <a:prstDash val="solid"/>
          </a:ln>
        </p:spPr>
      </p:sp>
      <p:sp>
        <p:nvSpPr>
          <p:cNvPr id="20" name="Text 17"/>
          <p:cNvSpPr/>
          <p:nvPr/>
        </p:nvSpPr>
        <p:spPr>
          <a:xfrm>
            <a:off x="566928" y="3161792"/>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3</a:t>
            </a:r>
            <a:endParaRPr lang="en-US" sz="1200" dirty="0"/>
          </a:p>
        </p:txBody>
      </p:sp>
      <p:sp>
        <p:nvSpPr>
          <p:cNvPr id="21" name="Text 18"/>
          <p:cNvSpPr/>
          <p:nvPr/>
        </p:nvSpPr>
        <p:spPr>
          <a:xfrm>
            <a:off x="1042416" y="3134360"/>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Web:</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open the PR ("Closes #1") → merge ✓ (sphere)</a:t>
            </a:r>
            <a:endParaRPr lang="en-US" sz="1600" dirty="0"/>
          </a:p>
        </p:txBody>
      </p:sp>
      <p:sp>
        <p:nvSpPr>
          <p:cNvPr id="22" name="Shape 19"/>
          <p:cNvSpPr/>
          <p:nvPr/>
        </p:nvSpPr>
        <p:spPr>
          <a:xfrm>
            <a:off x="566928" y="3645408"/>
            <a:ext cx="310896" cy="310896"/>
          </a:xfrm>
          <a:prstGeom prst="rect">
            <a:avLst/>
          </a:prstGeom>
          <a:solidFill>
            <a:srgbClr val="1F1B12"/>
          </a:solidFill>
          <a:ln w="12700">
            <a:solidFill>
              <a:srgbClr val="E8A020"/>
            </a:solidFill>
            <a:prstDash val="solid"/>
          </a:ln>
        </p:spPr>
      </p:sp>
      <p:sp>
        <p:nvSpPr>
          <p:cNvPr id="23" name="Text 20"/>
          <p:cNvSpPr/>
          <p:nvPr/>
        </p:nvSpPr>
        <p:spPr>
          <a:xfrm>
            <a:off x="566928" y="3645408"/>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4</a:t>
            </a:r>
            <a:endParaRPr lang="en-US" sz="1200" dirty="0"/>
          </a:p>
        </p:txBody>
      </p:sp>
      <p:sp>
        <p:nvSpPr>
          <p:cNvPr id="24" name="Text 21"/>
          <p:cNvSpPr/>
          <p:nvPr/>
        </p:nvSpPr>
        <p:spPr>
          <a:xfrm>
            <a:off x="1042416" y="3617976"/>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Terminal:</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branch the circle </a:t>
            </a:r>
            <a:pPr indent="0" marL="0">
              <a:lnSpc>
                <a:spcPct val="110000"/>
              </a:lnSpc>
              <a:buNone/>
            </a:pPr>
            <a:r>
              <a:rPr lang="en-US" sz="1600" dirty="0">
                <a:solidFill>
                  <a:srgbClr val="E8A020"/>
                </a:solidFill>
                <a:latin typeface="Arial" pitchFamily="34" charset="0"/>
                <a:ea typeface="Arial" pitchFamily="34" charset="-122"/>
                <a:cs typeface="Arial" pitchFamily="34" charset="-120"/>
              </a:rPr>
              <a:t>from pre-merge main</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 line 11 → push</a:t>
            </a:r>
            <a:endParaRPr lang="en-US" sz="1600" dirty="0"/>
          </a:p>
        </p:txBody>
      </p:sp>
      <p:sp>
        <p:nvSpPr>
          <p:cNvPr id="25" name="Shape 22"/>
          <p:cNvSpPr/>
          <p:nvPr/>
        </p:nvSpPr>
        <p:spPr>
          <a:xfrm>
            <a:off x="566928" y="4129024"/>
            <a:ext cx="310896" cy="310896"/>
          </a:xfrm>
          <a:prstGeom prst="rect">
            <a:avLst/>
          </a:prstGeom>
          <a:solidFill>
            <a:srgbClr val="1F1B12"/>
          </a:solidFill>
          <a:ln w="12700">
            <a:solidFill>
              <a:srgbClr val="E8A020"/>
            </a:solidFill>
            <a:prstDash val="solid"/>
          </a:ln>
        </p:spPr>
      </p:sp>
      <p:sp>
        <p:nvSpPr>
          <p:cNvPr id="26" name="Text 23"/>
          <p:cNvSpPr/>
          <p:nvPr/>
        </p:nvSpPr>
        <p:spPr>
          <a:xfrm>
            <a:off x="566928" y="4129024"/>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5</a:t>
            </a:r>
            <a:endParaRPr lang="en-US" sz="1200" dirty="0"/>
          </a:p>
        </p:txBody>
      </p:sp>
      <p:sp>
        <p:nvSpPr>
          <p:cNvPr id="27" name="Text 24"/>
          <p:cNvSpPr/>
          <p:nvPr/>
        </p:nvSpPr>
        <p:spPr>
          <a:xfrm>
            <a:off x="1042416" y="4101592"/>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Web:</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open the PR ("Closes #2") → conflict ✗ → resolve in the editor → merge ✓</a:t>
            </a:r>
            <a:endParaRPr lang="en-US" sz="1600" dirty="0"/>
          </a:p>
        </p:txBody>
      </p:sp>
      <p:sp>
        <p:nvSpPr>
          <p:cNvPr id="28" name="Text 25"/>
          <p:cNvSpPr/>
          <p:nvPr/>
        </p:nvSpPr>
        <p:spPr>
          <a:xfrm>
            <a:off x="566928" y="4667504"/>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E8A02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8C8880"/>
                </a:solidFill>
                <a:latin typeface="Cambria" pitchFamily="34" charset="0"/>
                <a:ea typeface="Cambria" pitchFamily="34" charset="-122"/>
                <a:cs typeface="Cambria" pitchFamily="34" charset="-120"/>
              </a:rPr>
              <a:t>git for the local work; the website for the repo, issues, PRs, and the merge.</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46 — 48</a:t>
            </a:r>
            <a:endParaRPr lang="en-US" sz="800" dirty="0"/>
          </a:p>
        </p:txBody>
      </p:sp>
      <p:sp>
        <p:nvSpPr>
          <p:cNvPr id="10" name="Text 7"/>
          <p:cNvSpPr/>
          <p:nvPr/>
        </p:nvSpPr>
        <p:spPr>
          <a:xfrm>
            <a:off x="566928" y="2651760"/>
            <a:ext cx="11055096" cy="1280160"/>
          </a:xfrm>
          <a:prstGeom prst="rect">
            <a:avLst/>
          </a:prstGeom>
          <a:noFill/>
          <a:ln/>
        </p:spPr>
        <p:txBody>
          <a:bodyPr wrap="square" lIns="0" tIns="0" rIns="0" bIns="0" rtlCol="0" anchor="t"/>
          <a:lstStyle/>
          <a:p>
            <a:pPr indent="0" marL="0">
              <a:lnSpc>
                <a:spcPct val="98000"/>
              </a:lnSpc>
              <a:buNone/>
            </a:pPr>
            <a:r>
              <a:rPr lang="en-US" sz="5400" b="1" dirty="0">
                <a:solidFill>
                  <a:srgbClr val="EDE9E3"/>
                </a:solidFill>
                <a:latin typeface="Arial" pitchFamily="34" charset="0"/>
                <a:ea typeface="Arial" pitchFamily="34" charset="-122"/>
                <a:cs typeface="Arial" pitchFamily="34" charset="-120"/>
              </a:rPr>
              <a:t>Your Turn</a:t>
            </a:r>
            <a:endParaRPr lang="en-US" sz="5400" dirty="0"/>
          </a:p>
        </p:txBody>
      </p:sp>
      <p:sp>
        <p:nvSpPr>
          <p:cNvPr id="11" name="Text 8"/>
          <p:cNvSpPr/>
          <p:nvPr/>
        </p:nvSpPr>
        <p:spPr>
          <a:xfrm>
            <a:off x="566928" y="3886200"/>
            <a:ext cx="10140696" cy="914400"/>
          </a:xfrm>
          <a:prstGeom prst="rect">
            <a:avLst/>
          </a:prstGeom>
          <a:noFill/>
          <a:ln/>
        </p:spPr>
        <p:txBody>
          <a:bodyPr wrap="square" lIns="0" tIns="0" rIns="0" bIns="0" rtlCol="0" anchor="t"/>
          <a:lstStyle/>
          <a:p>
            <a:pPr indent="0" marL="0">
              <a:lnSpc>
                <a:spcPct val="110000"/>
              </a:lnSpc>
              <a:buNone/>
            </a:pPr>
            <a:r>
              <a:rPr lang="en-US" sz="2200" i="1" dirty="0">
                <a:solidFill>
                  <a:srgbClr val="8C8880"/>
                </a:solidFill>
                <a:latin typeface="Cambria" pitchFamily="34" charset="0"/>
                <a:ea typeface="Cambria" pitchFamily="34" charset="-122"/>
                <a:cs typeface="Cambria" pitchFamily="34" charset="-120"/>
              </a:rPr>
              <a:t>Pair up and run the same flow — this time on the Circumference functions.</a:t>
            </a:r>
            <a:endParaRPr lang="en-US" sz="2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47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PAIR UP</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Team Member 1 &amp; Team Member 2</a:t>
            </a:r>
            <a:endParaRPr lang="en-US" sz="3800" dirty="0"/>
          </a:p>
        </p:txBody>
      </p:sp>
      <p:sp>
        <p:nvSpPr>
          <p:cNvPr id="13" name="Text 10"/>
          <p:cNvSpPr/>
          <p:nvPr/>
        </p:nvSpPr>
        <p:spPr>
          <a:xfrm>
            <a:off x="566928" y="2194560"/>
            <a:ext cx="11055096" cy="1024128"/>
          </a:xfrm>
          <a:prstGeom prst="rect">
            <a:avLst/>
          </a:prstGeom>
          <a:noFill/>
          <a:ln/>
        </p:spPr>
        <p:txBody>
          <a:bodyPr wrap="square" lIns="0" tIns="0" rIns="0" bIns="0" rtlCol="0" anchor="t"/>
          <a:lstStyle/>
          <a:p>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Same flow you just watched — but fill in the </a:t>
            </a:r>
            <a:pPr indent="0" marL="0">
              <a:lnSpc>
                <a:spcPct val="115000"/>
              </a:lnSpc>
              <a:buNone/>
            </a:pPr>
            <a:r>
              <a:rPr lang="en-US" sz="1900" b="1" i="1" dirty="0">
                <a:solidFill>
                  <a:srgbClr val="FFFFFF"/>
                </a:solidFill>
                <a:latin typeface="Cambria" pitchFamily="34" charset="0"/>
                <a:ea typeface="Cambria" pitchFamily="34" charset="-122"/>
                <a:cs typeface="Cambria" pitchFamily="34" charset="-120"/>
              </a:rPr>
              <a:t>Circumference</a:t>
            </a:r>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 functions this time. Create a private repo from the </a:t>
            </a:r>
            <a:pPr indent="0" marL="0">
              <a:lnSpc>
                <a:spcPct val="115000"/>
              </a:lnSpc>
              <a:buNone/>
            </a:pPr>
            <a:r>
              <a:rPr lang="en-US" sz="1900" b="1" i="1" dirty="0">
                <a:solidFill>
                  <a:srgbClr val="FFFFFF"/>
                </a:solidFill>
                <a:latin typeface="Cambria" pitchFamily="34" charset="0"/>
                <a:ea typeface="Cambria" pitchFamily="34" charset="-122"/>
                <a:cs typeface="Cambria" pitchFamily="34" charset="-120"/>
              </a:rPr>
              <a:t>ds-collaboration-frameworks</a:t>
            </a:r>
            <a:pPr indent="0" marL="0">
              <a:lnSpc>
                <a:spcPct val="115000"/>
              </a:lnSpc>
              <a:buNone/>
            </a:pPr>
            <a:r>
              <a:rPr lang="en-US" sz="1900" i="1" dirty="0">
                <a:solidFill>
                  <a:srgbClr val="EDE9E3"/>
                </a:solidFill>
                <a:latin typeface="Cambria" pitchFamily="34" charset="0"/>
                <a:ea typeface="Cambria" pitchFamily="34" charset="-122"/>
                <a:cs typeface="Cambria" pitchFamily="34" charset="-120"/>
              </a:rPr>
              <a:t> template and add your partner.</a:t>
            </a:r>
            <a:endParaRPr lang="en-US" sz="1900" dirty="0"/>
          </a:p>
        </p:txBody>
      </p:sp>
      <p:sp>
        <p:nvSpPr>
          <p:cNvPr id="14" name="Text 11"/>
          <p:cNvSpPr/>
          <p:nvPr/>
        </p:nvSpPr>
        <p:spPr>
          <a:xfrm>
            <a:off x="566928" y="3364992"/>
            <a:ext cx="5298948" cy="274320"/>
          </a:xfrm>
          <a:prstGeom prst="rect">
            <a:avLst/>
          </a:prstGeom>
          <a:noFill/>
          <a:ln/>
        </p:spPr>
        <p:txBody>
          <a:bodyPr wrap="square" lIns="0" tIns="0" rIns="0" bIns="0" rtlCol="0" anchor="ctr"/>
          <a:lstStyle/>
          <a:p>
            <a:pPr indent="0" marL="0">
              <a:buNone/>
            </a:pPr>
            <a:r>
              <a:rPr lang="en-US" sz="1100" spc="100" kern="0" dirty="0">
                <a:solidFill>
                  <a:srgbClr val="E8A020"/>
                </a:solidFill>
                <a:latin typeface="Courier New" pitchFamily="34" charset="0"/>
                <a:ea typeface="Courier New" pitchFamily="34" charset="-122"/>
                <a:cs typeface="Courier New" pitchFamily="34" charset="-120"/>
              </a:rPr>
              <a:t>TEAM MEMBER 1 (REPO OWNER)</a:t>
            </a:r>
            <a:endParaRPr lang="en-US" sz="1100" dirty="0"/>
          </a:p>
        </p:txBody>
      </p:sp>
      <p:sp>
        <p:nvSpPr>
          <p:cNvPr id="15" name="Text 12"/>
          <p:cNvSpPr/>
          <p:nvPr/>
        </p:nvSpPr>
        <p:spPr>
          <a:xfrm>
            <a:off x="6323076" y="3364992"/>
            <a:ext cx="5298948" cy="274320"/>
          </a:xfrm>
          <a:prstGeom prst="rect">
            <a:avLst/>
          </a:prstGeom>
          <a:noFill/>
          <a:ln/>
        </p:spPr>
        <p:txBody>
          <a:bodyPr wrap="square" lIns="0" tIns="0" rIns="0" bIns="0" rtlCol="0" anchor="ctr"/>
          <a:lstStyle/>
          <a:p>
            <a:pPr indent="0" marL="0">
              <a:buNone/>
            </a:pPr>
            <a:r>
              <a:rPr lang="en-US" sz="1100" spc="100" kern="0" dirty="0">
                <a:solidFill>
                  <a:srgbClr val="E8A020"/>
                </a:solidFill>
                <a:latin typeface="Courier New" pitchFamily="34" charset="0"/>
                <a:ea typeface="Courier New" pitchFamily="34" charset="-122"/>
                <a:cs typeface="Courier New" pitchFamily="34" charset="-120"/>
              </a:rPr>
              <a:t>TEAM MEMBER 2</a:t>
            </a:r>
            <a:endParaRPr lang="en-US" sz="1100" dirty="0"/>
          </a:p>
        </p:txBody>
      </p:sp>
      <p:sp>
        <p:nvSpPr>
          <p:cNvPr id="16" name="Shape 13"/>
          <p:cNvSpPr/>
          <p:nvPr/>
        </p:nvSpPr>
        <p:spPr>
          <a:xfrm>
            <a:off x="566928" y="3675888"/>
            <a:ext cx="5298948" cy="0"/>
          </a:xfrm>
          <a:prstGeom prst="line">
            <a:avLst/>
          </a:prstGeom>
          <a:noFill/>
          <a:ln w="12700">
            <a:solidFill>
              <a:srgbClr val="2A2926"/>
            </a:solidFill>
            <a:prstDash val="solid"/>
          </a:ln>
        </p:spPr>
      </p:sp>
      <p:sp>
        <p:nvSpPr>
          <p:cNvPr id="17" name="Shape 14"/>
          <p:cNvSpPr/>
          <p:nvPr/>
        </p:nvSpPr>
        <p:spPr>
          <a:xfrm>
            <a:off x="6323076" y="3675888"/>
            <a:ext cx="5298948" cy="0"/>
          </a:xfrm>
          <a:prstGeom prst="line">
            <a:avLst/>
          </a:prstGeom>
          <a:noFill/>
          <a:ln w="12700">
            <a:solidFill>
              <a:srgbClr val="2A2926"/>
            </a:solidFill>
            <a:prstDash val="solid"/>
          </a:ln>
        </p:spPr>
      </p:sp>
      <p:sp>
        <p:nvSpPr>
          <p:cNvPr id="18" name="Shape 15"/>
          <p:cNvSpPr/>
          <p:nvPr/>
        </p:nvSpPr>
        <p:spPr>
          <a:xfrm>
            <a:off x="576072" y="3895344"/>
            <a:ext cx="100584" cy="100584"/>
          </a:xfrm>
          <a:prstGeom prst="rect">
            <a:avLst/>
          </a:prstGeom>
          <a:solidFill>
            <a:srgbClr val="E8A020"/>
          </a:solidFill>
          <a:ln/>
        </p:spPr>
      </p:sp>
      <p:sp>
        <p:nvSpPr>
          <p:cNvPr id="19" name="Text 16"/>
          <p:cNvSpPr/>
          <p:nvPr/>
        </p:nvSpPr>
        <p:spPr>
          <a:xfrm>
            <a:off x="859536" y="3803904"/>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Create the repo + add TM2</a:t>
            </a:r>
            <a:endParaRPr lang="en-US" sz="1400" dirty="0"/>
          </a:p>
        </p:txBody>
      </p:sp>
      <p:sp>
        <p:nvSpPr>
          <p:cNvPr id="20" name="Shape 17"/>
          <p:cNvSpPr/>
          <p:nvPr/>
        </p:nvSpPr>
        <p:spPr>
          <a:xfrm>
            <a:off x="576072" y="4272788"/>
            <a:ext cx="100584" cy="100584"/>
          </a:xfrm>
          <a:prstGeom prst="rect">
            <a:avLst/>
          </a:prstGeom>
          <a:solidFill>
            <a:srgbClr val="E8A020"/>
          </a:solidFill>
          <a:ln/>
        </p:spPr>
      </p:sp>
      <p:sp>
        <p:nvSpPr>
          <p:cNvPr id="21" name="Text 18"/>
          <p:cNvSpPr/>
          <p:nvPr/>
        </p:nvSpPr>
        <p:spPr>
          <a:xfrm>
            <a:off x="859536" y="4181348"/>
            <a:ext cx="5006340" cy="55372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Open Issue #1 "circumference of a sphere" → TM2</a:t>
            </a:r>
            <a:endParaRPr lang="en-US" sz="1400" dirty="0"/>
          </a:p>
        </p:txBody>
      </p:sp>
      <p:sp>
        <p:nvSpPr>
          <p:cNvPr id="22" name="Shape 19"/>
          <p:cNvSpPr/>
          <p:nvPr/>
        </p:nvSpPr>
        <p:spPr>
          <a:xfrm>
            <a:off x="576072" y="4881372"/>
            <a:ext cx="100584" cy="100584"/>
          </a:xfrm>
          <a:prstGeom prst="rect">
            <a:avLst/>
          </a:prstGeom>
          <a:solidFill>
            <a:srgbClr val="E8A020"/>
          </a:solidFill>
          <a:ln/>
        </p:spPr>
      </p:sp>
      <p:sp>
        <p:nvSpPr>
          <p:cNvPr id="23" name="Text 20"/>
          <p:cNvSpPr/>
          <p:nvPr/>
        </p:nvSpPr>
        <p:spPr>
          <a:xfrm>
            <a:off x="859536" y="4789932"/>
            <a:ext cx="5006340" cy="55372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Open Issue #2 "circumference of a circle" → you</a:t>
            </a:r>
            <a:endParaRPr lang="en-US" sz="1400" dirty="0"/>
          </a:p>
        </p:txBody>
      </p:sp>
      <p:sp>
        <p:nvSpPr>
          <p:cNvPr id="24" name="Shape 21"/>
          <p:cNvSpPr/>
          <p:nvPr/>
        </p:nvSpPr>
        <p:spPr>
          <a:xfrm>
            <a:off x="6332220" y="3895344"/>
            <a:ext cx="100584" cy="100584"/>
          </a:xfrm>
          <a:prstGeom prst="rect">
            <a:avLst/>
          </a:prstGeom>
          <a:solidFill>
            <a:srgbClr val="E8A020"/>
          </a:solidFill>
          <a:ln/>
        </p:spPr>
      </p:sp>
      <p:sp>
        <p:nvSpPr>
          <p:cNvPr id="25" name="Text 22"/>
          <p:cNvSpPr/>
          <p:nvPr/>
        </p:nvSpPr>
        <p:spPr>
          <a:xfrm>
            <a:off x="6615684" y="3803904"/>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Take Issue #1 — the sphere</a:t>
            </a:r>
            <a:endParaRPr lang="en-US" sz="1400" dirty="0"/>
          </a:p>
        </p:txBody>
      </p:sp>
      <p:sp>
        <p:nvSpPr>
          <p:cNvPr id="26" name="Shape 23"/>
          <p:cNvSpPr/>
          <p:nvPr/>
        </p:nvSpPr>
        <p:spPr>
          <a:xfrm>
            <a:off x="6332220" y="4272788"/>
            <a:ext cx="100584" cy="100584"/>
          </a:xfrm>
          <a:prstGeom prst="rect">
            <a:avLst/>
          </a:prstGeom>
          <a:solidFill>
            <a:srgbClr val="E8A020"/>
          </a:solidFill>
          <a:ln/>
        </p:spPr>
      </p:sp>
      <p:sp>
        <p:nvSpPr>
          <p:cNvPr id="27" name="Text 24"/>
          <p:cNvSpPr/>
          <p:nvPr/>
        </p:nvSpPr>
        <p:spPr>
          <a:xfrm>
            <a:off x="6615684" y="4181348"/>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Both add under </a:t>
            </a:r>
            <a:pPr indent="0" marL="0">
              <a:lnSpc>
                <a:spcPct val="110000"/>
              </a:lnSpc>
              <a:buNone/>
            </a:pPr>
            <a:r>
              <a:rPr lang="en-US" sz="1400" b="1" dirty="0">
                <a:solidFill>
                  <a:srgbClr val="FFFFFF"/>
                </a:solidFill>
                <a:latin typeface="Arial" pitchFamily="34" charset="0"/>
                <a:ea typeface="Arial" pitchFamily="34" charset="-122"/>
                <a:cs typeface="Arial" pitchFamily="34" charset="-120"/>
              </a:rPr>
              <a:t>### Circumference</a:t>
            </a:r>
            <a:endParaRPr lang="en-US" sz="1400" dirty="0"/>
          </a:p>
        </p:txBody>
      </p:sp>
      <p:sp>
        <p:nvSpPr>
          <p:cNvPr id="28" name="Shape 25"/>
          <p:cNvSpPr/>
          <p:nvPr/>
        </p:nvSpPr>
        <p:spPr>
          <a:xfrm>
            <a:off x="6332220" y="4650232"/>
            <a:ext cx="100584" cy="100584"/>
          </a:xfrm>
          <a:prstGeom prst="rect">
            <a:avLst/>
          </a:prstGeom>
          <a:solidFill>
            <a:srgbClr val="E8A020"/>
          </a:solidFill>
          <a:ln/>
        </p:spPr>
      </p:sp>
      <p:sp>
        <p:nvSpPr>
          <p:cNvPr id="29" name="Text 26"/>
          <p:cNvSpPr/>
          <p:nvPr/>
        </p:nvSpPr>
        <p:spPr>
          <a:xfrm>
            <a:off x="6615684" y="455879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EDE9E3"/>
                </a:solidFill>
                <a:latin typeface="Arial" pitchFamily="34" charset="0"/>
                <a:ea typeface="Arial" pitchFamily="34" charset="-122"/>
                <a:cs typeface="Arial" pitchFamily="34" charset="-120"/>
              </a:rPr>
              <a:t>Same line → the 2nd PR to merge conflicts</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110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E8A020"/>
          </a:solidFill>
          <a:ln/>
        </p:spPr>
      </p:sp>
      <p:sp>
        <p:nvSpPr>
          <p:cNvPr id="3" name="Shape 1"/>
          <p:cNvSpPr/>
          <p:nvPr/>
        </p:nvSpPr>
        <p:spPr>
          <a:xfrm>
            <a:off x="566928" y="566928"/>
            <a:ext cx="11055096" cy="0"/>
          </a:xfrm>
          <a:prstGeom prst="line">
            <a:avLst/>
          </a:prstGeom>
          <a:noFill/>
          <a:ln w="12700">
            <a:solidFill>
              <a:srgbClr val="2A2926"/>
            </a:solidFill>
            <a:prstDash val="solid"/>
          </a:ln>
        </p:spPr>
      </p:sp>
      <p:sp>
        <p:nvSpPr>
          <p:cNvPr id="4" name="Shape 2"/>
          <p:cNvSpPr/>
          <p:nvPr/>
        </p:nvSpPr>
        <p:spPr>
          <a:xfrm>
            <a:off x="566928" y="6309360"/>
            <a:ext cx="11055096" cy="0"/>
          </a:xfrm>
          <a:prstGeom prst="line">
            <a:avLst/>
          </a:prstGeom>
          <a:noFill/>
          <a:ln w="12700">
            <a:solidFill>
              <a:srgbClr val="2A2926"/>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8C8880"/>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8C8880"/>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8C8880"/>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8C8880"/>
                </a:solidFill>
                <a:latin typeface="Courier New" pitchFamily="34" charset="0"/>
                <a:ea typeface="Courier New" pitchFamily="34" charset="-122"/>
                <a:cs typeface="Courier New" pitchFamily="34" charset="-120"/>
              </a:rPr>
              <a:t>48 — 48</a:t>
            </a:r>
            <a:endParaRPr lang="en-US" sz="800" dirty="0"/>
          </a:p>
        </p:txBody>
      </p:sp>
      <p:sp>
        <p:nvSpPr>
          <p:cNvPr id="10" name="Shape 7"/>
          <p:cNvSpPr/>
          <p:nvPr/>
        </p:nvSpPr>
        <p:spPr>
          <a:xfrm>
            <a:off x="566928" y="1133856"/>
            <a:ext cx="301752" cy="25603"/>
          </a:xfrm>
          <a:prstGeom prst="rect">
            <a:avLst/>
          </a:prstGeom>
          <a:solidFill>
            <a:srgbClr val="E8A02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E8A020"/>
                </a:solidFill>
                <a:latin typeface="Courier New" pitchFamily="34" charset="0"/>
                <a:ea typeface="Courier New" pitchFamily="34" charset="-122"/>
                <a:cs typeface="Courier New" pitchFamily="34" charset="-120"/>
              </a:rPr>
              <a:t>STEPS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EDE9E3"/>
                </a:solidFill>
                <a:latin typeface="Arial" pitchFamily="34" charset="0"/>
                <a:ea typeface="Arial" pitchFamily="34" charset="-122"/>
                <a:cs typeface="Arial" pitchFamily="34" charset="-120"/>
              </a:rPr>
              <a:t>Run the flow</a:t>
            </a:r>
            <a:endParaRPr lang="en-US" sz="3800" dirty="0"/>
          </a:p>
        </p:txBody>
      </p:sp>
      <p:sp>
        <p:nvSpPr>
          <p:cNvPr id="13" name="Shape 10"/>
          <p:cNvSpPr/>
          <p:nvPr/>
        </p:nvSpPr>
        <p:spPr>
          <a:xfrm>
            <a:off x="566928" y="2194560"/>
            <a:ext cx="310896" cy="310896"/>
          </a:xfrm>
          <a:prstGeom prst="rect">
            <a:avLst/>
          </a:prstGeom>
          <a:solidFill>
            <a:srgbClr val="1F1B12"/>
          </a:solidFill>
          <a:ln w="12700">
            <a:solidFill>
              <a:srgbClr val="E8A02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65633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TM1 (web):</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new repo from the ds-collaboration-frameworks template → add TM2 → open the two issues</a:t>
            </a:r>
            <a:endParaRPr lang="en-US" sz="1600" dirty="0"/>
          </a:p>
        </p:txBody>
      </p:sp>
      <p:sp>
        <p:nvSpPr>
          <p:cNvPr id="16" name="Shape 13"/>
          <p:cNvSpPr/>
          <p:nvPr/>
        </p:nvSpPr>
        <p:spPr>
          <a:xfrm>
            <a:off x="566928" y="2942336"/>
            <a:ext cx="310896" cy="310896"/>
          </a:xfrm>
          <a:prstGeom prst="rect">
            <a:avLst/>
          </a:prstGeom>
          <a:solidFill>
            <a:srgbClr val="1F1B12"/>
          </a:solidFill>
          <a:ln w="12700">
            <a:solidFill>
              <a:srgbClr val="E8A020"/>
            </a:solidFill>
            <a:prstDash val="solid"/>
          </a:ln>
        </p:spPr>
      </p:sp>
      <p:sp>
        <p:nvSpPr>
          <p:cNvPr id="17" name="Text 14"/>
          <p:cNvSpPr/>
          <p:nvPr/>
        </p:nvSpPr>
        <p:spPr>
          <a:xfrm>
            <a:off x="566928" y="2942336"/>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914904"/>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Both (terminal):</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clone → branch → add your function under ### Circumference → commit → push</a:t>
            </a:r>
            <a:endParaRPr lang="en-US" sz="1600" dirty="0"/>
          </a:p>
        </p:txBody>
      </p:sp>
      <p:sp>
        <p:nvSpPr>
          <p:cNvPr id="19" name="Shape 16"/>
          <p:cNvSpPr/>
          <p:nvPr/>
        </p:nvSpPr>
        <p:spPr>
          <a:xfrm>
            <a:off x="566928" y="3425952"/>
            <a:ext cx="310896" cy="310896"/>
          </a:xfrm>
          <a:prstGeom prst="rect">
            <a:avLst/>
          </a:prstGeom>
          <a:solidFill>
            <a:srgbClr val="1F1B12"/>
          </a:solidFill>
          <a:ln w="12700">
            <a:solidFill>
              <a:srgbClr val="E8A020"/>
            </a:solidFill>
            <a:prstDash val="solid"/>
          </a:ln>
        </p:spPr>
      </p:sp>
      <p:sp>
        <p:nvSpPr>
          <p:cNvPr id="20" name="Text 17"/>
          <p:cNvSpPr/>
          <p:nvPr/>
        </p:nvSpPr>
        <p:spPr>
          <a:xfrm>
            <a:off x="566928" y="3425952"/>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3</a:t>
            </a:r>
            <a:endParaRPr lang="en-US" sz="1200" dirty="0"/>
          </a:p>
        </p:txBody>
      </p:sp>
      <p:sp>
        <p:nvSpPr>
          <p:cNvPr id="21" name="Text 18"/>
          <p:cNvSpPr/>
          <p:nvPr/>
        </p:nvSpPr>
        <p:spPr>
          <a:xfrm>
            <a:off x="1042416" y="3398520"/>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Both (web):</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open a PR, description "Closes #&amp;lt;your issue&amp;gt;"</a:t>
            </a:r>
            <a:endParaRPr lang="en-US" sz="1600" dirty="0"/>
          </a:p>
        </p:txBody>
      </p:sp>
      <p:sp>
        <p:nvSpPr>
          <p:cNvPr id="22" name="Shape 19"/>
          <p:cNvSpPr/>
          <p:nvPr/>
        </p:nvSpPr>
        <p:spPr>
          <a:xfrm>
            <a:off x="566928" y="3909568"/>
            <a:ext cx="310896" cy="310896"/>
          </a:xfrm>
          <a:prstGeom prst="rect">
            <a:avLst/>
          </a:prstGeom>
          <a:solidFill>
            <a:srgbClr val="1F1B12"/>
          </a:solidFill>
          <a:ln w="12700">
            <a:solidFill>
              <a:srgbClr val="E8A020"/>
            </a:solidFill>
            <a:prstDash val="solid"/>
          </a:ln>
        </p:spPr>
      </p:sp>
      <p:sp>
        <p:nvSpPr>
          <p:cNvPr id="23" name="Text 20"/>
          <p:cNvSpPr/>
          <p:nvPr/>
        </p:nvSpPr>
        <p:spPr>
          <a:xfrm>
            <a:off x="566928" y="3909568"/>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4</a:t>
            </a:r>
            <a:endParaRPr lang="en-US" sz="1200" dirty="0"/>
          </a:p>
        </p:txBody>
      </p:sp>
      <p:sp>
        <p:nvSpPr>
          <p:cNvPr id="24" name="Text 21"/>
          <p:cNvSpPr/>
          <p:nvPr/>
        </p:nvSpPr>
        <p:spPr>
          <a:xfrm>
            <a:off x="1042416" y="3882136"/>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TM1:</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merge TM2's sphere PR ✓ — Issue #1 closes</a:t>
            </a:r>
            <a:endParaRPr lang="en-US" sz="1600" dirty="0"/>
          </a:p>
        </p:txBody>
      </p:sp>
      <p:sp>
        <p:nvSpPr>
          <p:cNvPr id="25" name="Shape 22"/>
          <p:cNvSpPr/>
          <p:nvPr/>
        </p:nvSpPr>
        <p:spPr>
          <a:xfrm>
            <a:off x="566928" y="4393184"/>
            <a:ext cx="310896" cy="310896"/>
          </a:xfrm>
          <a:prstGeom prst="rect">
            <a:avLst/>
          </a:prstGeom>
          <a:solidFill>
            <a:srgbClr val="1F1B12"/>
          </a:solidFill>
          <a:ln w="12700">
            <a:solidFill>
              <a:srgbClr val="E8A020"/>
            </a:solidFill>
            <a:prstDash val="solid"/>
          </a:ln>
        </p:spPr>
      </p:sp>
      <p:sp>
        <p:nvSpPr>
          <p:cNvPr id="26" name="Text 23"/>
          <p:cNvSpPr/>
          <p:nvPr/>
        </p:nvSpPr>
        <p:spPr>
          <a:xfrm>
            <a:off x="566928" y="4393184"/>
            <a:ext cx="310896" cy="310896"/>
          </a:xfrm>
          <a:prstGeom prst="rect">
            <a:avLst/>
          </a:prstGeom>
          <a:noFill/>
          <a:ln/>
        </p:spPr>
        <p:txBody>
          <a:bodyPr wrap="square" lIns="0" tIns="0" rIns="0" bIns="0" rtlCol="0" anchor="ctr"/>
          <a:lstStyle/>
          <a:p>
            <a:pPr algn="ctr" indent="0" marL="0">
              <a:buNone/>
            </a:pPr>
            <a:r>
              <a:rPr lang="en-US" sz="1200" dirty="0">
                <a:solidFill>
                  <a:srgbClr val="E8A020"/>
                </a:solidFill>
                <a:latin typeface="Courier New" pitchFamily="34" charset="0"/>
                <a:ea typeface="Courier New" pitchFamily="34" charset="-122"/>
                <a:cs typeface="Courier New" pitchFamily="34" charset="-120"/>
              </a:rPr>
              <a:t>5</a:t>
            </a:r>
            <a:endParaRPr lang="en-US" sz="1200" dirty="0"/>
          </a:p>
        </p:txBody>
      </p:sp>
      <p:sp>
        <p:nvSpPr>
          <p:cNvPr id="27" name="Text 24"/>
          <p:cNvSpPr/>
          <p:nvPr/>
        </p:nvSpPr>
        <p:spPr>
          <a:xfrm>
            <a:off x="1042416" y="4365752"/>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Arial" pitchFamily="34" charset="0"/>
                <a:ea typeface="Arial" pitchFamily="34" charset="-122"/>
                <a:cs typeface="Arial" pitchFamily="34" charset="-120"/>
              </a:rPr>
              <a:t>TM2:</a:t>
            </a:r>
            <a:pPr indent="0" marL="0">
              <a:lnSpc>
                <a:spcPct val="110000"/>
              </a:lnSpc>
              <a:buNone/>
            </a:pPr>
            <a:r>
              <a:rPr lang="en-US" sz="1600" dirty="0">
                <a:solidFill>
                  <a:srgbClr val="EDE9E3"/>
                </a:solidFill>
                <a:latin typeface="Arial" pitchFamily="34" charset="0"/>
                <a:ea typeface="Arial" pitchFamily="34" charset="-122"/>
                <a:cs typeface="Arial" pitchFamily="34" charset="-120"/>
              </a:rPr>
              <a:t> TM1's circle PR conflicts → resolve in the GitHub editor → merge ✓</a:t>
            </a:r>
            <a:endParaRPr lang="en-US" sz="1600" dirty="0"/>
          </a:p>
        </p:txBody>
      </p:sp>
      <p:sp>
        <p:nvSpPr>
          <p:cNvPr id="28" name="Shape 25"/>
          <p:cNvSpPr/>
          <p:nvPr/>
        </p:nvSpPr>
        <p:spPr>
          <a:xfrm>
            <a:off x="566928" y="4931664"/>
            <a:ext cx="11055096" cy="1078992"/>
          </a:xfrm>
          <a:prstGeom prst="rect">
            <a:avLst/>
          </a:prstGeom>
          <a:solidFill>
            <a:srgbClr val="241D10"/>
          </a:solidFill>
          <a:ln w="12700">
            <a:solidFill>
              <a:srgbClr val="E8A020"/>
            </a:solidFill>
            <a:prstDash val="solid"/>
          </a:ln>
        </p:spPr>
      </p:sp>
      <p:sp>
        <p:nvSpPr>
          <p:cNvPr id="29" name="Shape 26"/>
          <p:cNvSpPr/>
          <p:nvPr/>
        </p:nvSpPr>
        <p:spPr>
          <a:xfrm>
            <a:off x="566928" y="4931664"/>
            <a:ext cx="54864" cy="1078992"/>
          </a:xfrm>
          <a:prstGeom prst="rect">
            <a:avLst/>
          </a:prstGeom>
          <a:solidFill>
            <a:srgbClr val="E8A020"/>
          </a:solidFill>
          <a:ln/>
        </p:spPr>
      </p:sp>
      <p:sp>
        <p:nvSpPr>
          <p:cNvPr id="30" name="Text 27"/>
          <p:cNvSpPr/>
          <p:nvPr/>
        </p:nvSpPr>
        <p:spPr>
          <a:xfrm>
            <a:off x="822960" y="5041392"/>
            <a:ext cx="10597896" cy="237744"/>
          </a:xfrm>
          <a:prstGeom prst="rect">
            <a:avLst/>
          </a:prstGeom>
          <a:noFill/>
          <a:ln/>
        </p:spPr>
        <p:txBody>
          <a:bodyPr wrap="square" lIns="0" tIns="0" rIns="0" bIns="0" rtlCol="0" anchor="ctr"/>
          <a:lstStyle/>
          <a:p>
            <a:pPr indent="0" marL="0">
              <a:buNone/>
            </a:pPr>
            <a:r>
              <a:rPr lang="en-US" sz="950" spc="200" kern="0" dirty="0">
                <a:solidFill>
                  <a:srgbClr val="E8A020"/>
                </a:solidFill>
                <a:latin typeface="Courier New" pitchFamily="34" charset="0"/>
                <a:ea typeface="Courier New" pitchFamily="34" charset="-122"/>
                <a:cs typeface="Courier New" pitchFamily="34" charset="-120"/>
              </a:rPr>
              <a:t>SAME STEPS AS THE DEMO &amp;AMP; README</a:t>
            </a:r>
            <a:endParaRPr lang="en-US" sz="950" dirty="0"/>
          </a:p>
        </p:txBody>
      </p:sp>
      <p:sp>
        <p:nvSpPr>
          <p:cNvPr id="31" name="Text 28"/>
          <p:cNvSpPr/>
          <p:nvPr/>
        </p:nvSpPr>
        <p:spPr>
          <a:xfrm>
            <a:off x="822960" y="5315712"/>
            <a:ext cx="10552176" cy="621792"/>
          </a:xfrm>
          <a:prstGeom prst="rect">
            <a:avLst/>
          </a:prstGeom>
          <a:noFill/>
          <a:ln/>
        </p:spPr>
        <p:txBody>
          <a:bodyPr wrap="square" lIns="0" tIns="0" rIns="0" bIns="0" rtlCol="0" anchor="t"/>
          <a:lstStyle/>
          <a:p>
            <a:pPr indent="0" marL="0">
              <a:lnSpc>
                <a:spcPct val="112000"/>
              </a:lnSpc>
              <a:buNone/>
            </a:pPr>
            <a:r>
              <a:rPr lang="en-US" sz="1550" dirty="0">
                <a:solidFill>
                  <a:srgbClr val="EDE9E3"/>
                </a:solidFill>
                <a:latin typeface="Arial" pitchFamily="34" charset="0"/>
                <a:ea typeface="Arial" pitchFamily="34" charset="-122"/>
                <a:cs typeface="Arial" pitchFamily="34" charset="-120"/>
              </a:rPr>
              <a:t>Just the Circumference section this time. Done when: both functions on main · both PRs merged · both issues closed · conflict resolved on GitHub.</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2026-08-11T15:59:00Z</dcterms:created>
  <dcterms:modified xsi:type="dcterms:W3CDTF">2026-08-11T15:59:00Z</dcterms:modified>
</cp:coreProperties>
</file>